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diagrams/layout1.xml" ContentType="application/vnd.openxmlformats-officedocument.drawingml.diagram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257" r:id="rId2"/>
    <p:sldId id="258" r:id="rId3"/>
    <p:sldId id="323" r:id="rId4"/>
    <p:sldId id="324" r:id="rId5"/>
    <p:sldId id="325" r:id="rId6"/>
    <p:sldId id="344" r:id="rId7"/>
    <p:sldId id="326" r:id="rId8"/>
    <p:sldId id="345" r:id="rId9"/>
    <p:sldId id="260" r:id="rId10"/>
    <p:sldId id="261" r:id="rId11"/>
    <p:sldId id="275" r:id="rId12"/>
    <p:sldId id="327" r:id="rId13"/>
    <p:sldId id="328" r:id="rId14"/>
    <p:sldId id="329" r:id="rId15"/>
    <p:sldId id="330" r:id="rId16"/>
    <p:sldId id="259" r:id="rId17"/>
    <p:sldId id="332" r:id="rId18"/>
    <p:sldId id="262" r:id="rId19"/>
    <p:sldId id="348" r:id="rId20"/>
    <p:sldId id="315" r:id="rId21"/>
    <p:sldId id="263" r:id="rId22"/>
    <p:sldId id="271" r:id="rId23"/>
    <p:sldId id="316" r:id="rId24"/>
    <p:sldId id="272" r:id="rId25"/>
    <p:sldId id="336" r:id="rId26"/>
    <p:sldId id="337" r:id="rId27"/>
    <p:sldId id="273" r:id="rId28"/>
    <p:sldId id="347" r:id="rId29"/>
    <p:sldId id="331" r:id="rId30"/>
    <p:sldId id="300" r:id="rId31"/>
    <p:sldId id="269" r:id="rId32"/>
    <p:sldId id="319" r:id="rId33"/>
    <p:sldId id="320" r:id="rId34"/>
    <p:sldId id="321" r:id="rId35"/>
    <p:sldId id="322" r:id="rId36"/>
    <p:sldId id="333" r:id="rId37"/>
    <p:sldId id="294" r:id="rId38"/>
    <p:sldId id="335" r:id="rId39"/>
    <p:sldId id="334" r:id="rId40"/>
    <p:sldId id="317" r:id="rId41"/>
    <p:sldId id="318" r:id="rId42"/>
    <p:sldId id="296" r:id="rId43"/>
    <p:sldId id="297" r:id="rId44"/>
    <p:sldId id="349" r:id="rId45"/>
    <p:sldId id="298" r:id="rId46"/>
    <p:sldId id="274" r:id="rId47"/>
    <p:sldId id="338" r:id="rId48"/>
    <p:sldId id="264" r:id="rId49"/>
    <p:sldId id="339" r:id="rId50"/>
    <p:sldId id="265" r:id="rId51"/>
    <p:sldId id="283" r:id="rId52"/>
    <p:sldId id="341" r:id="rId53"/>
    <p:sldId id="312" r:id="rId54"/>
    <p:sldId id="342" r:id="rId55"/>
    <p:sldId id="267" r:id="rId56"/>
    <p:sldId id="268" r:id="rId57"/>
    <p:sldId id="313" r:id="rId58"/>
    <p:sldId id="276" r:id="rId59"/>
    <p:sldId id="277" r:id="rId60"/>
    <p:sldId id="311" r:id="rId61"/>
    <p:sldId id="278" r:id="rId62"/>
    <p:sldId id="279" r:id="rId63"/>
    <p:sldId id="282" r:id="rId64"/>
    <p:sldId id="280" r:id="rId65"/>
    <p:sldId id="307" r:id="rId66"/>
    <p:sldId id="308" r:id="rId67"/>
    <p:sldId id="309"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838" autoAdjust="0"/>
    <p:restoredTop sz="94660"/>
  </p:normalViewPr>
  <p:slideViewPr>
    <p:cSldViewPr snapToGrid="0">
      <p:cViewPr varScale="1">
        <p:scale>
          <a:sx n="68" d="100"/>
          <a:sy n="68" d="100"/>
        </p:scale>
        <p:origin x="-810"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1FDFED-1A36-4E5A-A280-CF5702F5235A}"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IN"/>
        </a:p>
      </dgm:t>
    </dgm:pt>
    <dgm:pt modelId="{710CD957-93E4-4149-B6A0-A72F5702970C}">
      <dgm:prSet phldrT="[Text]"/>
      <dgm:spPr/>
      <dgm:t>
        <a:bodyPr/>
        <a:lstStyle/>
        <a:p>
          <a:r>
            <a:rPr lang="en-IN" dirty="0"/>
            <a:t>Style</a:t>
          </a:r>
        </a:p>
      </dgm:t>
    </dgm:pt>
    <dgm:pt modelId="{8C77DCDD-72CC-4F10-9254-7404A90D4D78}" type="parTrans" cxnId="{95751F39-B355-4F2A-BF21-2BE21BDEB807}">
      <dgm:prSet/>
      <dgm:spPr/>
      <dgm:t>
        <a:bodyPr/>
        <a:lstStyle/>
        <a:p>
          <a:endParaRPr lang="en-IN"/>
        </a:p>
      </dgm:t>
    </dgm:pt>
    <dgm:pt modelId="{089F68E6-5B7F-401D-A615-D09DAD26F2AD}" type="sibTrans" cxnId="{95751F39-B355-4F2A-BF21-2BE21BDEB807}">
      <dgm:prSet/>
      <dgm:spPr/>
      <dgm:t>
        <a:bodyPr/>
        <a:lstStyle/>
        <a:p>
          <a:endParaRPr lang="en-IN"/>
        </a:p>
      </dgm:t>
    </dgm:pt>
    <dgm:pt modelId="{52AC3EE1-CE56-4D00-9E23-DB315EC40C32}">
      <dgm:prSet phldrT="[Text]"/>
      <dgm:spPr/>
      <dgm:t>
        <a:bodyPr/>
        <a:lstStyle/>
        <a:p>
          <a:r>
            <a:rPr lang="en-IN" dirty="0"/>
            <a:t>Tone</a:t>
          </a:r>
        </a:p>
      </dgm:t>
    </dgm:pt>
    <dgm:pt modelId="{48EC8451-11AA-4277-B149-F0BB5D4DE3E4}" type="parTrans" cxnId="{2EBCDD0B-2722-4897-BE83-03CEC3CD2FF7}">
      <dgm:prSet/>
      <dgm:spPr/>
      <dgm:t>
        <a:bodyPr/>
        <a:lstStyle/>
        <a:p>
          <a:endParaRPr lang="en-IN"/>
        </a:p>
      </dgm:t>
    </dgm:pt>
    <dgm:pt modelId="{B4D9BF44-2D78-4CAD-89C4-0709E828B1D6}" type="sibTrans" cxnId="{2EBCDD0B-2722-4897-BE83-03CEC3CD2FF7}">
      <dgm:prSet/>
      <dgm:spPr/>
      <dgm:t>
        <a:bodyPr/>
        <a:lstStyle/>
        <a:p>
          <a:endParaRPr lang="en-IN"/>
        </a:p>
      </dgm:t>
    </dgm:pt>
    <dgm:pt modelId="{14D81D2A-59B1-4E3B-A6CE-5F1EBEB4B895}" type="pres">
      <dgm:prSet presAssocID="{C71FDFED-1A36-4E5A-A280-CF5702F5235A}" presName="hierChild1" presStyleCnt="0">
        <dgm:presLayoutVars>
          <dgm:chPref val="1"/>
          <dgm:dir/>
          <dgm:animOne val="branch"/>
          <dgm:animLvl val="lvl"/>
          <dgm:resizeHandles/>
        </dgm:presLayoutVars>
      </dgm:prSet>
      <dgm:spPr/>
      <dgm:t>
        <a:bodyPr/>
        <a:lstStyle/>
        <a:p>
          <a:endParaRPr lang="en-US"/>
        </a:p>
      </dgm:t>
    </dgm:pt>
    <dgm:pt modelId="{B074F823-7ECE-4284-9EEB-9B8B046496ED}" type="pres">
      <dgm:prSet presAssocID="{710CD957-93E4-4149-B6A0-A72F5702970C}" presName="hierRoot1" presStyleCnt="0"/>
      <dgm:spPr/>
    </dgm:pt>
    <dgm:pt modelId="{39F9655A-D6D0-4CA4-AF07-04244EF35921}" type="pres">
      <dgm:prSet presAssocID="{710CD957-93E4-4149-B6A0-A72F5702970C}" presName="composite" presStyleCnt="0"/>
      <dgm:spPr/>
    </dgm:pt>
    <dgm:pt modelId="{FDB955DA-4868-48A0-ACD2-CD0E1A5F703D}" type="pres">
      <dgm:prSet presAssocID="{710CD957-93E4-4149-B6A0-A72F5702970C}" presName="background" presStyleLbl="node0" presStyleIdx="0" presStyleCnt="1"/>
      <dgm:spPr/>
    </dgm:pt>
    <dgm:pt modelId="{8C75EC54-B64D-4D87-8065-A596373DB730}" type="pres">
      <dgm:prSet presAssocID="{710CD957-93E4-4149-B6A0-A72F5702970C}" presName="text" presStyleLbl="fgAcc0" presStyleIdx="0" presStyleCnt="1" custLinFactNeighborX="-72081" custLinFactNeighborY="35130">
        <dgm:presLayoutVars>
          <dgm:chPref val="3"/>
        </dgm:presLayoutVars>
      </dgm:prSet>
      <dgm:spPr/>
      <dgm:t>
        <a:bodyPr/>
        <a:lstStyle/>
        <a:p>
          <a:endParaRPr lang="en-US"/>
        </a:p>
      </dgm:t>
    </dgm:pt>
    <dgm:pt modelId="{BB9418F4-C53E-4E48-90EB-8DD1D928B517}" type="pres">
      <dgm:prSet presAssocID="{710CD957-93E4-4149-B6A0-A72F5702970C}" presName="hierChild2" presStyleCnt="0"/>
      <dgm:spPr/>
    </dgm:pt>
    <dgm:pt modelId="{99295D05-73E3-450A-B730-DBAAF6C2C8D2}" type="pres">
      <dgm:prSet presAssocID="{48EC8451-11AA-4277-B149-F0BB5D4DE3E4}" presName="Name10" presStyleLbl="parChTrans1D2" presStyleIdx="0" presStyleCnt="1"/>
      <dgm:spPr/>
      <dgm:t>
        <a:bodyPr/>
        <a:lstStyle/>
        <a:p>
          <a:endParaRPr lang="en-US"/>
        </a:p>
      </dgm:t>
    </dgm:pt>
    <dgm:pt modelId="{38101B37-5A2B-4680-84DC-55DA45146359}" type="pres">
      <dgm:prSet presAssocID="{52AC3EE1-CE56-4D00-9E23-DB315EC40C32}" presName="hierRoot2" presStyleCnt="0"/>
      <dgm:spPr/>
    </dgm:pt>
    <dgm:pt modelId="{E5E37366-E0E4-40E6-BCF4-6ED3A71A3EA4}" type="pres">
      <dgm:prSet presAssocID="{52AC3EE1-CE56-4D00-9E23-DB315EC40C32}" presName="composite2" presStyleCnt="0"/>
      <dgm:spPr/>
    </dgm:pt>
    <dgm:pt modelId="{4ADAF878-113D-4E3A-A2DC-5FC04AA984AC}" type="pres">
      <dgm:prSet presAssocID="{52AC3EE1-CE56-4D00-9E23-DB315EC40C32}" presName="background2" presStyleLbl="node2" presStyleIdx="0" presStyleCnt="1"/>
      <dgm:spPr/>
    </dgm:pt>
    <dgm:pt modelId="{7D96FCB0-B432-4E7C-80F4-056C910A4DBB}" type="pres">
      <dgm:prSet presAssocID="{52AC3EE1-CE56-4D00-9E23-DB315EC40C32}" presName="text2" presStyleLbl="fgAcc2" presStyleIdx="0" presStyleCnt="1" custLinFactY="-2498" custLinFactNeighborX="41732" custLinFactNeighborY="-100000">
        <dgm:presLayoutVars>
          <dgm:chPref val="3"/>
        </dgm:presLayoutVars>
      </dgm:prSet>
      <dgm:spPr/>
      <dgm:t>
        <a:bodyPr/>
        <a:lstStyle/>
        <a:p>
          <a:endParaRPr lang="en-US"/>
        </a:p>
      </dgm:t>
    </dgm:pt>
    <dgm:pt modelId="{602BE708-430A-40F8-A4B5-CF1C3F0F150F}" type="pres">
      <dgm:prSet presAssocID="{52AC3EE1-CE56-4D00-9E23-DB315EC40C32}" presName="hierChild3" presStyleCnt="0"/>
      <dgm:spPr/>
    </dgm:pt>
  </dgm:ptLst>
  <dgm:cxnLst>
    <dgm:cxn modelId="{4150C7C4-98E0-466C-8ED4-570B11554418}" type="presOf" srcId="{710CD957-93E4-4149-B6A0-A72F5702970C}" destId="{8C75EC54-B64D-4D87-8065-A596373DB730}" srcOrd="0" destOrd="0" presId="urn:microsoft.com/office/officeart/2005/8/layout/hierarchy1"/>
    <dgm:cxn modelId="{95751F39-B355-4F2A-BF21-2BE21BDEB807}" srcId="{C71FDFED-1A36-4E5A-A280-CF5702F5235A}" destId="{710CD957-93E4-4149-B6A0-A72F5702970C}" srcOrd="0" destOrd="0" parTransId="{8C77DCDD-72CC-4F10-9254-7404A90D4D78}" sibTransId="{089F68E6-5B7F-401D-A615-D09DAD26F2AD}"/>
    <dgm:cxn modelId="{9E6541BD-5005-4421-B6B1-54B78F684A4B}" type="presOf" srcId="{48EC8451-11AA-4277-B149-F0BB5D4DE3E4}" destId="{99295D05-73E3-450A-B730-DBAAF6C2C8D2}" srcOrd="0" destOrd="0" presId="urn:microsoft.com/office/officeart/2005/8/layout/hierarchy1"/>
    <dgm:cxn modelId="{2EBCDD0B-2722-4897-BE83-03CEC3CD2FF7}" srcId="{710CD957-93E4-4149-B6A0-A72F5702970C}" destId="{52AC3EE1-CE56-4D00-9E23-DB315EC40C32}" srcOrd="0" destOrd="0" parTransId="{48EC8451-11AA-4277-B149-F0BB5D4DE3E4}" sibTransId="{B4D9BF44-2D78-4CAD-89C4-0709E828B1D6}"/>
    <dgm:cxn modelId="{F1B3C465-FA85-4A3D-A6D0-53A968305828}" type="presOf" srcId="{C71FDFED-1A36-4E5A-A280-CF5702F5235A}" destId="{14D81D2A-59B1-4E3B-A6CE-5F1EBEB4B895}" srcOrd="0" destOrd="0" presId="urn:microsoft.com/office/officeart/2005/8/layout/hierarchy1"/>
    <dgm:cxn modelId="{013AA341-B514-4C8C-8F16-B52258D40430}" type="presOf" srcId="{52AC3EE1-CE56-4D00-9E23-DB315EC40C32}" destId="{7D96FCB0-B432-4E7C-80F4-056C910A4DBB}" srcOrd="0" destOrd="0" presId="urn:microsoft.com/office/officeart/2005/8/layout/hierarchy1"/>
    <dgm:cxn modelId="{E0A5C931-3AE6-429B-809E-8ADB969B1AC0}" type="presParOf" srcId="{14D81D2A-59B1-4E3B-A6CE-5F1EBEB4B895}" destId="{B074F823-7ECE-4284-9EEB-9B8B046496ED}" srcOrd="0" destOrd="0" presId="urn:microsoft.com/office/officeart/2005/8/layout/hierarchy1"/>
    <dgm:cxn modelId="{C99D88C4-5F01-4D26-935A-18EE9467B457}" type="presParOf" srcId="{B074F823-7ECE-4284-9EEB-9B8B046496ED}" destId="{39F9655A-D6D0-4CA4-AF07-04244EF35921}" srcOrd="0" destOrd="0" presId="urn:microsoft.com/office/officeart/2005/8/layout/hierarchy1"/>
    <dgm:cxn modelId="{EABAEC77-2155-49C7-A96B-9DC042785C94}" type="presParOf" srcId="{39F9655A-D6D0-4CA4-AF07-04244EF35921}" destId="{FDB955DA-4868-48A0-ACD2-CD0E1A5F703D}" srcOrd="0" destOrd="0" presId="urn:microsoft.com/office/officeart/2005/8/layout/hierarchy1"/>
    <dgm:cxn modelId="{D98BA1CD-A3B5-4C59-AE3D-D94004DC7A1E}" type="presParOf" srcId="{39F9655A-D6D0-4CA4-AF07-04244EF35921}" destId="{8C75EC54-B64D-4D87-8065-A596373DB730}" srcOrd="1" destOrd="0" presId="urn:microsoft.com/office/officeart/2005/8/layout/hierarchy1"/>
    <dgm:cxn modelId="{60F12114-8B98-4BAD-B907-9CC03F9FC453}" type="presParOf" srcId="{B074F823-7ECE-4284-9EEB-9B8B046496ED}" destId="{BB9418F4-C53E-4E48-90EB-8DD1D928B517}" srcOrd="1" destOrd="0" presId="urn:microsoft.com/office/officeart/2005/8/layout/hierarchy1"/>
    <dgm:cxn modelId="{7C1FF69F-87B7-4951-B70F-480D134A2077}" type="presParOf" srcId="{BB9418F4-C53E-4E48-90EB-8DD1D928B517}" destId="{99295D05-73E3-450A-B730-DBAAF6C2C8D2}" srcOrd="0" destOrd="0" presId="urn:microsoft.com/office/officeart/2005/8/layout/hierarchy1"/>
    <dgm:cxn modelId="{2CC3BE2E-66B2-4651-91A5-AE52E4B82624}" type="presParOf" srcId="{BB9418F4-C53E-4E48-90EB-8DD1D928B517}" destId="{38101B37-5A2B-4680-84DC-55DA45146359}" srcOrd="1" destOrd="0" presId="urn:microsoft.com/office/officeart/2005/8/layout/hierarchy1"/>
    <dgm:cxn modelId="{F1E3C9A8-3224-49CB-BDCA-F93D2ED7DC31}" type="presParOf" srcId="{38101B37-5A2B-4680-84DC-55DA45146359}" destId="{E5E37366-E0E4-40E6-BCF4-6ED3A71A3EA4}" srcOrd="0" destOrd="0" presId="urn:microsoft.com/office/officeart/2005/8/layout/hierarchy1"/>
    <dgm:cxn modelId="{E9C2A818-297B-4663-8398-7AE986552FC7}" type="presParOf" srcId="{E5E37366-E0E4-40E6-BCF4-6ED3A71A3EA4}" destId="{4ADAF878-113D-4E3A-A2DC-5FC04AA984AC}" srcOrd="0" destOrd="0" presId="urn:microsoft.com/office/officeart/2005/8/layout/hierarchy1"/>
    <dgm:cxn modelId="{82BB60DF-EEDD-4C00-89D8-E9CD33781306}" type="presParOf" srcId="{E5E37366-E0E4-40E6-BCF4-6ED3A71A3EA4}" destId="{7D96FCB0-B432-4E7C-80F4-056C910A4DBB}" srcOrd="1" destOrd="0" presId="urn:microsoft.com/office/officeart/2005/8/layout/hierarchy1"/>
    <dgm:cxn modelId="{73F66D4F-D40E-4FFB-BF80-AF4256ECB60E}" type="presParOf" srcId="{38101B37-5A2B-4680-84DC-55DA45146359}" destId="{602BE708-430A-40F8-A4B5-CF1C3F0F150F}" srcOrd="1" destOrd="0" presId="urn:microsoft.com/office/officeart/2005/8/layout/hierarchy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295D05-73E3-450A-B730-DBAAF6C2C8D2}">
      <dsp:nvSpPr>
        <dsp:cNvPr id="0" name=""/>
        <dsp:cNvSpPr/>
      </dsp:nvSpPr>
      <dsp:spPr>
        <a:xfrm>
          <a:off x="3230764" y="718187"/>
          <a:ext cx="2971576" cy="1522444"/>
        </a:xfrm>
        <a:custGeom>
          <a:avLst/>
          <a:gdLst/>
          <a:ahLst/>
          <a:cxnLst/>
          <a:rect l="0" t="0" r="0" b="0"/>
          <a:pathLst>
            <a:path>
              <a:moveTo>
                <a:pt x="0" y="1522444"/>
              </a:moveTo>
              <a:lnTo>
                <a:pt x="2971576"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B955DA-4868-48A0-ACD2-CD0E1A5F703D}">
      <dsp:nvSpPr>
        <dsp:cNvPr id="0" name=""/>
        <dsp:cNvSpPr/>
      </dsp:nvSpPr>
      <dsp:spPr>
        <a:xfrm>
          <a:off x="1925300" y="582691"/>
          <a:ext cx="2610929" cy="16579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75EC54-B64D-4D87-8065-A596373DB730}">
      <dsp:nvSpPr>
        <dsp:cNvPr id="0" name=""/>
        <dsp:cNvSpPr/>
      </dsp:nvSpPr>
      <dsp:spPr>
        <a:xfrm>
          <a:off x="2215403" y="858289"/>
          <a:ext cx="2610929" cy="165793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IN" sz="6500" kern="1200" dirty="0"/>
            <a:t>Style</a:t>
          </a:r>
        </a:p>
      </dsp:txBody>
      <dsp:txXfrm>
        <a:off x="2263962" y="906848"/>
        <a:ext cx="2513811" cy="1560821"/>
      </dsp:txXfrm>
    </dsp:sp>
    <dsp:sp modelId="{4ADAF878-113D-4E3A-A2DC-5FC04AA984AC}">
      <dsp:nvSpPr>
        <dsp:cNvPr id="0" name=""/>
        <dsp:cNvSpPr/>
      </dsp:nvSpPr>
      <dsp:spPr>
        <a:xfrm>
          <a:off x="4896876" y="718187"/>
          <a:ext cx="2610929" cy="16579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96FCB0-B432-4E7C-80F4-056C910A4DBB}">
      <dsp:nvSpPr>
        <dsp:cNvPr id="0" name=""/>
        <dsp:cNvSpPr/>
      </dsp:nvSpPr>
      <dsp:spPr>
        <a:xfrm>
          <a:off x="5186980" y="993785"/>
          <a:ext cx="2610929" cy="165793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IN" sz="6500" kern="1200" dirty="0"/>
            <a:t>Tone</a:t>
          </a:r>
        </a:p>
      </dsp:txBody>
      <dsp:txXfrm>
        <a:off x="5235539" y="1042344"/>
        <a:ext cx="2513811" cy="156082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56"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1048757"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210B8-73C2-4B13-B81B-8E7300F59F2D}" type="datetimeFigureOut">
              <a:rPr lang="en-IN" smtClean="0"/>
              <a:pPr/>
              <a:t>24-09-2025</a:t>
            </a:fld>
            <a:endParaRPr lang="en-IN"/>
          </a:p>
        </p:txBody>
      </p:sp>
      <p:sp>
        <p:nvSpPr>
          <p:cNvPr id="1048758"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1048759"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60"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1048761"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4A7226-C96A-41F8-8BB0-3415B6403D52}"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582"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048583" name="Date Placeholder 3"/>
          <p:cNvSpPr>
            <a:spLocks noGrp="1"/>
          </p:cNvSpPr>
          <p:nvPr>
            <p:ph type="dt" sz="half" idx="10"/>
          </p:nvPr>
        </p:nvSpPr>
        <p:spPr/>
        <p:txBody>
          <a:bodyPr/>
          <a:lstStyle/>
          <a:p>
            <a:fld id="{299CD127-EE75-4E10-BFA5-532A317161D7}" type="datetimeFigureOut">
              <a:rPr lang="en-IN" smtClean="0"/>
              <a:pPr/>
              <a:t>24-09-2025</a:t>
            </a:fld>
            <a:endParaRPr lang="en-IN"/>
          </a:p>
        </p:txBody>
      </p:sp>
      <p:sp>
        <p:nvSpPr>
          <p:cNvPr id="1048584" name="Footer Placeholder 4"/>
          <p:cNvSpPr>
            <a:spLocks noGrp="1"/>
          </p:cNvSpPr>
          <p:nvPr>
            <p:ph type="ftr" sz="quarter" idx="11"/>
          </p:nvPr>
        </p:nvSpPr>
        <p:spPr/>
        <p:txBody>
          <a:bodyPr/>
          <a:lstStyle/>
          <a:p>
            <a:endParaRPr lang="en-IN"/>
          </a:p>
        </p:txBody>
      </p:sp>
      <p:sp>
        <p:nvSpPr>
          <p:cNvPr id="1048585" name="Slide Number Placeholder 5"/>
          <p:cNvSpPr>
            <a:spLocks noGrp="1"/>
          </p:cNvSpPr>
          <p:nvPr>
            <p:ph type="sldNum" sz="quarter" idx="12"/>
          </p:nvPr>
        </p:nvSpPr>
        <p:spPr/>
        <p:txBody>
          <a:bodyPr/>
          <a:lstStyle/>
          <a:p>
            <a:fld id="{25A40794-B00D-4422-8ACD-344ACF879336}"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8" name="Title 1"/>
          <p:cNvSpPr>
            <a:spLocks noGrp="1"/>
          </p:cNvSpPr>
          <p:nvPr>
            <p:ph type="title"/>
          </p:nvPr>
        </p:nvSpPr>
        <p:spPr/>
        <p:txBody>
          <a:bodyPr/>
          <a:lstStyle/>
          <a:p>
            <a:r>
              <a:rPr lang="en-US"/>
              <a:t>Click to edit Master title style</a:t>
            </a:r>
            <a:endParaRPr lang="en-IN"/>
          </a:p>
        </p:txBody>
      </p:sp>
      <p:sp>
        <p:nvSpPr>
          <p:cNvPr id="1048589"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90" name="Date Placeholder 3"/>
          <p:cNvSpPr>
            <a:spLocks noGrp="1"/>
          </p:cNvSpPr>
          <p:nvPr>
            <p:ph type="dt" sz="half" idx="10"/>
          </p:nvPr>
        </p:nvSpPr>
        <p:spPr/>
        <p:txBody>
          <a:bodyPr/>
          <a:lstStyle/>
          <a:p>
            <a:fld id="{299CD127-EE75-4E10-BFA5-532A317161D7}" type="datetimeFigureOut">
              <a:rPr lang="en-IN" smtClean="0"/>
              <a:pPr/>
              <a:t>24-09-2025</a:t>
            </a:fld>
            <a:endParaRPr lang="en-IN"/>
          </a:p>
        </p:txBody>
      </p:sp>
      <p:sp>
        <p:nvSpPr>
          <p:cNvPr id="1048591" name="Footer Placeholder 4"/>
          <p:cNvSpPr>
            <a:spLocks noGrp="1"/>
          </p:cNvSpPr>
          <p:nvPr>
            <p:ph type="ftr" sz="quarter" idx="11"/>
          </p:nvPr>
        </p:nvSpPr>
        <p:spPr/>
        <p:txBody>
          <a:bodyPr/>
          <a:lstStyle/>
          <a:p>
            <a:endParaRPr lang="en-IN"/>
          </a:p>
        </p:txBody>
      </p:sp>
      <p:sp>
        <p:nvSpPr>
          <p:cNvPr id="1048592" name="Slide Number Placeholder 5"/>
          <p:cNvSpPr>
            <a:spLocks noGrp="1"/>
          </p:cNvSpPr>
          <p:nvPr>
            <p:ph type="sldNum" sz="quarter" idx="12"/>
          </p:nvPr>
        </p:nvSpPr>
        <p:spPr/>
        <p:txBody>
          <a:bodyPr/>
          <a:lstStyle/>
          <a:p>
            <a:fld id="{25A40794-B00D-4422-8ACD-344ACF879336}"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36"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737"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738" name="Date Placeholder 3"/>
          <p:cNvSpPr>
            <a:spLocks noGrp="1"/>
          </p:cNvSpPr>
          <p:nvPr>
            <p:ph type="dt" sz="half" idx="10"/>
          </p:nvPr>
        </p:nvSpPr>
        <p:spPr/>
        <p:txBody>
          <a:bodyPr/>
          <a:lstStyle/>
          <a:p>
            <a:fld id="{299CD127-EE75-4E10-BFA5-532A317161D7}" type="datetimeFigureOut">
              <a:rPr lang="en-IN" smtClean="0"/>
              <a:pPr/>
              <a:t>24-09-2025</a:t>
            </a:fld>
            <a:endParaRPr lang="en-IN"/>
          </a:p>
        </p:txBody>
      </p:sp>
      <p:sp>
        <p:nvSpPr>
          <p:cNvPr id="1048739" name="Footer Placeholder 4"/>
          <p:cNvSpPr>
            <a:spLocks noGrp="1"/>
          </p:cNvSpPr>
          <p:nvPr>
            <p:ph type="ftr" sz="quarter" idx="11"/>
          </p:nvPr>
        </p:nvSpPr>
        <p:spPr/>
        <p:txBody>
          <a:bodyPr/>
          <a:lstStyle/>
          <a:p>
            <a:endParaRPr lang="en-IN"/>
          </a:p>
        </p:txBody>
      </p:sp>
      <p:sp>
        <p:nvSpPr>
          <p:cNvPr id="1048740" name="Slide Number Placeholder 5"/>
          <p:cNvSpPr>
            <a:spLocks noGrp="1"/>
          </p:cNvSpPr>
          <p:nvPr>
            <p:ph type="sldNum" sz="quarter" idx="12"/>
          </p:nvPr>
        </p:nvSpPr>
        <p:spPr/>
        <p:txBody>
          <a:bodyPr/>
          <a:lstStyle/>
          <a:p>
            <a:fld id="{25A40794-B00D-4422-8ACD-344ACF879336}"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41" name="Title 1"/>
          <p:cNvSpPr>
            <a:spLocks noGrp="1"/>
          </p:cNvSpPr>
          <p:nvPr>
            <p:ph type="title"/>
          </p:nvPr>
        </p:nvSpPr>
        <p:spPr/>
        <p:txBody>
          <a:bodyPr/>
          <a:lstStyle/>
          <a:p>
            <a:r>
              <a:rPr lang="en-US"/>
              <a:t>Click to edit Master title style</a:t>
            </a:r>
            <a:endParaRPr lang="en-IN"/>
          </a:p>
        </p:txBody>
      </p:sp>
      <p:sp>
        <p:nvSpPr>
          <p:cNvPr id="1048742"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43"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44" name="Date Placeholder 4"/>
          <p:cNvSpPr>
            <a:spLocks noGrp="1"/>
          </p:cNvSpPr>
          <p:nvPr>
            <p:ph type="dt" sz="half" idx="10"/>
          </p:nvPr>
        </p:nvSpPr>
        <p:spPr/>
        <p:txBody>
          <a:bodyPr/>
          <a:lstStyle/>
          <a:p>
            <a:fld id="{299CD127-EE75-4E10-BFA5-532A317161D7}" type="datetimeFigureOut">
              <a:rPr lang="en-IN" smtClean="0"/>
              <a:pPr/>
              <a:t>24-09-2025</a:t>
            </a:fld>
            <a:endParaRPr lang="en-IN"/>
          </a:p>
        </p:txBody>
      </p:sp>
      <p:sp>
        <p:nvSpPr>
          <p:cNvPr id="1048745" name="Footer Placeholder 5"/>
          <p:cNvSpPr>
            <a:spLocks noGrp="1"/>
          </p:cNvSpPr>
          <p:nvPr>
            <p:ph type="ftr" sz="quarter" idx="11"/>
          </p:nvPr>
        </p:nvSpPr>
        <p:spPr/>
        <p:txBody>
          <a:bodyPr/>
          <a:lstStyle/>
          <a:p>
            <a:endParaRPr lang="en-IN"/>
          </a:p>
        </p:txBody>
      </p:sp>
      <p:sp>
        <p:nvSpPr>
          <p:cNvPr id="1048746" name="Slide Number Placeholder 6"/>
          <p:cNvSpPr>
            <a:spLocks noGrp="1"/>
          </p:cNvSpPr>
          <p:nvPr>
            <p:ph type="sldNum" sz="quarter" idx="12"/>
          </p:nvPr>
        </p:nvSpPr>
        <p:spPr/>
        <p:txBody>
          <a:bodyPr/>
          <a:lstStyle/>
          <a:p>
            <a:fld id="{25A40794-B00D-4422-8ACD-344ACF879336}"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04"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1048605"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06"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07"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08"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09" name="Date Placeholder 6"/>
          <p:cNvSpPr>
            <a:spLocks noGrp="1"/>
          </p:cNvSpPr>
          <p:nvPr>
            <p:ph type="dt" sz="half" idx="10"/>
          </p:nvPr>
        </p:nvSpPr>
        <p:spPr/>
        <p:txBody>
          <a:bodyPr/>
          <a:lstStyle/>
          <a:p>
            <a:fld id="{299CD127-EE75-4E10-BFA5-532A317161D7}" type="datetimeFigureOut">
              <a:rPr lang="en-IN" smtClean="0"/>
              <a:pPr/>
              <a:t>24-09-2025</a:t>
            </a:fld>
            <a:endParaRPr lang="en-IN"/>
          </a:p>
        </p:txBody>
      </p:sp>
      <p:sp>
        <p:nvSpPr>
          <p:cNvPr id="1048610" name="Footer Placeholder 7"/>
          <p:cNvSpPr>
            <a:spLocks noGrp="1"/>
          </p:cNvSpPr>
          <p:nvPr>
            <p:ph type="ftr" sz="quarter" idx="11"/>
          </p:nvPr>
        </p:nvSpPr>
        <p:spPr/>
        <p:txBody>
          <a:bodyPr/>
          <a:lstStyle/>
          <a:p>
            <a:endParaRPr lang="en-IN"/>
          </a:p>
        </p:txBody>
      </p:sp>
      <p:sp>
        <p:nvSpPr>
          <p:cNvPr id="1048611" name="Slide Number Placeholder 8"/>
          <p:cNvSpPr>
            <a:spLocks noGrp="1"/>
          </p:cNvSpPr>
          <p:nvPr>
            <p:ph type="sldNum" sz="quarter" idx="12"/>
          </p:nvPr>
        </p:nvSpPr>
        <p:spPr/>
        <p:txBody>
          <a:bodyPr/>
          <a:lstStyle/>
          <a:p>
            <a:fld id="{25A40794-B00D-4422-8ACD-344ACF879336}"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6" name="Title 1"/>
          <p:cNvSpPr>
            <a:spLocks noGrp="1"/>
          </p:cNvSpPr>
          <p:nvPr>
            <p:ph type="title"/>
          </p:nvPr>
        </p:nvSpPr>
        <p:spPr/>
        <p:txBody>
          <a:bodyPr/>
          <a:lstStyle/>
          <a:p>
            <a:r>
              <a:rPr lang="en-US"/>
              <a:t>Click to edit Master title style</a:t>
            </a:r>
            <a:endParaRPr lang="en-IN"/>
          </a:p>
        </p:txBody>
      </p:sp>
      <p:sp>
        <p:nvSpPr>
          <p:cNvPr id="1048717" name="Date Placeholder 2"/>
          <p:cNvSpPr>
            <a:spLocks noGrp="1"/>
          </p:cNvSpPr>
          <p:nvPr>
            <p:ph type="dt" sz="half" idx="10"/>
          </p:nvPr>
        </p:nvSpPr>
        <p:spPr/>
        <p:txBody>
          <a:bodyPr/>
          <a:lstStyle/>
          <a:p>
            <a:fld id="{299CD127-EE75-4E10-BFA5-532A317161D7}" type="datetimeFigureOut">
              <a:rPr lang="en-IN" smtClean="0"/>
              <a:pPr/>
              <a:t>24-09-2025</a:t>
            </a:fld>
            <a:endParaRPr lang="en-IN"/>
          </a:p>
        </p:txBody>
      </p:sp>
      <p:sp>
        <p:nvSpPr>
          <p:cNvPr id="1048718" name="Footer Placeholder 3"/>
          <p:cNvSpPr>
            <a:spLocks noGrp="1"/>
          </p:cNvSpPr>
          <p:nvPr>
            <p:ph type="ftr" sz="quarter" idx="11"/>
          </p:nvPr>
        </p:nvSpPr>
        <p:spPr/>
        <p:txBody>
          <a:bodyPr/>
          <a:lstStyle/>
          <a:p>
            <a:endParaRPr lang="en-IN"/>
          </a:p>
        </p:txBody>
      </p:sp>
      <p:sp>
        <p:nvSpPr>
          <p:cNvPr id="1048719" name="Slide Number Placeholder 4"/>
          <p:cNvSpPr>
            <a:spLocks noGrp="1"/>
          </p:cNvSpPr>
          <p:nvPr>
            <p:ph type="sldNum" sz="quarter" idx="12"/>
          </p:nvPr>
        </p:nvSpPr>
        <p:spPr/>
        <p:txBody>
          <a:bodyPr/>
          <a:lstStyle/>
          <a:p>
            <a:fld id="{25A40794-B00D-4422-8ACD-344ACF879336}"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47" name="Date Placeholder 1"/>
          <p:cNvSpPr>
            <a:spLocks noGrp="1"/>
          </p:cNvSpPr>
          <p:nvPr>
            <p:ph type="dt" sz="half" idx="10"/>
          </p:nvPr>
        </p:nvSpPr>
        <p:spPr/>
        <p:txBody>
          <a:bodyPr/>
          <a:lstStyle/>
          <a:p>
            <a:fld id="{299CD127-EE75-4E10-BFA5-532A317161D7}" type="datetimeFigureOut">
              <a:rPr lang="en-IN" smtClean="0"/>
              <a:pPr/>
              <a:t>24-09-2025</a:t>
            </a:fld>
            <a:endParaRPr lang="en-IN"/>
          </a:p>
        </p:txBody>
      </p:sp>
      <p:sp>
        <p:nvSpPr>
          <p:cNvPr id="1048748" name="Footer Placeholder 2"/>
          <p:cNvSpPr>
            <a:spLocks noGrp="1"/>
          </p:cNvSpPr>
          <p:nvPr>
            <p:ph type="ftr" sz="quarter" idx="11"/>
          </p:nvPr>
        </p:nvSpPr>
        <p:spPr/>
        <p:txBody>
          <a:bodyPr/>
          <a:lstStyle/>
          <a:p>
            <a:endParaRPr lang="en-IN"/>
          </a:p>
        </p:txBody>
      </p:sp>
      <p:sp>
        <p:nvSpPr>
          <p:cNvPr id="1048749" name="Slide Number Placeholder 3"/>
          <p:cNvSpPr>
            <a:spLocks noGrp="1"/>
          </p:cNvSpPr>
          <p:nvPr>
            <p:ph type="sldNum" sz="quarter" idx="12"/>
          </p:nvPr>
        </p:nvSpPr>
        <p:spPr/>
        <p:txBody>
          <a:bodyPr/>
          <a:lstStyle/>
          <a:p>
            <a:fld id="{25A40794-B00D-4422-8ACD-344ACF879336}"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50"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751"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52"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53" name="Date Placeholder 4"/>
          <p:cNvSpPr>
            <a:spLocks noGrp="1"/>
          </p:cNvSpPr>
          <p:nvPr>
            <p:ph type="dt" sz="half" idx="10"/>
          </p:nvPr>
        </p:nvSpPr>
        <p:spPr/>
        <p:txBody>
          <a:bodyPr/>
          <a:lstStyle/>
          <a:p>
            <a:fld id="{299CD127-EE75-4E10-BFA5-532A317161D7}" type="datetimeFigureOut">
              <a:rPr lang="en-IN" smtClean="0"/>
              <a:pPr/>
              <a:t>24-09-2025</a:t>
            </a:fld>
            <a:endParaRPr lang="en-IN"/>
          </a:p>
        </p:txBody>
      </p:sp>
      <p:sp>
        <p:nvSpPr>
          <p:cNvPr id="1048754" name="Footer Placeholder 5"/>
          <p:cNvSpPr>
            <a:spLocks noGrp="1"/>
          </p:cNvSpPr>
          <p:nvPr>
            <p:ph type="ftr" sz="quarter" idx="11"/>
          </p:nvPr>
        </p:nvSpPr>
        <p:spPr/>
        <p:txBody>
          <a:bodyPr/>
          <a:lstStyle/>
          <a:p>
            <a:endParaRPr lang="en-IN"/>
          </a:p>
        </p:txBody>
      </p:sp>
      <p:sp>
        <p:nvSpPr>
          <p:cNvPr id="1048755" name="Slide Number Placeholder 6"/>
          <p:cNvSpPr>
            <a:spLocks noGrp="1"/>
          </p:cNvSpPr>
          <p:nvPr>
            <p:ph type="sldNum" sz="quarter" idx="12"/>
          </p:nvPr>
        </p:nvSpPr>
        <p:spPr/>
        <p:txBody>
          <a:bodyPr/>
          <a:lstStyle/>
          <a:p>
            <a:fld id="{25A40794-B00D-4422-8ACD-344ACF879336}"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25"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726"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1048727"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28" name="Date Placeholder 4"/>
          <p:cNvSpPr>
            <a:spLocks noGrp="1"/>
          </p:cNvSpPr>
          <p:nvPr>
            <p:ph type="dt" sz="half" idx="10"/>
          </p:nvPr>
        </p:nvSpPr>
        <p:spPr/>
        <p:txBody>
          <a:bodyPr/>
          <a:lstStyle/>
          <a:p>
            <a:fld id="{299CD127-EE75-4E10-BFA5-532A317161D7}" type="datetimeFigureOut">
              <a:rPr lang="en-IN" smtClean="0"/>
              <a:pPr/>
              <a:t>24-09-2025</a:t>
            </a:fld>
            <a:endParaRPr lang="en-IN"/>
          </a:p>
        </p:txBody>
      </p:sp>
      <p:sp>
        <p:nvSpPr>
          <p:cNvPr id="1048729" name="Footer Placeholder 5"/>
          <p:cNvSpPr>
            <a:spLocks noGrp="1"/>
          </p:cNvSpPr>
          <p:nvPr>
            <p:ph type="ftr" sz="quarter" idx="11"/>
          </p:nvPr>
        </p:nvSpPr>
        <p:spPr/>
        <p:txBody>
          <a:bodyPr/>
          <a:lstStyle/>
          <a:p>
            <a:endParaRPr lang="en-IN"/>
          </a:p>
        </p:txBody>
      </p:sp>
      <p:sp>
        <p:nvSpPr>
          <p:cNvPr id="1048730" name="Slide Number Placeholder 6"/>
          <p:cNvSpPr>
            <a:spLocks noGrp="1"/>
          </p:cNvSpPr>
          <p:nvPr>
            <p:ph type="sldNum" sz="quarter" idx="12"/>
          </p:nvPr>
        </p:nvSpPr>
        <p:spPr/>
        <p:txBody>
          <a:bodyPr/>
          <a:lstStyle/>
          <a:p>
            <a:fld id="{25A40794-B00D-4422-8ACD-344ACF879336}"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31" name="Title 1"/>
          <p:cNvSpPr>
            <a:spLocks noGrp="1"/>
          </p:cNvSpPr>
          <p:nvPr>
            <p:ph type="title"/>
          </p:nvPr>
        </p:nvSpPr>
        <p:spPr/>
        <p:txBody>
          <a:bodyPr/>
          <a:lstStyle/>
          <a:p>
            <a:r>
              <a:rPr lang="en-US"/>
              <a:t>Click to edit Master title style</a:t>
            </a:r>
            <a:endParaRPr lang="en-IN"/>
          </a:p>
        </p:txBody>
      </p:sp>
      <p:sp>
        <p:nvSpPr>
          <p:cNvPr id="104873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33" name="Date Placeholder 3"/>
          <p:cNvSpPr>
            <a:spLocks noGrp="1"/>
          </p:cNvSpPr>
          <p:nvPr>
            <p:ph type="dt" sz="half" idx="10"/>
          </p:nvPr>
        </p:nvSpPr>
        <p:spPr/>
        <p:txBody>
          <a:bodyPr/>
          <a:lstStyle/>
          <a:p>
            <a:fld id="{299CD127-EE75-4E10-BFA5-532A317161D7}" type="datetimeFigureOut">
              <a:rPr lang="en-IN" smtClean="0"/>
              <a:pPr/>
              <a:t>24-09-2025</a:t>
            </a:fld>
            <a:endParaRPr lang="en-IN"/>
          </a:p>
        </p:txBody>
      </p:sp>
      <p:sp>
        <p:nvSpPr>
          <p:cNvPr id="1048734" name="Footer Placeholder 4"/>
          <p:cNvSpPr>
            <a:spLocks noGrp="1"/>
          </p:cNvSpPr>
          <p:nvPr>
            <p:ph type="ftr" sz="quarter" idx="11"/>
          </p:nvPr>
        </p:nvSpPr>
        <p:spPr/>
        <p:txBody>
          <a:bodyPr/>
          <a:lstStyle/>
          <a:p>
            <a:endParaRPr lang="en-IN"/>
          </a:p>
        </p:txBody>
      </p:sp>
      <p:sp>
        <p:nvSpPr>
          <p:cNvPr id="1048735" name="Slide Number Placeholder 5"/>
          <p:cNvSpPr>
            <a:spLocks noGrp="1"/>
          </p:cNvSpPr>
          <p:nvPr>
            <p:ph type="sldNum" sz="quarter" idx="12"/>
          </p:nvPr>
        </p:nvSpPr>
        <p:spPr/>
        <p:txBody>
          <a:bodyPr/>
          <a:lstStyle/>
          <a:p>
            <a:fld id="{25A40794-B00D-4422-8ACD-344ACF879336}"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20"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1048721"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22" name="Date Placeholder 3"/>
          <p:cNvSpPr>
            <a:spLocks noGrp="1"/>
          </p:cNvSpPr>
          <p:nvPr>
            <p:ph type="dt" sz="half" idx="10"/>
          </p:nvPr>
        </p:nvSpPr>
        <p:spPr/>
        <p:txBody>
          <a:bodyPr/>
          <a:lstStyle/>
          <a:p>
            <a:fld id="{299CD127-EE75-4E10-BFA5-532A317161D7}" type="datetimeFigureOut">
              <a:rPr lang="en-IN" smtClean="0"/>
              <a:pPr/>
              <a:t>24-09-2025</a:t>
            </a:fld>
            <a:endParaRPr lang="en-IN"/>
          </a:p>
        </p:txBody>
      </p:sp>
      <p:sp>
        <p:nvSpPr>
          <p:cNvPr id="1048723" name="Footer Placeholder 4"/>
          <p:cNvSpPr>
            <a:spLocks noGrp="1"/>
          </p:cNvSpPr>
          <p:nvPr>
            <p:ph type="ftr" sz="quarter" idx="11"/>
          </p:nvPr>
        </p:nvSpPr>
        <p:spPr/>
        <p:txBody>
          <a:bodyPr/>
          <a:lstStyle/>
          <a:p>
            <a:endParaRPr lang="en-IN"/>
          </a:p>
        </p:txBody>
      </p:sp>
      <p:sp>
        <p:nvSpPr>
          <p:cNvPr id="1048724" name="Slide Number Placeholder 5"/>
          <p:cNvSpPr>
            <a:spLocks noGrp="1"/>
          </p:cNvSpPr>
          <p:nvPr>
            <p:ph type="sldNum" sz="quarter" idx="12"/>
          </p:nvPr>
        </p:nvSpPr>
        <p:spPr/>
        <p:txBody>
          <a:bodyPr/>
          <a:lstStyle/>
          <a:p>
            <a:fld id="{25A40794-B00D-4422-8ACD-344ACF879336}"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9CD127-EE75-4E10-BFA5-532A317161D7}" type="datetimeFigureOut">
              <a:rPr lang="en-IN" smtClean="0"/>
              <a:pPr/>
              <a:t>24-09-2025</a:t>
            </a:fld>
            <a:endParaRPr lang="en-IN"/>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A40794-B00D-4422-8ACD-344ACF879336}" type="slidenum">
              <a:rPr lang="en-IN" smtClean="0"/>
              <a:pPr/>
              <a:t>‹#›</a:t>
            </a:fld>
            <a:endParaRPr lang="en-IN"/>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ctrTitle"/>
          </p:nvPr>
        </p:nvSpPr>
        <p:spPr/>
        <p:txBody>
          <a:bodyPr>
            <a:normAutofit/>
          </a:bodyPr>
          <a:lstStyle/>
          <a:p>
            <a:r>
              <a:rPr lang="en-US" sz="3600" dirty="0">
                <a:latin typeface="Times New Roman" panose="02020603050405020304" pitchFamily="18" charset="0"/>
                <a:cs typeface="Times New Roman" panose="02020603050405020304" pitchFamily="18" charset="0"/>
              </a:rPr>
              <a:t>Style and Tone of Business Messages and Documents</a:t>
            </a:r>
            <a:endParaRPr lang="en-IN" sz="3600" dirty="0">
              <a:latin typeface="Times New Roman" panose="02020603050405020304" pitchFamily="18" charset="0"/>
              <a:cs typeface="Times New Roman" panose="02020603050405020304" pitchFamily="18" charset="0"/>
            </a:endParaRPr>
          </a:p>
        </p:txBody>
      </p:sp>
      <p:sp>
        <p:nvSpPr>
          <p:cNvPr id="1048587" name="Subtitle 2"/>
          <p:cNvSpPr>
            <a:spLocks noGrp="1"/>
          </p:cNvSpPr>
          <p:nvPr>
            <p:ph type="subTitle" idx="1"/>
          </p:nvPr>
        </p:nvSpPr>
        <p:spPr/>
        <p:txBody>
          <a:bodyPr>
            <a:normAutofit fontScale="98214"/>
          </a:bodyPr>
          <a:lstStyle/>
          <a:p>
            <a:endParaRPr lang="en-US" sz="4000" dirty="0">
              <a:latin typeface="Times New Roman" panose="02020603050405020304" pitchFamily="18" charset="0"/>
              <a:cs typeface="Times New Roman" panose="02020603050405020304" pitchFamily="18" charset="0"/>
            </a:endParaRPr>
          </a:p>
          <a:p>
            <a:endParaRPr lang="en-IN" sz="4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Title 1"/>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Objectives </a:t>
            </a:r>
          </a:p>
        </p:txBody>
      </p:sp>
      <p:sp>
        <p:nvSpPr>
          <p:cNvPr id="1048594" name="Content Placeholder 2"/>
          <p:cNvSpPr>
            <a:spLocks noGrp="1"/>
          </p:cNvSpPr>
          <p:nvPr>
            <p:ph idx="1"/>
          </p:nvPr>
        </p:nvSpPr>
        <p:spPr/>
        <p:txBody>
          <a:bodyPr/>
          <a:lstStyle/>
          <a:p>
            <a:r>
              <a:rPr lang="en-IN" dirty="0"/>
              <a:t>Rendering a professional tone in business messages</a:t>
            </a:r>
          </a:p>
          <a:p>
            <a:r>
              <a:rPr lang="en-IN" dirty="0"/>
              <a:t>Developing a technical style of writing messages</a:t>
            </a:r>
          </a:p>
          <a:p>
            <a:r>
              <a:rPr lang="en-IN" dirty="0"/>
              <a:t>Delivering oral presentations effectively and forcefully</a:t>
            </a:r>
          </a:p>
          <a:p>
            <a:r>
              <a:rPr lang="en-IN" dirty="0"/>
              <a:t>Employing the subtle nuances of delivery in presenting ideas fluently</a:t>
            </a:r>
          </a:p>
          <a:p>
            <a:endParaRPr lang="en-IN" dirty="0"/>
          </a:p>
          <a:p>
            <a:endParaRPr lang="en-IN" dirty="0"/>
          </a:p>
          <a:p>
            <a:endParaRPr lang="en-IN"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69C85A-6965-5D6F-9280-98E218F73842}"/>
              </a:ext>
            </a:extLst>
          </p:cNvPr>
          <p:cNvSpPr>
            <a:spLocks noGrp="1"/>
          </p:cNvSpPr>
          <p:nvPr>
            <p:ph type="title"/>
          </p:nvPr>
        </p:nvSpPr>
        <p:spPr/>
        <p:txBody>
          <a:bodyPr/>
          <a:lstStyle/>
          <a:p>
            <a:pPr algn="ctr"/>
            <a:r>
              <a:rPr lang="en-US" dirty="0"/>
              <a:t>Go through the following sentences</a:t>
            </a:r>
            <a:endParaRPr lang="en-IN" dirty="0"/>
          </a:p>
        </p:txBody>
      </p:sp>
      <p:sp>
        <p:nvSpPr>
          <p:cNvPr id="3" name="Content Placeholder 2">
            <a:extLst>
              <a:ext uri="{FF2B5EF4-FFF2-40B4-BE49-F238E27FC236}">
                <a16:creationId xmlns:a16="http://schemas.microsoft.com/office/drawing/2014/main" xmlns="" id="{C724E5C8-E42A-3234-8FB8-F635EED4BF34}"/>
              </a:ext>
            </a:extLst>
          </p:cNvPr>
          <p:cNvSpPr>
            <a:spLocks noGrp="1"/>
          </p:cNvSpPr>
          <p:nvPr>
            <p:ph idx="1"/>
          </p:nvPr>
        </p:nvSpPr>
        <p:spPr/>
        <p:txBody>
          <a:bodyPr>
            <a:normAutofit/>
          </a:bodyPr>
          <a:lstStyle/>
          <a:p>
            <a:pPr marL="514350" indent="-514350">
              <a:buAutoNum type="arabicPeriod"/>
            </a:pPr>
            <a:r>
              <a:rPr lang="en-US" dirty="0"/>
              <a:t>Executing vehicular relocation</a:t>
            </a:r>
          </a:p>
          <a:p>
            <a:pPr marL="514350" indent="-514350">
              <a:buAutoNum type="arabicPeriod"/>
            </a:pPr>
            <a:endParaRPr lang="en-US" dirty="0"/>
          </a:p>
          <a:p>
            <a:pPr marL="514350" indent="-514350">
              <a:buAutoNum type="arabicPeriod"/>
            </a:pPr>
            <a:r>
              <a:rPr lang="en-US" dirty="0"/>
              <a:t>Optimizing sartorial selection</a:t>
            </a:r>
          </a:p>
          <a:p>
            <a:pPr marL="514350" indent="-514350">
              <a:buAutoNum type="arabicPeriod"/>
            </a:pPr>
            <a:endParaRPr lang="en-US" dirty="0"/>
          </a:p>
          <a:p>
            <a:pPr marL="514350" indent="-514350">
              <a:buAutoNum type="arabicPeriod"/>
            </a:pPr>
            <a:r>
              <a:rPr lang="en-US" dirty="0"/>
              <a:t>Facilitating hydration replenishment</a:t>
            </a:r>
          </a:p>
          <a:p>
            <a:pPr marL="514350" indent="-514350">
              <a:buAutoNum type="arabicPeriod"/>
            </a:pPr>
            <a:endParaRPr lang="en-US" dirty="0"/>
          </a:p>
          <a:p>
            <a:pPr marL="514350" indent="-514350">
              <a:buAutoNum type="arabicPeriod"/>
            </a:pPr>
            <a:r>
              <a:rPr lang="en-US" dirty="0"/>
              <a:t>Engaging in gastronomical refueling.</a:t>
            </a:r>
            <a:endParaRPr lang="en-IN" dirty="0"/>
          </a:p>
        </p:txBody>
      </p:sp>
    </p:spTree>
    <p:extLst>
      <p:ext uri="{BB962C8B-B14F-4D97-AF65-F5344CB8AC3E}">
        <p14:creationId xmlns:p14="http://schemas.microsoft.com/office/powerpoint/2010/main" xmlns="" val="33005292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5EC41B1-A4FA-AF77-C28C-FF7A64A396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DD9EE2C-8C33-8E2B-B2D3-27449F9D0E6A}"/>
              </a:ext>
            </a:extLst>
          </p:cNvPr>
          <p:cNvSpPr>
            <a:spLocks noGrp="1"/>
          </p:cNvSpPr>
          <p:nvPr>
            <p:ph type="title"/>
          </p:nvPr>
        </p:nvSpPr>
        <p:spPr/>
        <p:txBody>
          <a:bodyPr/>
          <a:lstStyle/>
          <a:p>
            <a:pPr algn="ctr"/>
            <a:r>
              <a:rPr lang="en-US" dirty="0"/>
              <a:t>Go through the following sentences</a:t>
            </a:r>
            <a:endParaRPr lang="en-IN" dirty="0"/>
          </a:p>
        </p:txBody>
      </p:sp>
      <p:sp>
        <p:nvSpPr>
          <p:cNvPr id="3" name="Content Placeholder 2">
            <a:extLst>
              <a:ext uri="{FF2B5EF4-FFF2-40B4-BE49-F238E27FC236}">
                <a16:creationId xmlns:a16="http://schemas.microsoft.com/office/drawing/2014/main" xmlns="" id="{0BC23C3E-D3DF-2D73-5300-04B5867FFCD5}"/>
              </a:ext>
            </a:extLst>
          </p:cNvPr>
          <p:cNvSpPr>
            <a:spLocks noGrp="1"/>
          </p:cNvSpPr>
          <p:nvPr>
            <p:ph idx="1"/>
          </p:nvPr>
        </p:nvSpPr>
        <p:spPr/>
        <p:txBody>
          <a:bodyPr>
            <a:normAutofit/>
          </a:bodyPr>
          <a:lstStyle/>
          <a:p>
            <a:pPr marL="514350" indent="-514350">
              <a:buAutoNum type="arabicPeriod"/>
            </a:pPr>
            <a:r>
              <a:rPr lang="en-US" dirty="0"/>
              <a:t>Executing vehicular relocation (Moving a car)</a:t>
            </a:r>
          </a:p>
          <a:p>
            <a:pPr marL="514350" indent="-514350">
              <a:buAutoNum type="arabicPeriod"/>
            </a:pPr>
            <a:endParaRPr lang="en-US" dirty="0"/>
          </a:p>
          <a:p>
            <a:pPr marL="514350" indent="-514350">
              <a:buAutoNum type="arabicPeriod"/>
            </a:pPr>
            <a:r>
              <a:rPr lang="en-US" dirty="0"/>
              <a:t>Optimizing sartorial selection (Choosing what to wear)</a:t>
            </a:r>
          </a:p>
          <a:p>
            <a:pPr marL="514350" indent="-514350">
              <a:buAutoNum type="arabicPeriod"/>
            </a:pPr>
            <a:endParaRPr lang="en-US" dirty="0"/>
          </a:p>
          <a:p>
            <a:pPr marL="514350" indent="-514350">
              <a:buAutoNum type="arabicPeriod"/>
            </a:pPr>
            <a:r>
              <a:rPr lang="en-US" dirty="0"/>
              <a:t>Facilitating hydration replenishment (Drinking water)</a:t>
            </a:r>
          </a:p>
          <a:p>
            <a:pPr marL="514350" indent="-514350">
              <a:buAutoNum type="arabicPeriod"/>
            </a:pPr>
            <a:endParaRPr lang="en-US" dirty="0"/>
          </a:p>
          <a:p>
            <a:pPr marL="514350" indent="-514350">
              <a:buAutoNum type="arabicPeriod"/>
            </a:pPr>
            <a:r>
              <a:rPr lang="en-US" dirty="0"/>
              <a:t>Engaging in gastronomical refueling (Eating a snack)</a:t>
            </a:r>
            <a:endParaRPr lang="en-IN" dirty="0"/>
          </a:p>
        </p:txBody>
      </p:sp>
    </p:spTree>
    <p:extLst>
      <p:ext uri="{BB962C8B-B14F-4D97-AF65-F5344CB8AC3E}">
        <p14:creationId xmlns:p14="http://schemas.microsoft.com/office/powerpoint/2010/main" xmlns="" val="23104546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756B78-9E3C-348B-6450-E326C9947775}"/>
              </a:ext>
            </a:extLst>
          </p:cNvPr>
          <p:cNvSpPr>
            <a:spLocks noGrp="1"/>
          </p:cNvSpPr>
          <p:nvPr>
            <p:ph type="title"/>
          </p:nvPr>
        </p:nvSpPr>
        <p:spPr/>
        <p:txBody>
          <a:bodyPr/>
          <a:lstStyle/>
          <a:p>
            <a:pPr algn="ctr"/>
            <a:r>
              <a:rPr lang="en-US" dirty="0"/>
              <a:t>How will you feel if the sender conveys in professional space like in the given messages?</a:t>
            </a:r>
            <a:endParaRPr lang="en-IN" dirty="0"/>
          </a:p>
        </p:txBody>
      </p:sp>
      <p:sp>
        <p:nvSpPr>
          <p:cNvPr id="3" name="Content Placeholder 2">
            <a:extLst>
              <a:ext uri="{FF2B5EF4-FFF2-40B4-BE49-F238E27FC236}">
                <a16:creationId xmlns:a16="http://schemas.microsoft.com/office/drawing/2014/main" xmlns="" id="{4A187C41-7D88-22F6-C60B-25EAA70A5C98}"/>
              </a:ext>
            </a:extLst>
          </p:cNvPr>
          <p:cNvSpPr>
            <a:spLocks noGrp="1"/>
          </p:cNvSpPr>
          <p:nvPr>
            <p:ph idx="1"/>
          </p:nvPr>
        </p:nvSpPr>
        <p:spPr/>
        <p:txBody>
          <a:bodyPr>
            <a:normAutofit fontScale="92500" lnSpcReduction="20000"/>
          </a:bodyPr>
          <a:lstStyle/>
          <a:p>
            <a:pPr marL="514350" indent="-514350">
              <a:buFont typeface="+mj-lt"/>
              <a:buAutoNum type="arabicPeriod"/>
            </a:pPr>
            <a:r>
              <a:rPr lang="en-US" dirty="0"/>
              <a:t>Get it done now.</a:t>
            </a:r>
          </a:p>
          <a:p>
            <a:pPr marL="514350" indent="-514350">
              <a:buFont typeface="+mj-lt"/>
              <a:buAutoNum type="arabicPeriod"/>
            </a:pPr>
            <a:r>
              <a:rPr lang="en-US" dirty="0"/>
              <a:t>Meet the deadline, or you’re fired.</a:t>
            </a:r>
          </a:p>
          <a:p>
            <a:pPr marL="514350" indent="-514350">
              <a:buFont typeface="+mj-lt"/>
              <a:buAutoNum type="arabicPeriod"/>
            </a:pPr>
            <a:r>
              <a:rPr lang="en-US" dirty="0"/>
              <a:t>Your mistake cost us big.</a:t>
            </a:r>
          </a:p>
          <a:p>
            <a:pPr marL="514350" indent="-514350">
              <a:buFont typeface="+mj-lt"/>
              <a:buAutoNum type="arabicPeriod"/>
            </a:pPr>
            <a:r>
              <a:rPr lang="en-US" dirty="0"/>
              <a:t>Fix this error immediately.</a:t>
            </a:r>
          </a:p>
          <a:p>
            <a:pPr marL="514350" indent="-514350">
              <a:buFont typeface="+mj-lt"/>
              <a:buAutoNum type="arabicPeriod"/>
            </a:pPr>
            <a:r>
              <a:rPr lang="en-US" dirty="0"/>
              <a:t>Your lack of effort is appalling.</a:t>
            </a:r>
          </a:p>
          <a:p>
            <a:pPr marL="514350" indent="-514350">
              <a:buFont typeface="+mj-lt"/>
              <a:buAutoNum type="arabicPeriod"/>
            </a:pPr>
            <a:r>
              <a:rPr lang="en-US" dirty="0"/>
              <a:t>Shape up or ship out.</a:t>
            </a:r>
          </a:p>
          <a:p>
            <a:pPr marL="514350" indent="-514350">
              <a:buFont typeface="+mj-lt"/>
              <a:buAutoNum type="arabicPeriod"/>
            </a:pPr>
            <a:r>
              <a:rPr lang="en-US" dirty="0"/>
              <a:t>You're holding us back.</a:t>
            </a:r>
          </a:p>
          <a:p>
            <a:pPr marL="514350" indent="-514350">
              <a:buFont typeface="+mj-lt"/>
              <a:buAutoNum type="arabicPeriod"/>
            </a:pPr>
            <a:r>
              <a:rPr lang="en-US" dirty="0"/>
              <a:t>Stop wasting time.</a:t>
            </a:r>
          </a:p>
          <a:p>
            <a:pPr marL="514350" indent="-514350">
              <a:buFont typeface="+mj-lt"/>
              <a:buAutoNum type="arabicPeriod"/>
            </a:pPr>
            <a:r>
              <a:rPr lang="en-US" dirty="0"/>
              <a:t>This is unacceptable.</a:t>
            </a:r>
          </a:p>
          <a:p>
            <a:pPr marL="514350" indent="-514350">
              <a:buFont typeface="+mj-lt"/>
              <a:buAutoNum type="arabicPeriod"/>
            </a:pPr>
            <a:r>
              <a:rPr lang="en-US" dirty="0"/>
              <a:t>Do your job.</a:t>
            </a:r>
            <a:endParaRPr lang="en-IN" dirty="0"/>
          </a:p>
        </p:txBody>
      </p:sp>
    </p:spTree>
    <p:extLst>
      <p:ext uri="{BB962C8B-B14F-4D97-AF65-F5344CB8AC3E}">
        <p14:creationId xmlns:p14="http://schemas.microsoft.com/office/powerpoint/2010/main" xmlns="" val="41638008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815EA55-FEC6-A488-0B4A-772F1BFB48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07D8B66-09B8-E1FD-95A6-12B16CD5AF9F}"/>
              </a:ext>
            </a:extLst>
          </p:cNvPr>
          <p:cNvSpPr>
            <a:spLocks noGrp="1"/>
          </p:cNvSpPr>
          <p:nvPr>
            <p:ph type="title"/>
          </p:nvPr>
        </p:nvSpPr>
        <p:spPr/>
        <p:txBody>
          <a:bodyPr/>
          <a:lstStyle/>
          <a:p>
            <a:pPr algn="ctr"/>
            <a:r>
              <a:rPr lang="en-US" dirty="0"/>
              <a:t>How will you feel if the sender conveys in professional space like in the given messages?</a:t>
            </a:r>
            <a:endParaRPr lang="en-IN" dirty="0"/>
          </a:p>
        </p:txBody>
      </p:sp>
      <p:sp>
        <p:nvSpPr>
          <p:cNvPr id="3" name="Content Placeholder 2">
            <a:extLst>
              <a:ext uri="{FF2B5EF4-FFF2-40B4-BE49-F238E27FC236}">
                <a16:creationId xmlns:a16="http://schemas.microsoft.com/office/drawing/2014/main" xmlns="" id="{BB9B0F67-0102-59E8-FA0D-3CC52A2DB7CE}"/>
              </a:ext>
            </a:extLst>
          </p:cNvPr>
          <p:cNvSpPr>
            <a:spLocks noGrp="1"/>
          </p:cNvSpPr>
          <p:nvPr>
            <p:ph idx="1"/>
          </p:nvPr>
        </p:nvSpPr>
        <p:spPr/>
        <p:txBody>
          <a:bodyPr>
            <a:normAutofit/>
          </a:bodyPr>
          <a:lstStyle/>
          <a:p>
            <a:pPr marL="514350" indent="-514350">
              <a:buFont typeface="+mj-lt"/>
              <a:buAutoNum type="arabicPeriod"/>
            </a:pPr>
            <a:r>
              <a:rPr lang="en-US" dirty="0"/>
              <a:t>Demotivated: Threats and criticism can lead to decreased motivation.</a:t>
            </a:r>
          </a:p>
          <a:p>
            <a:pPr marL="514350" indent="-514350">
              <a:buFont typeface="+mj-lt"/>
              <a:buAutoNum type="arabicPeriod"/>
            </a:pPr>
            <a:r>
              <a:rPr lang="en-US" dirty="0"/>
              <a:t>Defensive: Blame and accusation can make the receiver defensive.</a:t>
            </a:r>
          </a:p>
          <a:p>
            <a:pPr marL="514350" indent="-514350">
              <a:buFont typeface="+mj-lt"/>
              <a:buAutoNum type="arabicPeriod"/>
            </a:pPr>
            <a:r>
              <a:rPr lang="en-US" dirty="0"/>
              <a:t> Stressed: Pressure and urgency can cause anxiety.</a:t>
            </a:r>
          </a:p>
          <a:p>
            <a:pPr marL="514350" indent="-514350">
              <a:buFont typeface="+mj-lt"/>
              <a:buAutoNum type="arabicPeriod"/>
            </a:pPr>
            <a:r>
              <a:rPr lang="en-US" dirty="0"/>
              <a:t>Undervalued: Negative feedback without constructive suggestions can make the receiver feel unappreciated.</a:t>
            </a:r>
          </a:p>
          <a:p>
            <a:pPr marL="514350" indent="-514350">
              <a:buFont typeface="+mj-lt"/>
              <a:buAutoNum type="arabicPeriod"/>
            </a:pPr>
            <a:r>
              <a:rPr lang="en-US" dirty="0"/>
              <a:t>Humiliated: Public criticism or belittling comments can damage self-esteem.</a:t>
            </a:r>
            <a:endParaRPr lang="en-IN" dirty="0"/>
          </a:p>
        </p:txBody>
      </p:sp>
    </p:spTree>
    <p:extLst>
      <p:ext uri="{BB962C8B-B14F-4D97-AF65-F5344CB8AC3E}">
        <p14:creationId xmlns:p14="http://schemas.microsoft.com/office/powerpoint/2010/main" xmlns="" val="37276379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FB74709-7385-BAE4-89A0-129D2FECF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46DDE91-4934-1D5F-5169-345B6888FEAB}"/>
              </a:ext>
            </a:extLst>
          </p:cNvPr>
          <p:cNvSpPr>
            <a:spLocks noGrp="1"/>
          </p:cNvSpPr>
          <p:nvPr>
            <p:ph type="title"/>
          </p:nvPr>
        </p:nvSpPr>
        <p:spPr/>
        <p:txBody>
          <a:bodyPr/>
          <a:lstStyle/>
          <a:p>
            <a:pPr algn="ctr"/>
            <a:r>
              <a:rPr lang="en-US" dirty="0"/>
              <a:t>Reframed statements</a:t>
            </a:r>
            <a:endParaRPr lang="en-IN" dirty="0"/>
          </a:p>
        </p:txBody>
      </p:sp>
      <p:sp>
        <p:nvSpPr>
          <p:cNvPr id="3" name="Content Placeholder 2">
            <a:extLst>
              <a:ext uri="{FF2B5EF4-FFF2-40B4-BE49-F238E27FC236}">
                <a16:creationId xmlns:a16="http://schemas.microsoft.com/office/drawing/2014/main" xmlns="" id="{F17F6240-0C17-95BC-FFA8-1447182D093D}"/>
              </a:ext>
            </a:extLst>
          </p:cNvPr>
          <p:cNvSpPr>
            <a:spLocks noGrp="1"/>
          </p:cNvSpPr>
          <p:nvPr>
            <p:ph idx="1"/>
          </p:nvPr>
        </p:nvSpPr>
        <p:spPr/>
        <p:txBody>
          <a:bodyPr>
            <a:normAutofit fontScale="85000" lnSpcReduction="20000"/>
          </a:bodyPr>
          <a:lstStyle/>
          <a:p>
            <a:pPr marL="514350" indent="-514350">
              <a:buFont typeface="+mj-lt"/>
              <a:buAutoNum type="arabicPeriod"/>
            </a:pPr>
            <a:r>
              <a:rPr lang="en-US" dirty="0"/>
              <a:t>Get it done now. 									Please prioritize this task for immediate completion.				Could you please prioritize this task for completion.</a:t>
            </a:r>
          </a:p>
          <a:p>
            <a:pPr marL="514350" indent="-514350">
              <a:buFont typeface="+mj-lt"/>
              <a:buAutoNum type="arabicPeriod"/>
            </a:pPr>
            <a:r>
              <a:rPr lang="en-US" dirty="0"/>
              <a:t>Meet the deadline, or you’re fired. 							Meeting the deadline is crucial; let’s discuss any challenges you're facing.</a:t>
            </a:r>
          </a:p>
          <a:p>
            <a:pPr marL="514350" indent="-514350">
              <a:buFont typeface="+mj-lt"/>
              <a:buAutoNum type="arabicPeriod"/>
            </a:pPr>
            <a:r>
              <a:rPr lang="en-US" dirty="0"/>
              <a:t>Your mistake cost us big. 									Let’s review the mistake and implement corrective actions to prevent future errors.</a:t>
            </a:r>
          </a:p>
          <a:p>
            <a:pPr marL="514350" indent="-514350">
              <a:buFont typeface="+mj-lt"/>
              <a:buAutoNum type="arabicPeriod"/>
            </a:pPr>
            <a:r>
              <a:rPr lang="en-US" dirty="0"/>
              <a:t>Fix this error immediately. 									I’d appreciate it if you could resolve this issue as soon as possible.</a:t>
            </a:r>
          </a:p>
          <a:p>
            <a:pPr marL="514350" indent="-514350">
              <a:buFont typeface="+mj-lt"/>
              <a:buAutoNum type="arabicPeriod"/>
            </a:pPr>
            <a:r>
              <a:rPr lang="en-US" dirty="0"/>
              <a:t>Your lack of effort is appalling.									I’d like to discuss ways to improve your performance and meet expectations.</a:t>
            </a:r>
          </a:p>
        </p:txBody>
      </p:sp>
    </p:spTree>
    <p:extLst>
      <p:ext uri="{BB962C8B-B14F-4D97-AF65-F5344CB8AC3E}">
        <p14:creationId xmlns:p14="http://schemas.microsoft.com/office/powerpoint/2010/main" xmlns="" val="300788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E049206-4455-03C5-A325-0F8CCB5A17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B5D550E-9723-7B7F-C148-497841284A68}"/>
              </a:ext>
            </a:extLst>
          </p:cNvPr>
          <p:cNvSpPr>
            <a:spLocks noGrp="1"/>
          </p:cNvSpPr>
          <p:nvPr>
            <p:ph type="title"/>
          </p:nvPr>
        </p:nvSpPr>
        <p:spPr/>
        <p:txBody>
          <a:bodyPr/>
          <a:lstStyle/>
          <a:p>
            <a:pPr algn="ctr"/>
            <a:r>
              <a:rPr lang="en-US" dirty="0"/>
              <a:t>Reframed statements</a:t>
            </a:r>
            <a:endParaRPr lang="en-IN" dirty="0"/>
          </a:p>
        </p:txBody>
      </p:sp>
      <p:sp>
        <p:nvSpPr>
          <p:cNvPr id="3" name="Content Placeholder 2">
            <a:extLst>
              <a:ext uri="{FF2B5EF4-FFF2-40B4-BE49-F238E27FC236}">
                <a16:creationId xmlns:a16="http://schemas.microsoft.com/office/drawing/2014/main" xmlns="" id="{CEE360D1-AF24-A44E-F562-DBF7AFCD48D3}"/>
              </a:ext>
            </a:extLst>
          </p:cNvPr>
          <p:cNvSpPr>
            <a:spLocks noGrp="1"/>
          </p:cNvSpPr>
          <p:nvPr>
            <p:ph idx="1"/>
          </p:nvPr>
        </p:nvSpPr>
        <p:spPr/>
        <p:txBody>
          <a:bodyPr>
            <a:normAutofit fontScale="92500" lnSpcReduction="20000"/>
          </a:bodyPr>
          <a:lstStyle/>
          <a:p>
            <a:pPr marL="0" indent="0">
              <a:buNone/>
            </a:pPr>
            <a:r>
              <a:rPr lang="en-US" dirty="0"/>
              <a:t>6. Shape up or ship out. 								Let’s work together to find a solution to improve productivity.</a:t>
            </a:r>
          </a:p>
          <a:p>
            <a:pPr marL="0" indent="0">
              <a:buNone/>
            </a:pPr>
            <a:r>
              <a:rPr lang="en-US" dirty="0"/>
              <a:t>7. You’re holding us back. 								I’d like to explore ways to optimize our workflow and improve efficiency.</a:t>
            </a:r>
          </a:p>
          <a:p>
            <a:pPr marL="0" indent="0">
              <a:buNone/>
            </a:pPr>
            <a:r>
              <a:rPr lang="en-US" dirty="0"/>
              <a:t>8. Stop wasting time.								Let’s focus on prioritizing tasks to meet our objectives.</a:t>
            </a:r>
          </a:p>
          <a:p>
            <a:pPr marL="0" indent="0">
              <a:buNone/>
            </a:pPr>
            <a:r>
              <a:rPr lang="en-US" dirty="0"/>
              <a:t>9. This is unacceptable. 								I’d like to discuss potential solutions to address this issue.</a:t>
            </a:r>
          </a:p>
          <a:p>
            <a:pPr marL="0" indent="0">
              <a:buNone/>
            </a:pPr>
            <a:r>
              <a:rPr lang="en-US" dirty="0"/>
              <a:t>10. Do your job. 									Let’s review the task requirements and ensure we’re aligned on expectations.</a:t>
            </a:r>
          </a:p>
        </p:txBody>
      </p:sp>
    </p:spTree>
    <p:extLst>
      <p:ext uri="{BB962C8B-B14F-4D97-AF65-F5344CB8AC3E}">
        <p14:creationId xmlns:p14="http://schemas.microsoft.com/office/powerpoint/2010/main" xmlns="" val="37649098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Title 1"/>
          <p:cNvSpPr>
            <a:spLocks noGrp="1"/>
          </p:cNvSpPr>
          <p:nvPr>
            <p:ph type="title"/>
          </p:nvPr>
        </p:nvSpPr>
        <p:spPr/>
        <p:txBody>
          <a:bodyPr/>
          <a:lstStyle/>
          <a:p>
            <a:pPr algn="ctr"/>
            <a:r>
              <a:rPr lang="en-IN" dirty="0"/>
              <a:t>Business Messages </a:t>
            </a:r>
          </a:p>
        </p:txBody>
      </p:sp>
      <p:graphicFrame>
        <p:nvGraphicFramePr>
          <p:cNvPr id="4194304" name="Content Placeholder 5"/>
          <p:cNvGraphicFramePr>
            <a:graphicFrameLocks noGrp="1"/>
          </p:cNvGraphicFramePr>
          <p:nvPr>
            <p:ph idx="1"/>
            <p:extLst>
              <p:ext uri="{D42A27DB-BD31-4B8C-83A1-F6EECF244321}">
                <p14:modId xmlns:p14="http://schemas.microsoft.com/office/powerpoint/2010/main" xmlns="" val="82832199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Business messages: Style</a:t>
            </a:r>
          </a:p>
        </p:txBody>
      </p:sp>
      <p:sp>
        <p:nvSpPr>
          <p:cNvPr id="1048599" name="Content Placeholder 2"/>
          <p:cNvSpPr>
            <a:spLocks noGrp="1"/>
          </p:cNvSpPr>
          <p:nvPr>
            <p:ph idx="1"/>
          </p:nvPr>
        </p:nvSpPr>
        <p:spPr/>
        <p:txBody>
          <a:bodyPr>
            <a:normAutofit/>
          </a:bodyPr>
          <a:lstStyle/>
          <a:p>
            <a:pPr>
              <a:buFont typeface="Wingdings" panose="05000000000000000000" pitchFamily="2" charset="2"/>
              <a:buChar char="v"/>
            </a:pPr>
            <a:r>
              <a:rPr lang="en-US" sz="4000" dirty="0">
                <a:latin typeface="Times New Roman" panose="02020603050405020304" pitchFamily="18" charset="0"/>
                <a:cs typeface="Times New Roman" panose="02020603050405020304" pitchFamily="18" charset="0"/>
              </a:rPr>
              <a:t>The writer’s selection of words, phrases, and sentence types render a certain writing style to a message. </a:t>
            </a:r>
          </a:p>
          <a:p>
            <a:pPr marL="0" indent="0">
              <a:buNone/>
            </a:pPr>
            <a:endParaRPr lang="en-US" sz="4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7" name="Title 1"/>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Business Messages: Tone </a:t>
            </a:r>
          </a:p>
        </p:txBody>
      </p:sp>
      <p:sp>
        <p:nvSpPr>
          <p:cNvPr id="1048638" name="Content Placeholder 2"/>
          <p:cNvSpPr>
            <a:spLocks noGrp="1"/>
          </p:cNvSpPr>
          <p:nvPr>
            <p:ph idx="1"/>
          </p:nvPr>
        </p:nvSpPr>
        <p:spPr/>
        <p:txBody>
          <a:bodyPr>
            <a:normAutofit fontScale="92857"/>
          </a:bodyPr>
          <a:lstStyle/>
          <a:p>
            <a:r>
              <a:rPr lang="en-IN" dirty="0">
                <a:latin typeface="Times New Roman" panose="02020603050405020304" pitchFamily="18" charset="0"/>
                <a:cs typeface="Times New Roman" panose="02020603050405020304" pitchFamily="18" charset="0"/>
              </a:rPr>
              <a:t>What is tone?</a:t>
            </a:r>
          </a:p>
          <a:p>
            <a:r>
              <a:rPr lang="en-IN" dirty="0">
                <a:latin typeface="Times New Roman" panose="02020603050405020304" pitchFamily="18" charset="0"/>
                <a:cs typeface="Times New Roman" panose="02020603050405020304" pitchFamily="18" charset="0"/>
              </a:rPr>
              <a:t>Tone refers to the writer’s intention towards the reader.</a:t>
            </a:r>
          </a:p>
          <a:p>
            <a:pPr marL="0" indent="0">
              <a:buNone/>
            </a:pPr>
            <a:endParaRPr lang="en-IN"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D15D5E-0B35-69A8-8299-9CC044C6F22D}"/>
              </a:ext>
            </a:extLst>
          </p:cNvPr>
          <p:cNvSpPr>
            <a:spLocks noGrp="1"/>
          </p:cNvSpPr>
          <p:nvPr>
            <p:ph type="title"/>
          </p:nvPr>
        </p:nvSpPr>
        <p:spPr/>
        <p:txBody>
          <a:bodyPr/>
          <a:lstStyle/>
          <a:p>
            <a:pPr algn="ctr"/>
            <a:r>
              <a:rPr lang="en-US" dirty="0"/>
              <a:t>Situation-1</a:t>
            </a:r>
            <a:endParaRPr lang="en-IN" dirty="0"/>
          </a:p>
        </p:txBody>
      </p:sp>
      <p:sp>
        <p:nvSpPr>
          <p:cNvPr id="3" name="Content Placeholder 2">
            <a:extLst>
              <a:ext uri="{FF2B5EF4-FFF2-40B4-BE49-F238E27FC236}">
                <a16:creationId xmlns:a16="http://schemas.microsoft.com/office/drawing/2014/main" xmlns="" id="{8D68A77A-2157-F3FF-457B-FA3BDCFFB7EA}"/>
              </a:ext>
            </a:extLst>
          </p:cNvPr>
          <p:cNvSpPr>
            <a:spLocks noGrp="1"/>
          </p:cNvSpPr>
          <p:nvPr>
            <p:ph idx="1"/>
          </p:nvPr>
        </p:nvSpPr>
        <p:spPr/>
        <p:txBody>
          <a:bodyPr/>
          <a:lstStyle/>
          <a:p>
            <a:r>
              <a:rPr lang="en-US" dirty="0"/>
              <a:t>You’ve been handling an extra workload for the last two months, which is affecting your health. Write an application to resolve the issue.</a:t>
            </a:r>
            <a:endParaRPr lang="en-IN" dirty="0"/>
          </a:p>
        </p:txBody>
      </p:sp>
    </p:spTree>
    <p:extLst>
      <p:ext uri="{BB962C8B-B14F-4D97-AF65-F5344CB8AC3E}">
        <p14:creationId xmlns:p14="http://schemas.microsoft.com/office/powerpoint/2010/main" xmlns="" val="8533983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BE45A2-DC35-6172-ABE2-203899B9C931}"/>
              </a:ext>
            </a:extLst>
          </p:cNvPr>
          <p:cNvSpPr>
            <a:spLocks noGrp="1"/>
          </p:cNvSpPr>
          <p:nvPr>
            <p:ph type="title"/>
          </p:nvPr>
        </p:nvSpPr>
        <p:spPr/>
        <p:txBody>
          <a:bodyPr/>
          <a:lstStyle/>
          <a:p>
            <a:pPr algn="ctr"/>
            <a:r>
              <a:rPr lang="en-US" dirty="0"/>
              <a:t>Situation -1</a:t>
            </a:r>
            <a:endParaRPr lang="en-IN" dirty="0"/>
          </a:p>
        </p:txBody>
      </p:sp>
      <p:sp>
        <p:nvSpPr>
          <p:cNvPr id="3" name="Content Placeholder 2">
            <a:extLst>
              <a:ext uri="{FF2B5EF4-FFF2-40B4-BE49-F238E27FC236}">
                <a16:creationId xmlns:a16="http://schemas.microsoft.com/office/drawing/2014/main" xmlns="" id="{70851026-D87D-265D-BB86-FA6477F057DA}"/>
              </a:ext>
            </a:extLst>
          </p:cNvPr>
          <p:cNvSpPr>
            <a:spLocks noGrp="1"/>
          </p:cNvSpPr>
          <p:nvPr>
            <p:ph idx="1"/>
          </p:nvPr>
        </p:nvSpPr>
        <p:spPr/>
        <p:txBody>
          <a:bodyPr>
            <a:normAutofit lnSpcReduction="10000"/>
          </a:bodyPr>
          <a:lstStyle/>
          <a:p>
            <a:pPr marL="0" indent="0">
              <a:buNone/>
            </a:pPr>
            <a:r>
              <a:rPr lang="en-US" dirty="0"/>
              <a:t>Subject: Help with Workload in Data Entry</a:t>
            </a:r>
          </a:p>
          <a:p>
            <a:pPr marL="0" indent="0">
              <a:buNone/>
            </a:pPr>
            <a:endParaRPr lang="en-US" dirty="0"/>
          </a:p>
          <a:p>
            <a:pPr marL="0" indent="0">
              <a:buNone/>
            </a:pPr>
            <a:r>
              <a:rPr lang="en-US" dirty="0"/>
              <a:t>Dear Sir</a:t>
            </a:r>
          </a:p>
          <a:p>
            <a:pPr marL="0" indent="0">
              <a:buNone/>
            </a:pPr>
            <a:r>
              <a:rPr lang="en-US" dirty="0"/>
              <a:t>I wanted to touch base with you about the workload in the Data Entry department. Lately, I've been taking on a bit more than I can handle, especially with training new team members on top of my regular tasks.</a:t>
            </a:r>
          </a:p>
          <a:p>
            <a:pPr marL="0" indent="0">
              <a:buNone/>
            </a:pPr>
            <a:r>
              <a:rPr lang="en-US" dirty="0"/>
              <a:t> It’s been pretty stressful and affecting my productivity. Would it be possible to review the workload distribution and maybe find a way to balance things out a bit better? I’d really appreciate it.</a:t>
            </a:r>
          </a:p>
          <a:p>
            <a:pPr marL="0" indent="0">
              <a:buNone/>
            </a:pPr>
            <a:r>
              <a:rPr lang="en-US" dirty="0"/>
              <a:t>Thanks,</a:t>
            </a:r>
            <a:endParaRPr lang="en-IN" dirty="0"/>
          </a:p>
        </p:txBody>
      </p:sp>
    </p:spTree>
    <p:extLst>
      <p:ext uri="{BB962C8B-B14F-4D97-AF65-F5344CB8AC3E}">
        <p14:creationId xmlns:p14="http://schemas.microsoft.com/office/powerpoint/2010/main" xmlns="" val="13883704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E6A83B-2F65-E172-1CEA-73F2A963306D}"/>
              </a:ext>
            </a:extLst>
          </p:cNvPr>
          <p:cNvSpPr>
            <a:spLocks noGrp="1"/>
          </p:cNvSpPr>
          <p:nvPr>
            <p:ph type="title"/>
          </p:nvPr>
        </p:nvSpPr>
        <p:spPr/>
        <p:txBody>
          <a:bodyPr/>
          <a:lstStyle/>
          <a:p>
            <a:pPr algn="ctr"/>
            <a:r>
              <a:rPr lang="en-US" dirty="0"/>
              <a:t>Revised Version</a:t>
            </a:r>
            <a:endParaRPr lang="en-IN" dirty="0"/>
          </a:p>
        </p:txBody>
      </p:sp>
      <p:sp>
        <p:nvSpPr>
          <p:cNvPr id="3" name="Content Placeholder 2">
            <a:extLst>
              <a:ext uri="{FF2B5EF4-FFF2-40B4-BE49-F238E27FC236}">
                <a16:creationId xmlns:a16="http://schemas.microsoft.com/office/drawing/2014/main" xmlns="" id="{898F4E63-3ECB-6DFC-8343-30FA6D8B98CD}"/>
              </a:ext>
            </a:extLst>
          </p:cNvPr>
          <p:cNvSpPr>
            <a:spLocks noGrp="1"/>
          </p:cNvSpPr>
          <p:nvPr>
            <p:ph idx="1"/>
          </p:nvPr>
        </p:nvSpPr>
        <p:spPr/>
        <p:txBody>
          <a:bodyPr>
            <a:normAutofit fontScale="70000" lnSpcReduction="20000"/>
          </a:bodyPr>
          <a:lstStyle/>
          <a:p>
            <a:pPr marL="0" indent="0">
              <a:buNone/>
            </a:pPr>
            <a:r>
              <a:rPr lang="en-US" dirty="0"/>
              <a:t>Subject: Request for Workload Rebalancing in Data Entry Department</a:t>
            </a:r>
          </a:p>
          <a:p>
            <a:pPr marL="0" indent="0">
              <a:buNone/>
            </a:pPr>
            <a:r>
              <a:rPr lang="en-US" dirty="0"/>
              <a:t>Dear Sir</a:t>
            </a:r>
          </a:p>
          <a:p>
            <a:pPr marL="0" indent="0">
              <a:buNone/>
            </a:pPr>
            <a:r>
              <a:rPr lang="en-US" dirty="0"/>
              <a:t>I am writing to bring to your attention the uneven distribution of workload in the Data Entry department, which has been affecting my productivity and well-being. Over the past two months, I have taken on additional responsibilities, including training freshers to handle data effectively, following the transfer of our previous Head Supervisor.</a:t>
            </a:r>
          </a:p>
          <a:p>
            <a:endParaRPr lang="en-US" dirty="0"/>
          </a:p>
          <a:p>
            <a:pPr marL="0" indent="0">
              <a:buNone/>
            </a:pPr>
            <a:r>
              <a:rPr lang="en-US" dirty="0"/>
              <a:t>While I am committed to supporting the team, the added workload has resulted in significant stress and impacted my ability to complete my core tasks efficiently.</a:t>
            </a:r>
          </a:p>
          <a:p>
            <a:endParaRPr lang="en-US" dirty="0"/>
          </a:p>
          <a:p>
            <a:pPr marL="0" indent="0">
              <a:buNone/>
            </a:pPr>
            <a:r>
              <a:rPr lang="en-US" dirty="0"/>
              <a:t>I kindly request that we review the workload distribution and explore alternatives to alleviate my training responsibilities, ensuring a more balanced and sustainable workload for all team members.</a:t>
            </a:r>
          </a:p>
          <a:p>
            <a:pPr marL="0" indent="0">
              <a:buNone/>
            </a:pPr>
            <a:r>
              <a:rPr lang="en-US" dirty="0"/>
              <a:t>Thank you for considering my request. I look forward to your guidance on this matter.</a:t>
            </a:r>
          </a:p>
          <a:p>
            <a:pPr marL="0" indent="0">
              <a:buNone/>
            </a:pPr>
            <a:r>
              <a:rPr lang="en-US" dirty="0"/>
              <a:t>Best regards,</a:t>
            </a:r>
            <a:endParaRPr lang="en-IN" dirty="0"/>
          </a:p>
        </p:txBody>
      </p:sp>
    </p:spTree>
    <p:extLst>
      <p:ext uri="{BB962C8B-B14F-4D97-AF65-F5344CB8AC3E}">
        <p14:creationId xmlns:p14="http://schemas.microsoft.com/office/powerpoint/2010/main" xmlns="" val="13840991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69B9003-3751-D00D-7B2C-4051B9E74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002B0DC-C67E-51B9-A11F-E51340EFC8D8}"/>
              </a:ext>
            </a:extLst>
          </p:cNvPr>
          <p:cNvSpPr>
            <a:spLocks noGrp="1"/>
          </p:cNvSpPr>
          <p:nvPr>
            <p:ph type="title"/>
          </p:nvPr>
        </p:nvSpPr>
        <p:spPr/>
        <p:txBody>
          <a:bodyPr/>
          <a:lstStyle/>
          <a:p>
            <a:pPr algn="ctr"/>
            <a:r>
              <a:rPr lang="en-US" dirty="0"/>
              <a:t>Revised Version</a:t>
            </a:r>
            <a:endParaRPr lang="en-IN" dirty="0"/>
          </a:p>
        </p:txBody>
      </p:sp>
      <p:sp>
        <p:nvSpPr>
          <p:cNvPr id="3" name="Content Placeholder 2">
            <a:extLst>
              <a:ext uri="{FF2B5EF4-FFF2-40B4-BE49-F238E27FC236}">
                <a16:creationId xmlns:a16="http://schemas.microsoft.com/office/drawing/2014/main" xmlns="" id="{8CF918E1-117A-A114-D208-14182B658CA5}"/>
              </a:ext>
            </a:extLst>
          </p:cNvPr>
          <p:cNvSpPr>
            <a:spLocks noGrp="1"/>
          </p:cNvSpPr>
          <p:nvPr>
            <p:ph idx="1"/>
          </p:nvPr>
        </p:nvSpPr>
        <p:spPr/>
        <p:txBody>
          <a:bodyPr>
            <a:normAutofit fontScale="77500" lnSpcReduction="20000"/>
          </a:bodyPr>
          <a:lstStyle/>
          <a:p>
            <a:pPr marL="0" indent="0">
              <a:buNone/>
            </a:pPr>
            <a:r>
              <a:rPr lang="en-US" dirty="0"/>
              <a:t>Subject: Request for Workload Rebalancing in Data Entry Department</a:t>
            </a:r>
          </a:p>
          <a:p>
            <a:pPr marL="0" indent="0">
              <a:buNone/>
            </a:pPr>
            <a:r>
              <a:rPr lang="en-US" dirty="0"/>
              <a:t>Dear Sir</a:t>
            </a:r>
          </a:p>
          <a:p>
            <a:endParaRPr lang="en-US" dirty="0"/>
          </a:p>
          <a:p>
            <a:pPr marL="0" indent="0">
              <a:buNone/>
            </a:pPr>
            <a:r>
              <a:rPr lang="en-US" dirty="0"/>
              <a:t>I’m writing to highlight the uneven workload distribution in the Data Entry department, which has impacted my productivity and well-being. Due to additional responsibilities, including training new team members, I'm experiencing significant stress and struggling to complete core tasks efficiently.</a:t>
            </a:r>
          </a:p>
          <a:p>
            <a:endParaRPr lang="en-US" dirty="0"/>
          </a:p>
          <a:p>
            <a:pPr marL="0" indent="0">
              <a:buNone/>
            </a:pPr>
            <a:r>
              <a:rPr lang="en-US" dirty="0"/>
              <a:t>I kindly request a review of workload distribution to explore alternatives that can alleviate my training responsibilities and ensure a more balanced workload for all team members.</a:t>
            </a:r>
          </a:p>
          <a:p>
            <a:pPr marL="0" indent="0">
              <a:buNone/>
            </a:pPr>
            <a:r>
              <a:rPr lang="en-US" dirty="0"/>
              <a:t>Thank you for your consideration. I look forward to your guidance.</a:t>
            </a:r>
          </a:p>
          <a:p>
            <a:endParaRPr lang="en-US" dirty="0"/>
          </a:p>
          <a:p>
            <a:pPr marL="0" indent="0">
              <a:buNone/>
            </a:pPr>
            <a:r>
              <a:rPr lang="en-US" dirty="0"/>
              <a:t>Best regards,</a:t>
            </a:r>
            <a:endParaRPr lang="en-IN" dirty="0"/>
          </a:p>
        </p:txBody>
      </p:sp>
    </p:spTree>
    <p:extLst>
      <p:ext uri="{BB962C8B-B14F-4D97-AF65-F5344CB8AC3E}">
        <p14:creationId xmlns:p14="http://schemas.microsoft.com/office/powerpoint/2010/main" xmlns="" val="41573044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Title 1"/>
          <p:cNvSpPr>
            <a:spLocks noGrp="1"/>
          </p:cNvSpPr>
          <p:nvPr>
            <p:ph type="title"/>
          </p:nvPr>
        </p:nvSpPr>
        <p:spPr/>
        <p:txBody>
          <a:bodyPr/>
          <a:lstStyle/>
          <a:p>
            <a:pPr algn="ctr"/>
            <a:r>
              <a:rPr lang="en-IN" dirty="0"/>
              <a:t>Business Messages: 7 Cs </a:t>
            </a:r>
          </a:p>
        </p:txBody>
      </p:sp>
      <p:sp>
        <p:nvSpPr>
          <p:cNvPr id="1048596" name="Content Placeholder 2"/>
          <p:cNvSpPr>
            <a:spLocks noGrp="1"/>
          </p:cNvSpPr>
          <p:nvPr>
            <p:ph idx="1"/>
          </p:nvPr>
        </p:nvSpPr>
        <p:spPr>
          <a:xfrm>
            <a:off x="711558" y="1842085"/>
            <a:ext cx="10515600" cy="4351338"/>
          </a:xfrm>
        </p:spPr>
        <p:txBody>
          <a:bodyPr/>
          <a:lstStyle/>
          <a:p>
            <a:pPr marL="514350" indent="-514350">
              <a:buFont typeface="+mj-lt"/>
              <a:buAutoNum type="arabicPeriod"/>
            </a:pPr>
            <a:r>
              <a:rPr lang="en-IN" dirty="0"/>
              <a:t>Clarity</a:t>
            </a:r>
          </a:p>
          <a:p>
            <a:pPr marL="514350" indent="-514350">
              <a:buFont typeface="+mj-lt"/>
              <a:buAutoNum type="arabicPeriod"/>
            </a:pPr>
            <a:r>
              <a:rPr lang="en-IN" dirty="0"/>
              <a:t>Conciseness</a:t>
            </a:r>
          </a:p>
          <a:p>
            <a:pPr marL="514350" indent="-514350">
              <a:buFont typeface="+mj-lt"/>
              <a:buAutoNum type="arabicPeriod"/>
            </a:pPr>
            <a:r>
              <a:rPr lang="en-IN" dirty="0"/>
              <a:t>Completeness</a:t>
            </a:r>
          </a:p>
          <a:p>
            <a:pPr marL="514350" indent="-514350">
              <a:buFont typeface="+mj-lt"/>
              <a:buAutoNum type="arabicPeriod"/>
            </a:pPr>
            <a:r>
              <a:rPr lang="en-IN" dirty="0"/>
              <a:t>Correctness</a:t>
            </a:r>
          </a:p>
          <a:p>
            <a:pPr marL="514350" indent="-514350">
              <a:buFont typeface="+mj-lt"/>
              <a:buAutoNum type="arabicPeriod"/>
            </a:pPr>
            <a:r>
              <a:rPr lang="en-IN" dirty="0"/>
              <a:t>Consideration</a:t>
            </a:r>
          </a:p>
          <a:p>
            <a:pPr marL="514350" indent="-514350">
              <a:buFont typeface="+mj-lt"/>
              <a:buAutoNum type="arabicPeriod"/>
            </a:pPr>
            <a:r>
              <a:rPr lang="en-IN" dirty="0"/>
              <a:t>Concreteness</a:t>
            </a:r>
          </a:p>
          <a:p>
            <a:pPr marL="514350" indent="-514350">
              <a:buFont typeface="+mj-lt"/>
              <a:buAutoNum type="arabicPeriod"/>
            </a:pPr>
            <a:r>
              <a:rPr lang="en-IN" dirty="0"/>
              <a:t>Cordiality</a:t>
            </a:r>
          </a:p>
          <a:p>
            <a:pPr marL="514350" indent="-514350">
              <a:buFont typeface="+mj-lt"/>
              <a:buAutoNum type="arabicPeriod"/>
            </a:pPr>
            <a:endParaRPr lang="en-IN" dirty="0"/>
          </a:p>
          <a:p>
            <a:endParaRPr lang="en-IN" dirty="0"/>
          </a:p>
          <a:p>
            <a:endParaRPr lang="en-IN"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91A8072-550E-CEA4-2F92-DD2A01681350}"/>
            </a:ext>
          </a:extLst>
        </p:cNvPr>
        <p:cNvGrpSpPr/>
        <p:nvPr/>
      </p:nvGrpSpPr>
      <p:grpSpPr>
        <a:xfrm>
          <a:off x="0" y="0"/>
          <a:ext cx="0" cy="0"/>
          <a:chOff x="0" y="0"/>
          <a:chExt cx="0" cy="0"/>
        </a:xfrm>
      </p:grpSpPr>
      <p:sp>
        <p:nvSpPr>
          <p:cNvPr id="1048600" name="Title 1">
            <a:extLst>
              <a:ext uri="{FF2B5EF4-FFF2-40B4-BE49-F238E27FC236}">
                <a16:creationId xmlns:a16="http://schemas.microsoft.com/office/drawing/2014/main" xmlns="" id="{2AAEC461-7A1F-BA34-436D-E718BA451490}"/>
              </a:ext>
            </a:extLst>
          </p:cNvPr>
          <p:cNvSpPr>
            <a:spLocks noGrp="1"/>
          </p:cNvSpPr>
          <p:nvPr>
            <p:ph type="title"/>
          </p:nvPr>
        </p:nvSpPr>
        <p:spPr>
          <a:xfrm>
            <a:off x="838200" y="365126"/>
            <a:ext cx="10515600" cy="405342"/>
          </a:xfrm>
        </p:spPr>
        <p:txBody>
          <a:bodyPr>
            <a:noAutofit/>
          </a:bodyPr>
          <a:lstStyle/>
          <a:p>
            <a:pPr algn="ctr"/>
            <a:r>
              <a:rPr lang="en-US" sz="4000" dirty="0">
                <a:latin typeface="Times New Roman" panose="02020603050405020304" pitchFamily="18" charset="0"/>
                <a:cs typeface="Times New Roman" panose="02020603050405020304" pitchFamily="18" charset="0"/>
              </a:rPr>
              <a:t>Be Clear</a:t>
            </a:r>
            <a:endParaRPr lang="en-IN" sz="4000" dirty="0">
              <a:latin typeface="Times New Roman" panose="02020603050405020304" pitchFamily="18" charset="0"/>
              <a:cs typeface="Times New Roman" panose="02020603050405020304" pitchFamily="18" charset="0"/>
            </a:endParaRPr>
          </a:p>
        </p:txBody>
      </p:sp>
      <p:sp>
        <p:nvSpPr>
          <p:cNvPr id="1048601" name="Content Placeholder 2">
            <a:extLst>
              <a:ext uri="{FF2B5EF4-FFF2-40B4-BE49-F238E27FC236}">
                <a16:creationId xmlns:a16="http://schemas.microsoft.com/office/drawing/2014/main" xmlns="" id="{5E1D5CB6-0C7F-FB16-3CF1-C9FD3241830E}"/>
              </a:ext>
            </a:extLst>
          </p:cNvPr>
          <p:cNvSpPr>
            <a:spLocks noGrp="1"/>
          </p:cNvSpPr>
          <p:nvPr>
            <p:ph idx="1"/>
          </p:nvPr>
        </p:nvSpPr>
        <p:spPr>
          <a:xfrm>
            <a:off x="143933" y="770468"/>
            <a:ext cx="12048067" cy="6087532"/>
          </a:xfrm>
        </p:spPr>
        <p:txBody>
          <a:bodyPr>
            <a:normAutofit/>
          </a:bodyPr>
          <a:lstStyle/>
          <a:p>
            <a:pPr marL="0" indent="0">
              <a:buNone/>
            </a:pPr>
            <a:r>
              <a:rPr lang="en-IN" b="1" dirty="0">
                <a:latin typeface="Times New Roman" panose="02020603050405020304" pitchFamily="18" charset="0"/>
                <a:ea typeface="Calibri" panose="020F0502020204030204" pitchFamily="34" charset="0"/>
                <a:cs typeface="Times New Roman" panose="02020603050405020304" pitchFamily="18" charset="0"/>
              </a:rPr>
              <a:t>For effective technical communication, words should be impactful, plain, familiar, and comprehensible to the receiver. Let us look at a few examples:</a:t>
            </a:r>
          </a:p>
          <a:p>
            <a:pPr marL="514350" indent="-514350">
              <a:buAutoNum type="arabicPeriod"/>
            </a:pP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marL="514350" indent="-514350">
              <a:buAutoNum type="arabicPeriod"/>
            </a:pP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marL="514350" indent="-514350">
              <a:buAutoNum type="arabicPeriod"/>
            </a:pPr>
            <a:r>
              <a:rPr lang="en-IN" b="1" dirty="0">
                <a:latin typeface="Times New Roman" panose="02020603050405020304" pitchFamily="18" charset="0"/>
                <a:ea typeface="Calibri" panose="020F0502020204030204" pitchFamily="34" charset="0"/>
                <a:cs typeface="Times New Roman" panose="02020603050405020304" pitchFamily="18" charset="0"/>
              </a:rPr>
              <a:t>Use plain and familiar words</a:t>
            </a:r>
            <a:r>
              <a:rPr lang="en-US" dirty="0">
                <a:latin typeface="Times New Roman" panose="02020603050405020304" pitchFamily="18" charset="0"/>
                <a:cs typeface="Times New Roman" panose="02020603050405020304" pitchFamily="18" charset="0"/>
              </a:rPr>
              <a:t> </a:t>
            </a:r>
          </a:p>
          <a:p>
            <a:pPr marL="514350" indent="-514350">
              <a:buAutoNum type="arabicPeriod"/>
            </a:pPr>
            <a:endParaRPr lang="en-US" dirty="0">
              <a:latin typeface="Times New Roman" panose="02020603050405020304" pitchFamily="18" charset="0"/>
              <a:cs typeface="Times New Roman" panose="02020603050405020304" pitchFamily="18" charset="0"/>
            </a:endParaRPr>
          </a:p>
          <a:p>
            <a:pPr marL="514350" indent="-514350">
              <a:buAutoNum type="alphaLcPeriod"/>
            </a:pPr>
            <a:r>
              <a:rPr lang="en-US" dirty="0">
                <a:latin typeface="Times New Roman" panose="02020603050405020304" pitchFamily="18" charset="0"/>
                <a:cs typeface="Times New Roman" panose="02020603050405020304" pitchFamily="18" charset="0"/>
              </a:rPr>
              <a:t>The executive officer provides the </a:t>
            </a:r>
            <a:r>
              <a:rPr lang="en-US" i="1" dirty="0">
                <a:latin typeface="Times New Roman" panose="02020603050405020304" pitchFamily="18" charset="0"/>
                <a:cs typeface="Times New Roman" panose="02020603050405020304" pitchFamily="18" charset="0"/>
              </a:rPr>
              <a:t>exiguous</a:t>
            </a:r>
            <a:r>
              <a:rPr lang="en-US" dirty="0">
                <a:latin typeface="Times New Roman" panose="02020603050405020304" pitchFamily="18" charset="0"/>
                <a:cs typeface="Times New Roman" panose="02020603050405020304" pitchFamily="18" charset="0"/>
              </a:rPr>
              <a:t> meeting details, so the boss reprimands the executive officer.</a:t>
            </a:r>
          </a:p>
          <a:p>
            <a:pPr marL="514350" indent="-514350">
              <a:buAutoNum type="alphaLcPeriod"/>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Revised</a:t>
            </a:r>
            <a:r>
              <a:rPr lang="en-US" dirty="0">
                <a:latin typeface="Times New Roman" panose="02020603050405020304" pitchFamily="18" charset="0"/>
                <a:cs typeface="Times New Roman" panose="02020603050405020304" pitchFamily="18" charset="0"/>
              </a:rPr>
              <a:t>: The executive officer provided inadequate/insufficient meeting details, and the boss scolded the executive officer.</a:t>
            </a:r>
          </a:p>
          <a:p>
            <a:pPr marL="0" indent="0">
              <a:buNone/>
            </a:pPr>
            <a:endParaRPr lang="en-IN" dirty="0"/>
          </a:p>
        </p:txBody>
      </p:sp>
    </p:spTree>
    <p:extLst>
      <p:ext uri="{BB962C8B-B14F-4D97-AF65-F5344CB8AC3E}">
        <p14:creationId xmlns:p14="http://schemas.microsoft.com/office/powerpoint/2010/main" xmlns="" val="7431680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itle 1"/>
          <p:cNvSpPr>
            <a:spLocks noGrp="1"/>
          </p:cNvSpPr>
          <p:nvPr>
            <p:ph type="title"/>
          </p:nvPr>
        </p:nvSpPr>
        <p:spPr>
          <a:xfrm>
            <a:off x="838200" y="365126"/>
            <a:ext cx="10515600" cy="405342"/>
          </a:xfrm>
        </p:spPr>
        <p:txBody>
          <a:bodyPr>
            <a:noAutofit/>
          </a:bodyPr>
          <a:lstStyle/>
          <a:p>
            <a:pPr algn="ctr"/>
            <a:r>
              <a:rPr lang="en-US" sz="4000" dirty="0">
                <a:latin typeface="Times New Roman" panose="02020603050405020304" pitchFamily="18" charset="0"/>
                <a:cs typeface="Times New Roman" panose="02020603050405020304" pitchFamily="18" charset="0"/>
              </a:rPr>
              <a:t>Be Clear</a:t>
            </a:r>
            <a:endParaRPr lang="en-IN" sz="4000" dirty="0">
              <a:latin typeface="Times New Roman" panose="02020603050405020304" pitchFamily="18" charset="0"/>
              <a:cs typeface="Times New Roman" panose="02020603050405020304" pitchFamily="18" charset="0"/>
            </a:endParaRPr>
          </a:p>
        </p:txBody>
      </p:sp>
      <p:sp>
        <p:nvSpPr>
          <p:cNvPr id="1048601" name="Content Placeholder 2"/>
          <p:cNvSpPr>
            <a:spLocks noGrp="1"/>
          </p:cNvSpPr>
          <p:nvPr>
            <p:ph idx="1"/>
          </p:nvPr>
        </p:nvSpPr>
        <p:spPr>
          <a:xfrm>
            <a:off x="143933" y="770468"/>
            <a:ext cx="12048067" cy="6087532"/>
          </a:xfrm>
        </p:spPr>
        <p:txBody>
          <a:bodyPr>
            <a:normAutofit/>
          </a:bodyPr>
          <a:lstStyle/>
          <a:p>
            <a:pPr marL="0" indent="0">
              <a:buNone/>
            </a:pPr>
            <a:r>
              <a:rPr lang="en-IN" b="1" dirty="0">
                <a:latin typeface="Times New Roman" panose="02020603050405020304" pitchFamily="18" charset="0"/>
                <a:ea typeface="Calibri" panose="020F0502020204030204" pitchFamily="34" charset="0"/>
                <a:cs typeface="Times New Roman" panose="02020603050405020304" pitchFamily="18" charset="0"/>
              </a:rPr>
              <a:t>For effective technical communication, words should be impactful, plain, familiar, and comprehensible to the receiver. Let us look at a few examples:</a:t>
            </a:r>
          </a:p>
          <a:p>
            <a:pPr marL="0" indent="0">
              <a:buNone/>
            </a:pPr>
            <a:r>
              <a:rPr lang="en-US" b="1" i="1" dirty="0">
                <a:latin typeface="Times New Roman" panose="02020603050405020304" pitchFamily="18" charset="0"/>
                <a:cs typeface="Times New Roman" panose="02020603050405020304" pitchFamily="18" charset="0"/>
              </a:rPr>
              <a:t>2. Antiquated </a:t>
            </a:r>
            <a:r>
              <a:rPr lang="en-US" dirty="0">
                <a:latin typeface="Times New Roman" panose="02020603050405020304" pitchFamily="18" charset="0"/>
                <a:cs typeface="Times New Roman" panose="02020603050405020304" pitchFamily="18" charset="0"/>
              </a:rPr>
              <a:t>machinery is </a:t>
            </a:r>
            <a:r>
              <a:rPr lang="en-US" b="1" i="1" dirty="0" err="1">
                <a:latin typeface="Times New Roman" panose="02020603050405020304" pitchFamily="18" charset="0"/>
                <a:cs typeface="Times New Roman" panose="02020603050405020304" pitchFamily="18" charset="0"/>
              </a:rPr>
              <a:t>utilised</a:t>
            </a:r>
            <a:r>
              <a:rPr lang="en-US" dirty="0">
                <a:latin typeface="Times New Roman" panose="02020603050405020304" pitchFamily="18" charset="0"/>
                <a:cs typeface="Times New Roman" panose="02020603050405020304" pitchFamily="18" charset="0"/>
              </a:rPr>
              <a:t> for experimentation.</a:t>
            </a:r>
          </a:p>
          <a:p>
            <a:r>
              <a:rPr lang="en-US" dirty="0">
                <a:latin typeface="Times New Roman" panose="02020603050405020304" pitchFamily="18" charset="0"/>
                <a:cs typeface="Times New Roman" panose="02020603050405020304" pitchFamily="18" charset="0"/>
              </a:rPr>
              <a:t>Revised: Old machinery is used for experimentation.</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r>
              <a:rPr lang="en-US" b="1" dirty="0"/>
              <a:t>3.</a:t>
            </a:r>
            <a:r>
              <a:rPr lang="en-US" dirty="0"/>
              <a:t> </a:t>
            </a:r>
            <a:r>
              <a:rPr lang="en-US" i="1" dirty="0"/>
              <a:t>In lieu of </a:t>
            </a:r>
            <a:r>
              <a:rPr lang="en-US" dirty="0"/>
              <a:t>commencing our project, we need to consolidate our goals and intents beforehand.</a:t>
            </a:r>
          </a:p>
          <a:p>
            <a:pPr marL="0" indent="0">
              <a:buNone/>
            </a:pPr>
            <a:r>
              <a:rPr lang="en-US" dirty="0"/>
              <a:t> </a:t>
            </a:r>
            <a:r>
              <a:rPr lang="en-US" b="1" dirty="0"/>
              <a:t>Revised</a:t>
            </a:r>
            <a:r>
              <a:rPr lang="en-US" dirty="0"/>
              <a:t>: We need to delay the project because we have to discuss our goals first.</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1000"/>
                                  </p:stCondLst>
                                  <p:childTnLst>
                                    <p:set>
                                      <p:cBhvr>
                                        <p:cTn id="6" dur="1" fill="hold">
                                          <p:stCondLst>
                                            <p:cond delay="0"/>
                                          </p:stCondLst>
                                        </p:cTn>
                                        <p:tgtEl>
                                          <p:spTgt spid="1048601">
                                            <p:txEl>
                                              <p:pRg st="2" end="2"/>
                                            </p:txEl>
                                          </p:spTgt>
                                        </p:tgtEl>
                                        <p:attrNameLst>
                                          <p:attrName>style.visibility</p:attrName>
                                        </p:attrNameLst>
                                      </p:cBhvr>
                                      <p:to>
                                        <p:strVal val="visible"/>
                                      </p:to>
                                    </p:set>
                                    <p:anim calcmode="lin" valueType="num">
                                      <p:cBhvr additive="base">
                                        <p:cTn id="7" dur="2500" fill="hold"/>
                                        <p:tgtEl>
                                          <p:spTgt spid="1048601">
                                            <p:txEl>
                                              <p:pRg st="2" end="2"/>
                                            </p:txEl>
                                          </p:spTgt>
                                        </p:tgtEl>
                                        <p:attrNameLst>
                                          <p:attrName>ppt_x</p:attrName>
                                        </p:attrNameLst>
                                      </p:cBhvr>
                                      <p:tavLst>
                                        <p:tav tm="0">
                                          <p:val>
                                            <p:strVal val="#ppt_x"/>
                                          </p:val>
                                        </p:tav>
                                        <p:tav tm="100000">
                                          <p:val>
                                            <p:strVal val="#ppt_x"/>
                                          </p:val>
                                        </p:tav>
                                      </p:tavLst>
                                    </p:anim>
                                    <p:anim calcmode="lin" valueType="num">
                                      <p:cBhvr additive="base">
                                        <p:cTn id="8" dur="2500" fill="hold"/>
                                        <p:tgtEl>
                                          <p:spTgt spid="1048601">
                                            <p:txEl>
                                              <p:pRg st="2" end="2"/>
                                            </p:txEl>
                                          </p:spTgt>
                                        </p:tgtEl>
                                        <p:attrNameLst>
                                          <p:attrName>ppt_y</p:attrName>
                                        </p:attrNameLst>
                                      </p:cBhvr>
                                      <p:tavLst>
                                        <p:tav tm="0">
                                          <p:val>
                                            <p:strVal val="1+#ppt_h/2"/>
                                          </p:val>
                                        </p:tav>
                                        <p:tav tm="100000">
                                          <p:val>
                                            <p:strVal val="#ppt_y"/>
                                          </p:val>
                                        </p:tav>
                                      </p:tavLst>
                                    </p:anim>
                                  </p:childTnLst>
                                </p:cTn>
                              </p:par>
                            </p:childTnLst>
                          </p:cTn>
                        </p:par>
                        <p:par>
                          <p:cTn id="9" fill="hold">
                            <p:stCondLst>
                              <p:cond delay="3500"/>
                            </p:stCondLst>
                            <p:childTnLst>
                              <p:par>
                                <p:cTn id="10" presetID="2" presetClass="entr" presetSubtype="4" fill="hold" nodeType="afterEffect">
                                  <p:stCondLst>
                                    <p:cond delay="1000"/>
                                  </p:stCondLst>
                                  <p:childTnLst>
                                    <p:set>
                                      <p:cBhvr>
                                        <p:cTn id="11" dur="1" fill="hold">
                                          <p:stCondLst>
                                            <p:cond delay="0"/>
                                          </p:stCondLst>
                                        </p:cTn>
                                        <p:tgtEl>
                                          <p:spTgt spid="1048601">
                                            <p:txEl>
                                              <p:pRg st="6" end="6"/>
                                            </p:txEl>
                                          </p:spTgt>
                                        </p:tgtEl>
                                        <p:attrNameLst>
                                          <p:attrName>style.visibility</p:attrName>
                                        </p:attrNameLst>
                                      </p:cBhvr>
                                      <p:to>
                                        <p:strVal val="visible"/>
                                      </p:to>
                                    </p:set>
                                    <p:anim calcmode="lin" valueType="num">
                                      <p:cBhvr additive="base">
                                        <p:cTn id="12" dur="2500" fill="hold"/>
                                        <p:tgtEl>
                                          <p:spTgt spid="1048601">
                                            <p:txEl>
                                              <p:pRg st="6" end="6"/>
                                            </p:txEl>
                                          </p:spTgt>
                                        </p:tgtEl>
                                        <p:attrNameLst>
                                          <p:attrName>ppt_x</p:attrName>
                                        </p:attrNameLst>
                                      </p:cBhvr>
                                      <p:tavLst>
                                        <p:tav tm="0">
                                          <p:val>
                                            <p:strVal val="#ppt_x"/>
                                          </p:val>
                                        </p:tav>
                                        <p:tav tm="100000">
                                          <p:val>
                                            <p:strVal val="#ppt_x"/>
                                          </p:val>
                                        </p:tav>
                                      </p:tavLst>
                                    </p:anim>
                                    <p:anim calcmode="lin" valueType="num">
                                      <p:cBhvr additive="base">
                                        <p:cTn id="13" dur="2500" fill="hold"/>
                                        <p:tgtEl>
                                          <p:spTgt spid="1048601">
                                            <p:txEl>
                                              <p:pRg st="6" end="6"/>
                                            </p:txEl>
                                          </p:spTgt>
                                        </p:tgtEl>
                                        <p:attrNameLst>
                                          <p:attrName>ppt_y</p:attrName>
                                        </p:attrNameLst>
                                      </p:cBhvr>
                                      <p:tavLst>
                                        <p:tav tm="0">
                                          <p:val>
                                            <p:strVal val="1+#ppt_h/2"/>
                                          </p:val>
                                        </p:tav>
                                        <p:tav tm="100000">
                                          <p:val>
                                            <p:strVal val="#ppt_y"/>
                                          </p:val>
                                        </p:tav>
                                      </p:tavLst>
                                    </p:anim>
                                  </p:childTnLst>
                                </p:cTn>
                              </p:par>
                            </p:childTnLst>
                          </p:cTn>
                        </p:par>
                        <p:par>
                          <p:cTn id="14" fill="hold">
                            <p:stCondLst>
                              <p:cond delay="7000"/>
                            </p:stCondLst>
                            <p:childTnLst>
                              <p:par>
                                <p:cTn id="15" presetID="2" presetClass="entr" presetSubtype="4" fill="hold" nodeType="afterEffect">
                                  <p:stCondLst>
                                    <p:cond delay="1000"/>
                                  </p:stCondLst>
                                  <p:childTnLst>
                                    <p:set>
                                      <p:cBhvr>
                                        <p:cTn id="16" dur="1" fill="hold">
                                          <p:stCondLst>
                                            <p:cond delay="0"/>
                                          </p:stCondLst>
                                        </p:cTn>
                                        <p:tgtEl>
                                          <p:spTgt spid="1048601">
                                            <p:txEl>
                                              <p:pRg st="5" end="5"/>
                                            </p:txEl>
                                          </p:spTgt>
                                        </p:tgtEl>
                                        <p:attrNameLst>
                                          <p:attrName>style.visibility</p:attrName>
                                        </p:attrNameLst>
                                      </p:cBhvr>
                                      <p:to>
                                        <p:strVal val="visible"/>
                                      </p:to>
                                    </p:set>
                                    <p:anim calcmode="lin" valueType="num">
                                      <p:cBhvr additive="base">
                                        <p:cTn id="17" dur="2500" fill="hold"/>
                                        <p:tgtEl>
                                          <p:spTgt spid="1048601">
                                            <p:txEl>
                                              <p:pRg st="5" end="5"/>
                                            </p:txEl>
                                          </p:spTgt>
                                        </p:tgtEl>
                                        <p:attrNameLst>
                                          <p:attrName>ppt_x</p:attrName>
                                        </p:attrNameLst>
                                      </p:cBhvr>
                                      <p:tavLst>
                                        <p:tav tm="0">
                                          <p:val>
                                            <p:strVal val="#ppt_x"/>
                                          </p:val>
                                        </p:tav>
                                        <p:tav tm="100000">
                                          <p:val>
                                            <p:strVal val="#ppt_x"/>
                                          </p:val>
                                        </p:tav>
                                      </p:tavLst>
                                    </p:anim>
                                    <p:anim calcmode="lin" valueType="num">
                                      <p:cBhvr additive="base">
                                        <p:cTn id="18" dur="2500" fill="hold"/>
                                        <p:tgtEl>
                                          <p:spTgt spid="104860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BB37F1-ABE0-08FF-3774-F210BC185A1C}"/>
              </a:ext>
            </a:extLst>
          </p:cNvPr>
          <p:cNvSpPr>
            <a:spLocks noGrp="1"/>
          </p:cNvSpPr>
          <p:nvPr>
            <p:ph type="title"/>
          </p:nvPr>
        </p:nvSpPr>
        <p:spPr/>
        <p:txBody>
          <a:bodyPr/>
          <a:lstStyle/>
          <a:p>
            <a:pPr algn="ctr"/>
            <a:r>
              <a:rPr lang="en-US" dirty="0"/>
              <a:t>Use simple words</a:t>
            </a:r>
            <a:endParaRPr lang="en-IN" dirty="0"/>
          </a:p>
        </p:txBody>
      </p:sp>
      <p:sp>
        <p:nvSpPr>
          <p:cNvPr id="3" name="Content Placeholder 2">
            <a:extLst>
              <a:ext uri="{FF2B5EF4-FFF2-40B4-BE49-F238E27FC236}">
                <a16:creationId xmlns:a16="http://schemas.microsoft.com/office/drawing/2014/main" xmlns="" id="{62DE5686-21B1-8B9E-5A1C-C79DE358B9B8}"/>
              </a:ext>
            </a:extLst>
          </p:cNvPr>
          <p:cNvSpPr>
            <a:spLocks noGrp="1"/>
          </p:cNvSpPr>
          <p:nvPr>
            <p:ph idx="1"/>
          </p:nvPr>
        </p:nvSpPr>
        <p:spPr/>
        <p:txBody>
          <a:bodyPr/>
          <a:lstStyle/>
          <a:p>
            <a:pPr marL="514350" lvl="0" indent="-514350">
              <a:buAutoNum type="arabicPeriod"/>
            </a:pPr>
            <a:r>
              <a:rPr lang="en-IN" dirty="0"/>
              <a:t>Company operations for the preceding accounting period terminated with a substantial deficit.</a:t>
            </a:r>
          </a:p>
          <a:p>
            <a:pPr marL="514350" lvl="0" indent="-514350">
              <a:buAutoNum type="arabicPeriod"/>
            </a:pPr>
            <a:endParaRPr lang="en-IN" dirty="0"/>
          </a:p>
          <a:p>
            <a:pPr marL="514350" lvl="0" indent="-514350">
              <a:buAutoNum type="arabicPeriod"/>
            </a:pPr>
            <a:endParaRPr lang="en-IN" dirty="0"/>
          </a:p>
          <a:p>
            <a:pPr marL="0" lvl="0" indent="0">
              <a:buNone/>
            </a:pPr>
            <a:r>
              <a:rPr lang="en-IN" dirty="0"/>
              <a:t>Revised</a:t>
            </a:r>
            <a:r>
              <a:rPr lang="en-IN" b="1" i="1" dirty="0"/>
              <a:t>: </a:t>
            </a:r>
            <a:r>
              <a:rPr lang="en-IN" dirty="0"/>
              <a:t>The Company </a:t>
            </a:r>
            <a:r>
              <a:rPr lang="en-IN" b="1" i="1" dirty="0"/>
              <a:t>faced a loss last year</a:t>
            </a:r>
            <a:r>
              <a:rPr lang="en-IN" dirty="0"/>
              <a:t>.</a:t>
            </a:r>
          </a:p>
          <a:p>
            <a:endParaRPr lang="en-IN" dirty="0"/>
          </a:p>
        </p:txBody>
      </p:sp>
    </p:spTree>
    <p:extLst>
      <p:ext uri="{BB962C8B-B14F-4D97-AF65-F5344CB8AC3E}">
        <p14:creationId xmlns:p14="http://schemas.microsoft.com/office/powerpoint/2010/main" xmlns="" val="1413646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EEA68A-D084-9E4C-C7F4-C903E1B3340A}"/>
              </a:ext>
            </a:extLst>
          </p:cNvPr>
          <p:cNvSpPr>
            <a:spLocks noGrp="1"/>
          </p:cNvSpPr>
          <p:nvPr>
            <p:ph type="title"/>
          </p:nvPr>
        </p:nvSpPr>
        <p:spPr/>
        <p:txBody>
          <a:bodyPr/>
          <a:lstStyle/>
          <a:p>
            <a:pPr algn="ctr"/>
            <a:r>
              <a:rPr lang="en-US" dirty="0"/>
              <a:t>Use Simple Words</a:t>
            </a:r>
            <a:endParaRPr lang="en-IN" dirty="0"/>
          </a:p>
        </p:txBody>
      </p:sp>
      <p:graphicFrame>
        <p:nvGraphicFramePr>
          <p:cNvPr id="4" name="Content Placeholder 3">
            <a:extLst>
              <a:ext uri="{FF2B5EF4-FFF2-40B4-BE49-F238E27FC236}">
                <a16:creationId xmlns:a16="http://schemas.microsoft.com/office/drawing/2014/main" xmlns="" id="{C0CA03EB-4B40-7D46-D953-951AF3A422E4}"/>
              </a:ext>
            </a:extLst>
          </p:cNvPr>
          <p:cNvGraphicFramePr>
            <a:graphicFrameLocks noGrp="1"/>
          </p:cNvGraphicFramePr>
          <p:nvPr>
            <p:ph idx="1"/>
            <p:extLst>
              <p:ext uri="{D42A27DB-BD31-4B8C-83A1-F6EECF244321}">
                <p14:modId xmlns:p14="http://schemas.microsoft.com/office/powerpoint/2010/main" xmlns="" val="3058902587"/>
              </p:ext>
            </p:extLst>
          </p:nvPr>
        </p:nvGraphicFramePr>
        <p:xfrm>
          <a:off x="3098800" y="1780974"/>
          <a:ext cx="6781800" cy="4440640"/>
        </p:xfrm>
        <a:graphic>
          <a:graphicData uri="http://schemas.openxmlformats.org/drawingml/2006/table">
            <a:tbl>
              <a:tblPr>
                <a:tableStyleId>{69C7853C-536D-4A76-A0AE-DD22124D55A5}</a:tableStyleId>
              </a:tblPr>
              <a:tblGrid>
                <a:gridCol w="3832850">
                  <a:extLst>
                    <a:ext uri="{9D8B030D-6E8A-4147-A177-3AD203B41FA5}">
                      <a16:colId xmlns:a16="http://schemas.microsoft.com/office/drawing/2014/main" xmlns="" val="1841611216"/>
                    </a:ext>
                  </a:extLst>
                </a:gridCol>
                <a:gridCol w="2948950">
                  <a:extLst>
                    <a:ext uri="{9D8B030D-6E8A-4147-A177-3AD203B41FA5}">
                      <a16:colId xmlns:a16="http://schemas.microsoft.com/office/drawing/2014/main" xmlns="" val="3709285223"/>
                    </a:ext>
                  </a:extLst>
                </a:gridCol>
              </a:tblGrid>
              <a:tr h="217567">
                <a:tc>
                  <a:txBody>
                    <a:bodyPr/>
                    <a:lstStyle/>
                    <a:p>
                      <a:pPr algn="ctr" latinLnBrk="0"/>
                      <a:r>
                        <a:rPr lang="en-IN" sz="1100" dirty="0">
                          <a:effectLst/>
                          <a:highlight>
                            <a:srgbClr val="F9F5FF"/>
                          </a:highlight>
                        </a:rPr>
                        <a:t> Instead of: </a:t>
                      </a:r>
                      <a:endParaRPr lang="en-IN" sz="1100" dirty="0">
                        <a:solidFill>
                          <a:schemeClr val="bg1"/>
                        </a:solidFill>
                        <a:effectLst/>
                        <a:highlight>
                          <a:srgbClr val="F9F5FF"/>
                        </a:highlight>
                      </a:endParaRPr>
                    </a:p>
                  </a:txBody>
                  <a:tcPr marL="54392" marR="54392" marT="27196" marB="27196" anchor="ctr"/>
                </a:tc>
                <a:tc>
                  <a:txBody>
                    <a:bodyPr/>
                    <a:lstStyle/>
                    <a:p>
                      <a:pPr algn="ctr" latinLnBrk="0"/>
                      <a:r>
                        <a:rPr lang="en-IN" sz="1100" dirty="0">
                          <a:effectLst/>
                          <a:highlight>
                            <a:srgbClr val="F9F5FF"/>
                          </a:highlight>
                        </a:rPr>
                        <a:t>✔️ Use:</a:t>
                      </a:r>
                      <a:endParaRPr lang="en-IN" sz="1100" dirty="0">
                        <a:solidFill>
                          <a:schemeClr val="bg1"/>
                        </a:solidFill>
                        <a:effectLst/>
                        <a:highlight>
                          <a:srgbClr val="F9F5FF"/>
                        </a:highlight>
                      </a:endParaRPr>
                    </a:p>
                  </a:txBody>
                  <a:tcPr marL="54392" marR="54392" marT="27196" marB="27196" anchor="ctr"/>
                </a:tc>
                <a:extLst>
                  <a:ext uri="{0D108BD9-81ED-4DB2-BD59-A6C34878D82A}">
                    <a16:rowId xmlns:a16="http://schemas.microsoft.com/office/drawing/2014/main" xmlns="" val="2672353798"/>
                  </a:ext>
                </a:extLst>
              </a:tr>
              <a:tr h="217567">
                <a:tc>
                  <a:txBody>
                    <a:bodyPr/>
                    <a:lstStyle/>
                    <a:p>
                      <a:pPr algn="ctr" latinLnBrk="0"/>
                      <a:r>
                        <a:rPr lang="en-IN" sz="1100" dirty="0">
                          <a:effectLst/>
                          <a:highlight>
                            <a:srgbClr val="FFFFFF"/>
                          </a:highlight>
                        </a:rPr>
                        <a:t>Deem</a:t>
                      </a:r>
                      <a:endParaRPr lang="en-IN" sz="1100" dirty="0">
                        <a:solidFill>
                          <a:schemeClr val="bg1"/>
                        </a:solidFill>
                        <a:effectLst/>
                        <a:highlight>
                          <a:srgbClr val="FFFFFF"/>
                        </a:highlight>
                      </a:endParaRPr>
                    </a:p>
                  </a:txBody>
                  <a:tcPr marL="54392" marR="54392" marT="27196" marB="27196" anchor="ctr"/>
                </a:tc>
                <a:tc>
                  <a:txBody>
                    <a:bodyPr/>
                    <a:lstStyle/>
                    <a:p>
                      <a:pPr algn="ctr" latinLnBrk="0"/>
                      <a:r>
                        <a:rPr lang="en-IN" sz="1100" dirty="0">
                          <a:effectLst/>
                          <a:highlight>
                            <a:srgbClr val="FFFFFF"/>
                          </a:highlight>
                        </a:rPr>
                        <a:t>Believe</a:t>
                      </a:r>
                      <a:endParaRPr lang="en-IN" sz="1100" dirty="0">
                        <a:solidFill>
                          <a:schemeClr val="bg1"/>
                        </a:solidFill>
                        <a:effectLst/>
                        <a:highlight>
                          <a:srgbClr val="FFFFFF"/>
                        </a:highlight>
                      </a:endParaRPr>
                    </a:p>
                  </a:txBody>
                  <a:tcPr marL="54392" marR="54392" marT="27196" marB="27196" anchor="ctr"/>
                </a:tc>
                <a:extLst>
                  <a:ext uri="{0D108BD9-81ED-4DB2-BD59-A6C34878D82A}">
                    <a16:rowId xmlns:a16="http://schemas.microsoft.com/office/drawing/2014/main" xmlns="" val="3622759116"/>
                  </a:ext>
                </a:extLst>
              </a:tr>
              <a:tr h="217567">
                <a:tc>
                  <a:txBody>
                    <a:bodyPr/>
                    <a:lstStyle/>
                    <a:p>
                      <a:pPr algn="ctr" latinLnBrk="0"/>
                      <a:r>
                        <a:rPr lang="en-IN" sz="1100" dirty="0">
                          <a:effectLst/>
                          <a:highlight>
                            <a:srgbClr val="FFFFFF"/>
                          </a:highlight>
                        </a:rPr>
                        <a:t>Encounter</a:t>
                      </a:r>
                      <a:endParaRPr lang="en-IN" sz="1100" dirty="0">
                        <a:solidFill>
                          <a:schemeClr val="bg1"/>
                        </a:solidFill>
                        <a:effectLst/>
                        <a:highlight>
                          <a:srgbClr val="FFFFFF"/>
                        </a:highlight>
                      </a:endParaRPr>
                    </a:p>
                  </a:txBody>
                  <a:tcPr marL="54392" marR="54392" marT="27196" marB="27196" anchor="ctr"/>
                </a:tc>
                <a:tc>
                  <a:txBody>
                    <a:bodyPr/>
                    <a:lstStyle/>
                    <a:p>
                      <a:pPr algn="ctr" latinLnBrk="0"/>
                      <a:r>
                        <a:rPr lang="en-IN" sz="1100" dirty="0">
                          <a:effectLst/>
                          <a:highlight>
                            <a:srgbClr val="FFFFFF"/>
                          </a:highlight>
                        </a:rPr>
                        <a:t>Meet</a:t>
                      </a:r>
                      <a:endParaRPr lang="en-IN" sz="1100" dirty="0">
                        <a:solidFill>
                          <a:schemeClr val="bg1"/>
                        </a:solidFill>
                        <a:effectLst/>
                        <a:highlight>
                          <a:srgbClr val="FFFFFF"/>
                        </a:highlight>
                      </a:endParaRPr>
                    </a:p>
                  </a:txBody>
                  <a:tcPr marL="54392" marR="54392" marT="27196" marB="27196" anchor="ctr"/>
                </a:tc>
                <a:extLst>
                  <a:ext uri="{0D108BD9-81ED-4DB2-BD59-A6C34878D82A}">
                    <a16:rowId xmlns:a16="http://schemas.microsoft.com/office/drawing/2014/main" xmlns="" val="3188924252"/>
                  </a:ext>
                </a:extLst>
              </a:tr>
              <a:tr h="217567">
                <a:tc>
                  <a:txBody>
                    <a:bodyPr/>
                    <a:lstStyle/>
                    <a:p>
                      <a:pPr algn="ctr" latinLnBrk="0"/>
                      <a:r>
                        <a:rPr lang="en-IN" sz="1100" dirty="0">
                          <a:effectLst/>
                          <a:highlight>
                            <a:srgbClr val="FFFFFF"/>
                          </a:highlight>
                        </a:rPr>
                        <a:t>Equitable</a:t>
                      </a:r>
                      <a:endParaRPr lang="en-IN" sz="1100" dirty="0">
                        <a:solidFill>
                          <a:schemeClr val="bg1"/>
                        </a:solidFill>
                        <a:effectLst/>
                        <a:highlight>
                          <a:srgbClr val="FFFFFF"/>
                        </a:highlight>
                      </a:endParaRPr>
                    </a:p>
                  </a:txBody>
                  <a:tcPr marL="54392" marR="54392" marT="27196" marB="27196" anchor="ctr"/>
                </a:tc>
                <a:tc>
                  <a:txBody>
                    <a:bodyPr/>
                    <a:lstStyle/>
                    <a:p>
                      <a:pPr algn="ctr" latinLnBrk="0"/>
                      <a:r>
                        <a:rPr lang="en-IN" sz="1100" dirty="0">
                          <a:effectLst/>
                          <a:highlight>
                            <a:srgbClr val="FFFFFF"/>
                          </a:highlight>
                        </a:rPr>
                        <a:t>Fair</a:t>
                      </a:r>
                      <a:endParaRPr lang="en-IN" sz="1100" dirty="0">
                        <a:solidFill>
                          <a:schemeClr val="bg1"/>
                        </a:solidFill>
                        <a:effectLst/>
                        <a:highlight>
                          <a:srgbClr val="FFFFFF"/>
                        </a:highlight>
                      </a:endParaRPr>
                    </a:p>
                  </a:txBody>
                  <a:tcPr marL="54392" marR="54392" marT="27196" marB="27196" anchor="ctr"/>
                </a:tc>
                <a:extLst>
                  <a:ext uri="{0D108BD9-81ED-4DB2-BD59-A6C34878D82A}">
                    <a16:rowId xmlns:a16="http://schemas.microsoft.com/office/drawing/2014/main" xmlns="" val="4227083463"/>
                  </a:ext>
                </a:extLst>
              </a:tr>
              <a:tr h="217567">
                <a:tc>
                  <a:txBody>
                    <a:bodyPr/>
                    <a:lstStyle/>
                    <a:p>
                      <a:pPr algn="ctr" latinLnBrk="0"/>
                      <a:r>
                        <a:rPr lang="en-IN" sz="1100" dirty="0">
                          <a:effectLst/>
                          <a:highlight>
                            <a:srgbClr val="FFFFFF"/>
                          </a:highlight>
                        </a:rPr>
                        <a:t>Implement</a:t>
                      </a:r>
                      <a:endParaRPr lang="en-IN" sz="1100" dirty="0">
                        <a:solidFill>
                          <a:schemeClr val="bg1"/>
                        </a:solidFill>
                        <a:effectLst/>
                        <a:highlight>
                          <a:srgbClr val="FFFFFF"/>
                        </a:highlight>
                      </a:endParaRPr>
                    </a:p>
                  </a:txBody>
                  <a:tcPr marL="54392" marR="54392" marT="27196" marB="27196" anchor="ctr"/>
                </a:tc>
                <a:tc>
                  <a:txBody>
                    <a:bodyPr/>
                    <a:lstStyle/>
                    <a:p>
                      <a:pPr algn="ctr" latinLnBrk="0"/>
                      <a:r>
                        <a:rPr lang="en-IN" sz="1100" dirty="0">
                          <a:effectLst/>
                          <a:highlight>
                            <a:srgbClr val="FFFFFF"/>
                          </a:highlight>
                        </a:rPr>
                        <a:t>Start</a:t>
                      </a:r>
                      <a:endParaRPr lang="en-IN" sz="1100" dirty="0">
                        <a:solidFill>
                          <a:schemeClr val="bg1"/>
                        </a:solidFill>
                        <a:effectLst/>
                        <a:highlight>
                          <a:srgbClr val="FFFFFF"/>
                        </a:highlight>
                      </a:endParaRPr>
                    </a:p>
                  </a:txBody>
                  <a:tcPr marL="54392" marR="54392" marT="27196" marB="27196" anchor="ctr"/>
                </a:tc>
                <a:extLst>
                  <a:ext uri="{0D108BD9-81ED-4DB2-BD59-A6C34878D82A}">
                    <a16:rowId xmlns:a16="http://schemas.microsoft.com/office/drawing/2014/main" xmlns="" val="3820386533"/>
                  </a:ext>
                </a:extLst>
              </a:tr>
              <a:tr h="217567">
                <a:tc>
                  <a:txBody>
                    <a:bodyPr/>
                    <a:lstStyle/>
                    <a:p>
                      <a:pPr algn="ctr" latinLnBrk="0"/>
                      <a:r>
                        <a:rPr lang="en-IN" sz="1100" dirty="0">
                          <a:effectLst/>
                          <a:highlight>
                            <a:srgbClr val="FFFFFF"/>
                          </a:highlight>
                        </a:rPr>
                        <a:t>Leverage</a:t>
                      </a:r>
                      <a:endParaRPr lang="en-IN" sz="1100" dirty="0">
                        <a:solidFill>
                          <a:schemeClr val="bg1"/>
                        </a:solidFill>
                        <a:effectLst/>
                        <a:highlight>
                          <a:srgbClr val="FFFFFF"/>
                        </a:highlight>
                      </a:endParaRPr>
                    </a:p>
                  </a:txBody>
                  <a:tcPr marL="54392" marR="54392" marT="27196" marB="27196" anchor="ctr"/>
                </a:tc>
                <a:tc>
                  <a:txBody>
                    <a:bodyPr/>
                    <a:lstStyle/>
                    <a:p>
                      <a:pPr algn="ctr" latinLnBrk="0"/>
                      <a:r>
                        <a:rPr lang="en-IN" sz="1100" dirty="0">
                          <a:effectLst/>
                          <a:highlight>
                            <a:srgbClr val="FFFFFF"/>
                          </a:highlight>
                        </a:rPr>
                        <a:t>Use</a:t>
                      </a:r>
                      <a:endParaRPr lang="en-IN" sz="1100" dirty="0">
                        <a:solidFill>
                          <a:schemeClr val="bg1"/>
                        </a:solidFill>
                        <a:effectLst/>
                        <a:highlight>
                          <a:srgbClr val="FFFFFF"/>
                        </a:highlight>
                      </a:endParaRPr>
                    </a:p>
                  </a:txBody>
                  <a:tcPr marL="54392" marR="54392" marT="27196" marB="27196" anchor="ctr"/>
                </a:tc>
                <a:extLst>
                  <a:ext uri="{0D108BD9-81ED-4DB2-BD59-A6C34878D82A}">
                    <a16:rowId xmlns:a16="http://schemas.microsoft.com/office/drawing/2014/main" xmlns="" val="1206047396"/>
                  </a:ext>
                </a:extLst>
              </a:tr>
              <a:tr h="217567">
                <a:tc>
                  <a:txBody>
                    <a:bodyPr/>
                    <a:lstStyle/>
                    <a:p>
                      <a:pPr algn="ctr" latinLnBrk="0"/>
                      <a:r>
                        <a:rPr lang="en-IN" sz="1100" dirty="0">
                          <a:effectLst/>
                          <a:highlight>
                            <a:srgbClr val="FFFFFF"/>
                          </a:highlight>
                        </a:rPr>
                        <a:t>Limited number</a:t>
                      </a:r>
                      <a:endParaRPr lang="en-IN" sz="1100" dirty="0">
                        <a:solidFill>
                          <a:schemeClr val="bg1"/>
                        </a:solidFill>
                        <a:effectLst/>
                        <a:highlight>
                          <a:srgbClr val="FFFFFF"/>
                        </a:highlight>
                      </a:endParaRPr>
                    </a:p>
                  </a:txBody>
                  <a:tcPr marL="54392" marR="54392" marT="27196" marB="27196" anchor="ctr"/>
                </a:tc>
                <a:tc>
                  <a:txBody>
                    <a:bodyPr/>
                    <a:lstStyle/>
                    <a:p>
                      <a:pPr algn="ctr" latinLnBrk="0"/>
                      <a:r>
                        <a:rPr lang="en-IN" sz="1100" dirty="0">
                          <a:effectLst/>
                          <a:highlight>
                            <a:srgbClr val="FFFFFF"/>
                          </a:highlight>
                        </a:rPr>
                        <a:t>Few</a:t>
                      </a:r>
                      <a:endParaRPr lang="en-IN" sz="1100" dirty="0">
                        <a:solidFill>
                          <a:schemeClr val="bg1"/>
                        </a:solidFill>
                        <a:effectLst/>
                        <a:highlight>
                          <a:srgbClr val="FFFFFF"/>
                        </a:highlight>
                      </a:endParaRPr>
                    </a:p>
                  </a:txBody>
                  <a:tcPr marL="54392" marR="54392" marT="27196" marB="27196" anchor="ctr"/>
                </a:tc>
                <a:extLst>
                  <a:ext uri="{0D108BD9-81ED-4DB2-BD59-A6C34878D82A}">
                    <a16:rowId xmlns:a16="http://schemas.microsoft.com/office/drawing/2014/main" xmlns="" val="209194073"/>
                  </a:ext>
                </a:extLst>
              </a:tr>
              <a:tr h="217567">
                <a:tc>
                  <a:txBody>
                    <a:bodyPr/>
                    <a:lstStyle/>
                    <a:p>
                      <a:pPr algn="ctr" latinLnBrk="0"/>
                      <a:r>
                        <a:rPr lang="en-IN" sz="1100" dirty="0">
                          <a:effectLst/>
                          <a:highlight>
                            <a:srgbClr val="FFFFFF"/>
                          </a:highlight>
                        </a:rPr>
                        <a:t>Magnitude</a:t>
                      </a:r>
                      <a:endParaRPr lang="en-IN" sz="1100" dirty="0">
                        <a:solidFill>
                          <a:schemeClr val="bg1"/>
                        </a:solidFill>
                        <a:effectLst/>
                        <a:highlight>
                          <a:srgbClr val="FFFFFF"/>
                        </a:highlight>
                      </a:endParaRPr>
                    </a:p>
                  </a:txBody>
                  <a:tcPr marL="54392" marR="54392" marT="27196" marB="27196" anchor="ctr"/>
                </a:tc>
                <a:tc>
                  <a:txBody>
                    <a:bodyPr/>
                    <a:lstStyle/>
                    <a:p>
                      <a:pPr algn="ctr" latinLnBrk="0"/>
                      <a:r>
                        <a:rPr lang="en-IN" sz="1100" dirty="0">
                          <a:effectLst/>
                          <a:highlight>
                            <a:srgbClr val="FFFFFF"/>
                          </a:highlight>
                        </a:rPr>
                        <a:t>Size</a:t>
                      </a:r>
                      <a:endParaRPr lang="en-IN" sz="1100" dirty="0">
                        <a:solidFill>
                          <a:schemeClr val="bg1"/>
                        </a:solidFill>
                        <a:effectLst/>
                        <a:highlight>
                          <a:srgbClr val="FFFFFF"/>
                        </a:highlight>
                      </a:endParaRPr>
                    </a:p>
                  </a:txBody>
                  <a:tcPr marL="54392" marR="54392" marT="27196" marB="27196" anchor="ctr"/>
                </a:tc>
                <a:extLst>
                  <a:ext uri="{0D108BD9-81ED-4DB2-BD59-A6C34878D82A}">
                    <a16:rowId xmlns:a16="http://schemas.microsoft.com/office/drawing/2014/main" xmlns="" val="1694110043"/>
                  </a:ext>
                </a:extLst>
              </a:tr>
              <a:tr h="217567">
                <a:tc>
                  <a:txBody>
                    <a:bodyPr/>
                    <a:lstStyle/>
                    <a:p>
                      <a:pPr algn="ctr" latinLnBrk="0"/>
                      <a:r>
                        <a:rPr lang="en-IN" sz="1100" dirty="0">
                          <a:effectLst/>
                          <a:highlight>
                            <a:srgbClr val="FFFFFF"/>
                          </a:highlight>
                        </a:rPr>
                        <a:t>Assistance</a:t>
                      </a:r>
                      <a:endParaRPr lang="en-IN" sz="1100" dirty="0">
                        <a:solidFill>
                          <a:schemeClr val="bg1"/>
                        </a:solidFill>
                        <a:effectLst/>
                        <a:highlight>
                          <a:srgbClr val="FFFFFF"/>
                        </a:highlight>
                      </a:endParaRPr>
                    </a:p>
                  </a:txBody>
                  <a:tcPr marL="54392" marR="54392" marT="27196" marB="27196" anchor="ctr"/>
                </a:tc>
                <a:tc>
                  <a:txBody>
                    <a:bodyPr/>
                    <a:lstStyle/>
                    <a:p>
                      <a:pPr algn="ctr" latinLnBrk="0"/>
                      <a:r>
                        <a:rPr lang="en-IN" sz="1100" dirty="0">
                          <a:effectLst/>
                          <a:highlight>
                            <a:srgbClr val="FFFFFF"/>
                          </a:highlight>
                        </a:rPr>
                        <a:t>Help</a:t>
                      </a:r>
                      <a:endParaRPr lang="en-IN" sz="1100" dirty="0">
                        <a:solidFill>
                          <a:schemeClr val="bg1"/>
                        </a:solidFill>
                        <a:effectLst/>
                        <a:highlight>
                          <a:srgbClr val="FFFFFF"/>
                        </a:highlight>
                      </a:endParaRPr>
                    </a:p>
                  </a:txBody>
                  <a:tcPr marL="54392" marR="54392" marT="27196" marB="27196" anchor="ctr"/>
                </a:tc>
                <a:extLst>
                  <a:ext uri="{0D108BD9-81ED-4DB2-BD59-A6C34878D82A}">
                    <a16:rowId xmlns:a16="http://schemas.microsoft.com/office/drawing/2014/main" xmlns="" val="1584706821"/>
                  </a:ext>
                </a:extLst>
              </a:tr>
              <a:tr h="217567">
                <a:tc>
                  <a:txBody>
                    <a:bodyPr/>
                    <a:lstStyle/>
                    <a:p>
                      <a:pPr algn="ctr" latinLnBrk="0"/>
                      <a:r>
                        <a:rPr lang="en-IN" sz="1100" dirty="0">
                          <a:effectLst/>
                          <a:highlight>
                            <a:srgbClr val="FFFFFF"/>
                          </a:highlight>
                        </a:rPr>
                        <a:t>Commence</a:t>
                      </a:r>
                      <a:endParaRPr lang="en-IN" sz="1100" dirty="0">
                        <a:solidFill>
                          <a:schemeClr val="bg1"/>
                        </a:solidFill>
                        <a:effectLst/>
                        <a:highlight>
                          <a:srgbClr val="FFFFFF"/>
                        </a:highlight>
                      </a:endParaRPr>
                    </a:p>
                  </a:txBody>
                  <a:tcPr marL="54392" marR="54392" marT="27196" marB="27196" anchor="ctr"/>
                </a:tc>
                <a:tc>
                  <a:txBody>
                    <a:bodyPr/>
                    <a:lstStyle/>
                    <a:p>
                      <a:pPr algn="ctr" latinLnBrk="0"/>
                      <a:r>
                        <a:rPr lang="en-IN" sz="1100" dirty="0">
                          <a:effectLst/>
                          <a:highlight>
                            <a:srgbClr val="FFFFFF"/>
                          </a:highlight>
                        </a:rPr>
                        <a:t>Start</a:t>
                      </a:r>
                      <a:endParaRPr lang="en-IN" sz="1100" dirty="0">
                        <a:solidFill>
                          <a:schemeClr val="bg1"/>
                        </a:solidFill>
                        <a:effectLst/>
                        <a:highlight>
                          <a:srgbClr val="FFFFFF"/>
                        </a:highlight>
                      </a:endParaRPr>
                    </a:p>
                  </a:txBody>
                  <a:tcPr marL="54392" marR="54392" marT="27196" marB="27196" anchor="ctr"/>
                </a:tc>
                <a:extLst>
                  <a:ext uri="{0D108BD9-81ED-4DB2-BD59-A6C34878D82A}">
                    <a16:rowId xmlns:a16="http://schemas.microsoft.com/office/drawing/2014/main" xmlns="" val="3533334159"/>
                  </a:ext>
                </a:extLst>
              </a:tr>
              <a:tr h="217567">
                <a:tc>
                  <a:txBody>
                    <a:bodyPr/>
                    <a:lstStyle/>
                    <a:p>
                      <a:pPr algn="ctr" latinLnBrk="0"/>
                      <a:r>
                        <a:rPr lang="en-IN" sz="1100" dirty="0">
                          <a:effectLst/>
                          <a:highlight>
                            <a:srgbClr val="FFFFFF"/>
                          </a:highlight>
                        </a:rPr>
                        <a:t>Prior to</a:t>
                      </a:r>
                      <a:endParaRPr lang="en-IN" sz="1100" dirty="0">
                        <a:solidFill>
                          <a:schemeClr val="bg1"/>
                        </a:solidFill>
                        <a:effectLst/>
                        <a:highlight>
                          <a:srgbClr val="FFFFFF"/>
                        </a:highlight>
                      </a:endParaRPr>
                    </a:p>
                  </a:txBody>
                  <a:tcPr marL="54392" marR="54392" marT="27196" marB="27196" anchor="ctr"/>
                </a:tc>
                <a:tc>
                  <a:txBody>
                    <a:bodyPr/>
                    <a:lstStyle/>
                    <a:p>
                      <a:pPr algn="ctr" latinLnBrk="0"/>
                      <a:r>
                        <a:rPr lang="en-IN" sz="1100" dirty="0">
                          <a:effectLst/>
                          <a:highlight>
                            <a:srgbClr val="FFFFFF"/>
                          </a:highlight>
                        </a:rPr>
                        <a:t>Before</a:t>
                      </a:r>
                      <a:endParaRPr lang="en-IN" sz="1100" dirty="0">
                        <a:solidFill>
                          <a:schemeClr val="bg1"/>
                        </a:solidFill>
                        <a:effectLst/>
                        <a:highlight>
                          <a:srgbClr val="FFFFFF"/>
                        </a:highlight>
                      </a:endParaRPr>
                    </a:p>
                  </a:txBody>
                  <a:tcPr marL="54392" marR="54392" marT="27196" marB="27196" anchor="ctr"/>
                </a:tc>
                <a:extLst>
                  <a:ext uri="{0D108BD9-81ED-4DB2-BD59-A6C34878D82A}">
                    <a16:rowId xmlns:a16="http://schemas.microsoft.com/office/drawing/2014/main" xmlns="" val="3450962746"/>
                  </a:ext>
                </a:extLst>
              </a:tr>
              <a:tr h="217567">
                <a:tc>
                  <a:txBody>
                    <a:bodyPr/>
                    <a:lstStyle/>
                    <a:p>
                      <a:pPr algn="ctr" latinLnBrk="0"/>
                      <a:r>
                        <a:rPr lang="en-IN" sz="1100" dirty="0">
                          <a:effectLst/>
                          <a:highlight>
                            <a:srgbClr val="FFFFFF"/>
                          </a:highlight>
                        </a:rPr>
                        <a:t>Notify</a:t>
                      </a:r>
                      <a:endParaRPr lang="en-IN" sz="1100" dirty="0">
                        <a:solidFill>
                          <a:schemeClr val="bg1"/>
                        </a:solidFill>
                        <a:effectLst/>
                        <a:highlight>
                          <a:srgbClr val="FFFFFF"/>
                        </a:highlight>
                      </a:endParaRPr>
                    </a:p>
                  </a:txBody>
                  <a:tcPr marL="54392" marR="54392" marT="27196" marB="27196" anchor="ctr"/>
                </a:tc>
                <a:tc>
                  <a:txBody>
                    <a:bodyPr/>
                    <a:lstStyle/>
                    <a:p>
                      <a:pPr algn="ctr" latinLnBrk="0"/>
                      <a:r>
                        <a:rPr lang="en-IN" sz="1100" dirty="0">
                          <a:effectLst/>
                          <a:highlight>
                            <a:srgbClr val="FFFFFF"/>
                          </a:highlight>
                        </a:rPr>
                        <a:t>Tell</a:t>
                      </a:r>
                      <a:endParaRPr lang="en-IN" sz="1100" dirty="0">
                        <a:solidFill>
                          <a:schemeClr val="bg1"/>
                        </a:solidFill>
                        <a:effectLst/>
                        <a:highlight>
                          <a:srgbClr val="FFFFFF"/>
                        </a:highlight>
                      </a:endParaRPr>
                    </a:p>
                  </a:txBody>
                  <a:tcPr marL="54392" marR="54392" marT="27196" marB="27196" anchor="ctr"/>
                </a:tc>
                <a:extLst>
                  <a:ext uri="{0D108BD9-81ED-4DB2-BD59-A6C34878D82A}">
                    <a16:rowId xmlns:a16="http://schemas.microsoft.com/office/drawing/2014/main" xmlns="" val="3576952283"/>
                  </a:ext>
                </a:extLst>
              </a:tr>
              <a:tr h="217567">
                <a:tc>
                  <a:txBody>
                    <a:bodyPr/>
                    <a:lstStyle/>
                    <a:p>
                      <a:pPr algn="ctr" latinLnBrk="0"/>
                      <a:r>
                        <a:rPr lang="en-IN" sz="1100" dirty="0">
                          <a:effectLst/>
                          <a:highlight>
                            <a:srgbClr val="FFFFFF"/>
                          </a:highlight>
                        </a:rPr>
                        <a:t>Promulgate</a:t>
                      </a:r>
                      <a:endParaRPr lang="en-IN" sz="1100" dirty="0">
                        <a:solidFill>
                          <a:schemeClr val="bg1"/>
                        </a:solidFill>
                        <a:effectLst/>
                        <a:highlight>
                          <a:srgbClr val="FFFFFF"/>
                        </a:highlight>
                      </a:endParaRPr>
                    </a:p>
                  </a:txBody>
                  <a:tcPr marL="54392" marR="54392" marT="27196" marB="27196" anchor="ctr"/>
                </a:tc>
                <a:tc>
                  <a:txBody>
                    <a:bodyPr/>
                    <a:lstStyle/>
                    <a:p>
                      <a:pPr algn="ctr" latinLnBrk="0"/>
                      <a:r>
                        <a:rPr lang="en-IN" sz="1100" dirty="0">
                          <a:effectLst/>
                          <a:highlight>
                            <a:srgbClr val="FFFFFF"/>
                          </a:highlight>
                        </a:rPr>
                        <a:t>Issue</a:t>
                      </a:r>
                      <a:endParaRPr lang="en-IN" sz="1100" dirty="0">
                        <a:solidFill>
                          <a:schemeClr val="bg1"/>
                        </a:solidFill>
                        <a:effectLst/>
                        <a:highlight>
                          <a:srgbClr val="FFFFFF"/>
                        </a:highlight>
                      </a:endParaRPr>
                    </a:p>
                  </a:txBody>
                  <a:tcPr marL="54392" marR="54392" marT="27196" marB="27196" anchor="ctr"/>
                </a:tc>
                <a:extLst>
                  <a:ext uri="{0D108BD9-81ED-4DB2-BD59-A6C34878D82A}">
                    <a16:rowId xmlns:a16="http://schemas.microsoft.com/office/drawing/2014/main" xmlns="" val="1579345635"/>
                  </a:ext>
                </a:extLst>
              </a:tr>
              <a:tr h="217567">
                <a:tc>
                  <a:txBody>
                    <a:bodyPr/>
                    <a:lstStyle/>
                    <a:p>
                      <a:pPr algn="ctr" latinLnBrk="0"/>
                      <a:r>
                        <a:rPr lang="en-IN" sz="1100" dirty="0">
                          <a:effectLst/>
                          <a:highlight>
                            <a:srgbClr val="FFFFFF"/>
                          </a:highlight>
                        </a:rPr>
                        <a:t>Remuneration</a:t>
                      </a:r>
                      <a:endParaRPr lang="en-IN" sz="1100" dirty="0">
                        <a:solidFill>
                          <a:schemeClr val="bg1"/>
                        </a:solidFill>
                        <a:effectLst/>
                        <a:highlight>
                          <a:srgbClr val="FFFFFF"/>
                        </a:highlight>
                      </a:endParaRPr>
                    </a:p>
                  </a:txBody>
                  <a:tcPr marL="54392" marR="54392" marT="27196" marB="27196" anchor="ctr"/>
                </a:tc>
                <a:tc>
                  <a:txBody>
                    <a:bodyPr/>
                    <a:lstStyle/>
                    <a:p>
                      <a:pPr algn="ctr" latinLnBrk="0"/>
                      <a:r>
                        <a:rPr lang="en-IN" sz="1100" dirty="0">
                          <a:effectLst/>
                          <a:highlight>
                            <a:srgbClr val="FFFFFF"/>
                          </a:highlight>
                        </a:rPr>
                        <a:t>Payment</a:t>
                      </a:r>
                      <a:endParaRPr lang="en-IN" sz="1100" dirty="0">
                        <a:solidFill>
                          <a:schemeClr val="bg1"/>
                        </a:solidFill>
                        <a:effectLst/>
                        <a:highlight>
                          <a:srgbClr val="FFFFFF"/>
                        </a:highlight>
                      </a:endParaRPr>
                    </a:p>
                  </a:txBody>
                  <a:tcPr marL="54392" marR="54392" marT="27196" marB="27196" anchor="ctr"/>
                </a:tc>
                <a:extLst>
                  <a:ext uri="{0D108BD9-81ED-4DB2-BD59-A6C34878D82A}">
                    <a16:rowId xmlns:a16="http://schemas.microsoft.com/office/drawing/2014/main" xmlns="" val="86037877"/>
                  </a:ext>
                </a:extLst>
              </a:tr>
              <a:tr h="217567">
                <a:tc>
                  <a:txBody>
                    <a:bodyPr/>
                    <a:lstStyle/>
                    <a:p>
                      <a:pPr algn="ctr" latinLnBrk="0"/>
                      <a:r>
                        <a:rPr lang="en-IN" sz="1100" dirty="0">
                          <a:effectLst/>
                          <a:highlight>
                            <a:srgbClr val="FFFFFF"/>
                          </a:highlight>
                        </a:rPr>
                        <a:t>Comply with</a:t>
                      </a:r>
                      <a:endParaRPr lang="en-IN" sz="1100" dirty="0">
                        <a:solidFill>
                          <a:schemeClr val="bg1"/>
                        </a:solidFill>
                        <a:effectLst/>
                        <a:highlight>
                          <a:srgbClr val="FFFFFF"/>
                        </a:highlight>
                      </a:endParaRPr>
                    </a:p>
                  </a:txBody>
                  <a:tcPr marL="54392" marR="54392" marT="27196" marB="27196" anchor="ctr"/>
                </a:tc>
                <a:tc>
                  <a:txBody>
                    <a:bodyPr/>
                    <a:lstStyle/>
                    <a:p>
                      <a:pPr algn="ctr" latinLnBrk="0"/>
                      <a:r>
                        <a:rPr lang="en-IN" sz="1100" dirty="0">
                          <a:effectLst/>
                          <a:highlight>
                            <a:srgbClr val="FFFFFF"/>
                          </a:highlight>
                        </a:rPr>
                        <a:t>Follow</a:t>
                      </a:r>
                      <a:endParaRPr lang="en-IN" sz="1100" dirty="0">
                        <a:solidFill>
                          <a:schemeClr val="bg1"/>
                        </a:solidFill>
                        <a:effectLst/>
                        <a:highlight>
                          <a:srgbClr val="FFFFFF"/>
                        </a:highlight>
                      </a:endParaRPr>
                    </a:p>
                  </a:txBody>
                  <a:tcPr marL="54392" marR="54392" marT="27196" marB="27196" anchor="ctr"/>
                </a:tc>
                <a:extLst>
                  <a:ext uri="{0D108BD9-81ED-4DB2-BD59-A6C34878D82A}">
                    <a16:rowId xmlns:a16="http://schemas.microsoft.com/office/drawing/2014/main" xmlns="" val="2036837179"/>
                  </a:ext>
                </a:extLst>
              </a:tr>
              <a:tr h="217567">
                <a:tc>
                  <a:txBody>
                    <a:bodyPr/>
                    <a:lstStyle/>
                    <a:p>
                      <a:pPr algn="ctr" latinLnBrk="0"/>
                      <a:r>
                        <a:rPr lang="en-IN" sz="1100" dirty="0">
                          <a:effectLst/>
                          <a:highlight>
                            <a:srgbClr val="FFFFFF"/>
                          </a:highlight>
                        </a:rPr>
                        <a:t>Convene</a:t>
                      </a:r>
                      <a:endParaRPr lang="en-IN" sz="1100" dirty="0">
                        <a:solidFill>
                          <a:schemeClr val="bg1"/>
                        </a:solidFill>
                        <a:effectLst/>
                        <a:highlight>
                          <a:srgbClr val="FFFFFF"/>
                        </a:highlight>
                      </a:endParaRPr>
                    </a:p>
                  </a:txBody>
                  <a:tcPr marL="54392" marR="54392" marT="27196" marB="27196" anchor="ctr"/>
                </a:tc>
                <a:tc>
                  <a:txBody>
                    <a:bodyPr/>
                    <a:lstStyle/>
                    <a:p>
                      <a:pPr algn="ctr" latinLnBrk="0"/>
                      <a:r>
                        <a:rPr lang="en-IN" sz="1100" dirty="0">
                          <a:effectLst/>
                          <a:highlight>
                            <a:srgbClr val="FFFFFF"/>
                          </a:highlight>
                        </a:rPr>
                        <a:t>Meet</a:t>
                      </a:r>
                      <a:endParaRPr lang="en-IN" sz="1100" dirty="0">
                        <a:solidFill>
                          <a:schemeClr val="bg1"/>
                        </a:solidFill>
                        <a:effectLst/>
                        <a:highlight>
                          <a:srgbClr val="FFFFFF"/>
                        </a:highlight>
                      </a:endParaRPr>
                    </a:p>
                  </a:txBody>
                  <a:tcPr marL="54392" marR="54392" marT="27196" marB="27196" anchor="ctr"/>
                </a:tc>
                <a:extLst>
                  <a:ext uri="{0D108BD9-81ED-4DB2-BD59-A6C34878D82A}">
                    <a16:rowId xmlns:a16="http://schemas.microsoft.com/office/drawing/2014/main" xmlns="" val="61205671"/>
                  </a:ext>
                </a:extLst>
              </a:tr>
              <a:tr h="217567">
                <a:tc>
                  <a:txBody>
                    <a:bodyPr/>
                    <a:lstStyle/>
                    <a:p>
                      <a:pPr algn="ctr" latinLnBrk="0"/>
                      <a:r>
                        <a:rPr lang="en-IN" sz="1100" dirty="0">
                          <a:effectLst/>
                          <a:highlight>
                            <a:srgbClr val="FFFFFF"/>
                          </a:highlight>
                        </a:rPr>
                        <a:t>Endeavor </a:t>
                      </a:r>
                      <a:endParaRPr lang="en-IN" sz="1100" dirty="0">
                        <a:solidFill>
                          <a:schemeClr val="bg1"/>
                        </a:solidFill>
                        <a:effectLst/>
                        <a:highlight>
                          <a:srgbClr val="FFFFFF"/>
                        </a:highlight>
                      </a:endParaRPr>
                    </a:p>
                  </a:txBody>
                  <a:tcPr marL="54392" marR="54392" marT="27196" marB="27196" anchor="ctr"/>
                </a:tc>
                <a:tc>
                  <a:txBody>
                    <a:bodyPr/>
                    <a:lstStyle/>
                    <a:p>
                      <a:pPr algn="ctr" latinLnBrk="0"/>
                      <a:r>
                        <a:rPr lang="en-IN" sz="1100" dirty="0">
                          <a:effectLst/>
                          <a:highlight>
                            <a:srgbClr val="FFFFFF"/>
                          </a:highlight>
                        </a:rPr>
                        <a:t>Try</a:t>
                      </a:r>
                      <a:endParaRPr lang="en-IN" sz="1100" dirty="0">
                        <a:solidFill>
                          <a:schemeClr val="bg1"/>
                        </a:solidFill>
                        <a:effectLst/>
                        <a:highlight>
                          <a:srgbClr val="FFFFFF"/>
                        </a:highlight>
                      </a:endParaRPr>
                    </a:p>
                  </a:txBody>
                  <a:tcPr marL="54392" marR="54392" marT="27196" marB="27196" anchor="ctr"/>
                </a:tc>
                <a:extLst>
                  <a:ext uri="{0D108BD9-81ED-4DB2-BD59-A6C34878D82A}">
                    <a16:rowId xmlns:a16="http://schemas.microsoft.com/office/drawing/2014/main" xmlns="" val="1474894946"/>
                  </a:ext>
                </a:extLst>
              </a:tr>
              <a:tr h="217567">
                <a:tc>
                  <a:txBody>
                    <a:bodyPr/>
                    <a:lstStyle/>
                    <a:p>
                      <a:pPr algn="ctr" latinLnBrk="0"/>
                      <a:r>
                        <a:rPr lang="en-IN" sz="1100" dirty="0">
                          <a:effectLst/>
                          <a:highlight>
                            <a:srgbClr val="FFFFFF"/>
                          </a:highlight>
                        </a:rPr>
                        <a:t>Delineate</a:t>
                      </a:r>
                      <a:endParaRPr lang="en-IN" sz="1100" dirty="0">
                        <a:solidFill>
                          <a:schemeClr val="bg1"/>
                        </a:solidFill>
                        <a:effectLst/>
                        <a:highlight>
                          <a:srgbClr val="FFFFFF"/>
                        </a:highlight>
                      </a:endParaRPr>
                    </a:p>
                  </a:txBody>
                  <a:tcPr marL="54392" marR="54392" marT="27196" marB="27196" anchor="ctr"/>
                </a:tc>
                <a:tc>
                  <a:txBody>
                    <a:bodyPr/>
                    <a:lstStyle/>
                    <a:p>
                      <a:pPr algn="ctr" latinLnBrk="0"/>
                      <a:r>
                        <a:rPr lang="en-IN" sz="1100" dirty="0">
                          <a:effectLst/>
                          <a:highlight>
                            <a:srgbClr val="FFFFFF"/>
                          </a:highlight>
                        </a:rPr>
                        <a:t>Define</a:t>
                      </a:r>
                      <a:endParaRPr lang="en-IN" sz="1100" dirty="0">
                        <a:solidFill>
                          <a:schemeClr val="bg1"/>
                        </a:solidFill>
                        <a:effectLst/>
                        <a:highlight>
                          <a:srgbClr val="FFFFFF"/>
                        </a:highlight>
                      </a:endParaRPr>
                    </a:p>
                  </a:txBody>
                  <a:tcPr marL="54392" marR="54392" marT="27196" marB="27196" anchor="ctr"/>
                </a:tc>
                <a:extLst>
                  <a:ext uri="{0D108BD9-81ED-4DB2-BD59-A6C34878D82A}">
                    <a16:rowId xmlns:a16="http://schemas.microsoft.com/office/drawing/2014/main" xmlns="" val="2349992942"/>
                  </a:ext>
                </a:extLst>
              </a:tr>
              <a:tr h="217567">
                <a:tc>
                  <a:txBody>
                    <a:bodyPr/>
                    <a:lstStyle/>
                    <a:p>
                      <a:pPr algn="ctr" latinLnBrk="0"/>
                      <a:r>
                        <a:rPr lang="en-IN" sz="1100" dirty="0">
                          <a:effectLst/>
                          <a:highlight>
                            <a:srgbClr val="FFFFFF"/>
                          </a:highlight>
                        </a:rPr>
                        <a:t>Indicate</a:t>
                      </a:r>
                      <a:endParaRPr lang="en-IN" sz="1100" dirty="0">
                        <a:solidFill>
                          <a:schemeClr val="bg1"/>
                        </a:solidFill>
                        <a:effectLst/>
                        <a:highlight>
                          <a:srgbClr val="FFFFFF"/>
                        </a:highlight>
                      </a:endParaRPr>
                    </a:p>
                  </a:txBody>
                  <a:tcPr marL="54392" marR="54392" marT="27196" marB="27196" anchor="ctr"/>
                </a:tc>
                <a:tc>
                  <a:txBody>
                    <a:bodyPr/>
                    <a:lstStyle/>
                    <a:p>
                      <a:pPr algn="ctr" latinLnBrk="0"/>
                      <a:r>
                        <a:rPr lang="en-IN" sz="1100" dirty="0">
                          <a:effectLst/>
                          <a:highlight>
                            <a:srgbClr val="FFFFFF"/>
                          </a:highlight>
                        </a:rPr>
                        <a:t>Show</a:t>
                      </a:r>
                      <a:endParaRPr lang="en-IN" sz="1100" dirty="0">
                        <a:solidFill>
                          <a:schemeClr val="bg1"/>
                        </a:solidFill>
                        <a:effectLst/>
                        <a:highlight>
                          <a:srgbClr val="FFFFFF"/>
                        </a:highlight>
                      </a:endParaRPr>
                    </a:p>
                  </a:txBody>
                  <a:tcPr marL="54392" marR="54392" marT="27196" marB="27196" anchor="ctr"/>
                </a:tc>
                <a:extLst>
                  <a:ext uri="{0D108BD9-81ED-4DB2-BD59-A6C34878D82A}">
                    <a16:rowId xmlns:a16="http://schemas.microsoft.com/office/drawing/2014/main" xmlns="" val="3948923403"/>
                  </a:ext>
                </a:extLst>
              </a:tr>
              <a:tr h="217567">
                <a:tc>
                  <a:txBody>
                    <a:bodyPr/>
                    <a:lstStyle/>
                    <a:p>
                      <a:pPr algn="ctr" latinLnBrk="0"/>
                      <a:r>
                        <a:rPr lang="en-IN" sz="1100" dirty="0">
                          <a:effectLst/>
                          <a:highlight>
                            <a:srgbClr val="FFFFFF"/>
                          </a:highlight>
                        </a:rPr>
                        <a:t>Modification</a:t>
                      </a:r>
                      <a:endParaRPr lang="en-IN" sz="1100" dirty="0">
                        <a:solidFill>
                          <a:schemeClr val="bg1"/>
                        </a:solidFill>
                        <a:effectLst/>
                        <a:highlight>
                          <a:srgbClr val="FFFFFF"/>
                        </a:highlight>
                      </a:endParaRPr>
                    </a:p>
                  </a:txBody>
                  <a:tcPr marL="54392" marR="54392" marT="27196" marB="27196" anchor="ctr"/>
                </a:tc>
                <a:tc>
                  <a:txBody>
                    <a:bodyPr/>
                    <a:lstStyle/>
                    <a:p>
                      <a:pPr algn="ctr" latinLnBrk="0"/>
                      <a:r>
                        <a:rPr lang="en-IN" sz="1100" dirty="0">
                          <a:effectLst/>
                          <a:highlight>
                            <a:srgbClr val="FFFFFF"/>
                          </a:highlight>
                        </a:rPr>
                        <a:t>Change</a:t>
                      </a:r>
                      <a:endParaRPr lang="en-IN" sz="1100" dirty="0">
                        <a:solidFill>
                          <a:schemeClr val="bg1"/>
                        </a:solidFill>
                        <a:effectLst/>
                        <a:highlight>
                          <a:srgbClr val="FFFFFF"/>
                        </a:highlight>
                      </a:endParaRPr>
                    </a:p>
                  </a:txBody>
                  <a:tcPr marL="54392" marR="54392" marT="27196" marB="27196" anchor="ctr"/>
                </a:tc>
                <a:extLst>
                  <a:ext uri="{0D108BD9-81ED-4DB2-BD59-A6C34878D82A}">
                    <a16:rowId xmlns:a16="http://schemas.microsoft.com/office/drawing/2014/main" xmlns="" val="1814370594"/>
                  </a:ext>
                </a:extLst>
              </a:tr>
            </a:tbl>
          </a:graphicData>
        </a:graphic>
      </p:graphicFrame>
    </p:spTree>
    <p:extLst>
      <p:ext uri="{BB962C8B-B14F-4D97-AF65-F5344CB8AC3E}">
        <p14:creationId xmlns:p14="http://schemas.microsoft.com/office/powerpoint/2010/main" xmlns="" val="33839797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Title 1"/>
          <p:cNvSpPr>
            <a:spLocks noGrp="1"/>
          </p:cNvSpPr>
          <p:nvPr>
            <p:ph type="title"/>
          </p:nvPr>
        </p:nvSpPr>
        <p:spPr>
          <a:xfrm>
            <a:off x="838200" y="93134"/>
            <a:ext cx="10515600" cy="457200"/>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Avoid Using Commonly Confused Words </a:t>
            </a:r>
            <a:endParaRPr lang="en-IN" dirty="0">
              <a:latin typeface="Times New Roman" panose="02020603050405020304" pitchFamily="18" charset="0"/>
              <a:cs typeface="Times New Roman" panose="02020603050405020304" pitchFamily="18" charset="0"/>
            </a:endParaRPr>
          </a:p>
        </p:txBody>
      </p:sp>
      <p:sp>
        <p:nvSpPr>
          <p:cNvPr id="1048603" name="Content Placeholder 2"/>
          <p:cNvSpPr>
            <a:spLocks noGrp="1"/>
          </p:cNvSpPr>
          <p:nvPr>
            <p:ph idx="1"/>
          </p:nvPr>
        </p:nvSpPr>
        <p:spPr>
          <a:xfrm>
            <a:off x="762000" y="631824"/>
            <a:ext cx="10515600" cy="6327775"/>
          </a:xfrm>
        </p:spPr>
        <p:txBody>
          <a:bodyPr/>
          <a:lstStyle/>
          <a:p>
            <a:pPr marL="0" indent="0">
              <a:buNone/>
            </a:pPr>
            <a:r>
              <a:rPr lang="en-US" dirty="0">
                <a:latin typeface="Times New Roman" panose="02020603050405020304" pitchFamily="18" charset="0"/>
                <a:cs typeface="Times New Roman" panose="02020603050405020304" pitchFamily="18" charset="0"/>
              </a:rPr>
              <a:t>The English language has influences from the languages Latin, French, Greek, German, and Spanish. It has resulted in many oddities in the English language and you have to accept the way it is.</a:t>
            </a:r>
          </a:p>
          <a:p>
            <a:pPr marL="0" indent="0">
              <a:buNone/>
            </a:pPr>
            <a:endParaRPr lang="en-US" dirty="0">
              <a:latin typeface="Times New Roman" panose="02020603050405020304" pitchFamily="18" charset="0"/>
              <a:cs typeface="Times New Roman" panose="02020603050405020304" pitchFamily="18" charset="0"/>
            </a:endParaRPr>
          </a:p>
          <a:p>
            <a:pPr marL="514350" indent="-514350">
              <a:buAutoNum type="arabicPeriod"/>
            </a:pPr>
            <a:r>
              <a:rPr lang="en-US" dirty="0">
                <a:latin typeface="Times New Roman" panose="02020603050405020304" pitchFamily="18" charset="0"/>
                <a:cs typeface="Times New Roman" panose="02020603050405020304" pitchFamily="18" charset="0"/>
              </a:rPr>
              <a:t>Wow! The presentation was </a:t>
            </a:r>
            <a:r>
              <a:rPr lang="en-US" b="1" i="1" dirty="0">
                <a:latin typeface="Times New Roman" panose="02020603050405020304" pitchFamily="18" charset="0"/>
                <a:cs typeface="Times New Roman" panose="02020603050405020304" pitchFamily="18" charset="0"/>
              </a:rPr>
              <a:t>bombastic.</a:t>
            </a:r>
          </a:p>
          <a:p>
            <a:pPr marL="514350" indent="-514350">
              <a:buAutoNum type="arabicPeriod"/>
            </a:pPr>
            <a:endParaRPr lang="en-US" b="1" i="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2. I liked her knew sweater. I new she would wear that sweater today.			</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3. The rise in prices of everyday goods has effected the budget of low-income group people.</a:t>
            </a:r>
          </a:p>
          <a:p>
            <a:endParaRPr lang="en-IN"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9" name="Title 1"/>
          <p:cNvSpPr>
            <a:spLocks noGrp="1"/>
          </p:cNvSpPr>
          <p:nvPr>
            <p:ph type="title"/>
          </p:nvPr>
        </p:nvSpPr>
        <p:spPr/>
        <p:txBody>
          <a:bodyPr/>
          <a:lstStyle/>
          <a:p>
            <a:pPr algn="ctr"/>
            <a:r>
              <a:rPr lang="en-IN" dirty="0"/>
              <a:t>Avoid using ambiguous words</a:t>
            </a:r>
          </a:p>
        </p:txBody>
      </p:sp>
      <p:sp>
        <p:nvSpPr>
          <p:cNvPr id="1048630" name="Content Placeholder 2"/>
          <p:cNvSpPr>
            <a:spLocks noGrp="1"/>
          </p:cNvSpPr>
          <p:nvPr>
            <p:ph idx="1"/>
          </p:nvPr>
        </p:nvSpPr>
        <p:spPr>
          <a:xfrm>
            <a:off x="838200" y="1329267"/>
            <a:ext cx="10515600" cy="5435600"/>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An ambiguous sentence has two or more possible meanings within a single sentence or sequence of words. This can confuse the reader, making the sentence unclear.								</a:t>
            </a:r>
          </a:p>
          <a:p>
            <a:pPr marL="0" indent="0">
              <a:buNone/>
            </a:pPr>
            <a:r>
              <a:rPr lang="en-US" dirty="0">
                <a:latin typeface="Times New Roman" panose="02020603050405020304" pitchFamily="18" charset="0"/>
                <a:cs typeface="Times New Roman" panose="02020603050405020304" pitchFamily="18" charset="0"/>
              </a:rPr>
              <a:t>1. The </a:t>
            </a:r>
            <a:r>
              <a:rPr lang="en-US" i="1" dirty="0">
                <a:latin typeface="Times New Roman" panose="02020603050405020304" pitchFamily="18" charset="0"/>
                <a:cs typeface="Times New Roman" panose="02020603050405020304" pitchFamily="18" charset="0"/>
              </a:rPr>
              <a:t>giant plant </a:t>
            </a:r>
            <a:r>
              <a:rPr lang="en-US" dirty="0">
                <a:latin typeface="Times New Roman" panose="02020603050405020304" pitchFamily="18" charset="0"/>
                <a:cs typeface="Times New Roman" panose="02020603050405020304" pitchFamily="18" charset="0"/>
              </a:rPr>
              <a:t>collapsed many buildings. 						</a:t>
            </a:r>
          </a:p>
          <a:p>
            <a:pPr marL="0" indent="0">
              <a:buNone/>
            </a:pPr>
            <a:r>
              <a:rPr lang="en-US" dirty="0">
                <a:latin typeface="Times New Roman" panose="02020603050405020304" pitchFamily="18" charset="0"/>
                <a:cs typeface="Times New Roman" panose="02020603050405020304" pitchFamily="18" charset="0"/>
              </a:rPr>
              <a:t>2. The bimonthly project report submission has been due for over a month.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6FC5CE-938A-CBB3-B1B2-A5924963A796}"/>
              </a:ext>
            </a:extLst>
          </p:cNvPr>
          <p:cNvSpPr>
            <a:spLocks noGrp="1"/>
          </p:cNvSpPr>
          <p:nvPr>
            <p:ph type="title"/>
          </p:nvPr>
        </p:nvSpPr>
        <p:spPr>
          <a:xfrm>
            <a:off x="838200" y="365126"/>
            <a:ext cx="10515600" cy="315912"/>
          </a:xfrm>
        </p:spPr>
        <p:txBody>
          <a:bodyPr>
            <a:normAutofit fontScale="90000"/>
          </a:bodyPr>
          <a:lstStyle/>
          <a:p>
            <a:pPr algn="ctr"/>
            <a:r>
              <a:rPr lang="en-US" dirty="0"/>
              <a:t>Avoid Ambiguity</a:t>
            </a:r>
            <a:endParaRPr lang="en-IN" dirty="0"/>
          </a:p>
        </p:txBody>
      </p:sp>
      <p:sp>
        <p:nvSpPr>
          <p:cNvPr id="3" name="Content Placeholder 2">
            <a:extLst>
              <a:ext uri="{FF2B5EF4-FFF2-40B4-BE49-F238E27FC236}">
                <a16:creationId xmlns:a16="http://schemas.microsoft.com/office/drawing/2014/main" xmlns="" id="{AC59B0BE-FB0B-C37E-789B-A1D170BB2FDD}"/>
              </a:ext>
            </a:extLst>
          </p:cNvPr>
          <p:cNvSpPr>
            <a:spLocks noGrp="1"/>
          </p:cNvSpPr>
          <p:nvPr>
            <p:ph idx="1"/>
          </p:nvPr>
        </p:nvSpPr>
        <p:spPr>
          <a:xfrm>
            <a:off x="838200" y="787400"/>
            <a:ext cx="10515600" cy="6070600"/>
          </a:xfrm>
        </p:spPr>
        <p:txBody>
          <a:bodyPr>
            <a:normAutofit fontScale="77500" lnSpcReduction="20000"/>
          </a:bodyPr>
          <a:lstStyle/>
          <a:p>
            <a:pPr marL="0" indent="0" algn="ctr">
              <a:buNone/>
            </a:pPr>
            <a:r>
              <a:rPr lang="en-US" b="1" dirty="0"/>
              <a:t>Be precise using Pronouns</a:t>
            </a:r>
          </a:p>
          <a:p>
            <a:r>
              <a:rPr lang="en-US" dirty="0"/>
              <a:t>When you use a pronoun (e.g. ‘it’, ‘they’, ‘he’, ‘ she’), always be sure that the reader knows what noun you are referring to.</a:t>
            </a:r>
          </a:p>
          <a:p>
            <a:endParaRPr lang="en-US" dirty="0"/>
          </a:p>
          <a:p>
            <a:r>
              <a:rPr lang="en-US" dirty="0"/>
              <a:t>Example: The dog liked to guard the house, and the postman could not make it to the door because he was barking viciously.</a:t>
            </a:r>
          </a:p>
          <a:p>
            <a:endParaRPr lang="en-US" dirty="0"/>
          </a:p>
          <a:p>
            <a:r>
              <a:rPr lang="en-US" dirty="0"/>
              <a:t>Revised: The postman could not make it to the door because the dog liked to guard the house and was barking viciously.</a:t>
            </a:r>
          </a:p>
          <a:p>
            <a:endParaRPr lang="en-US" dirty="0"/>
          </a:p>
          <a:p>
            <a:pPr marL="0" indent="0" algn="ctr">
              <a:buNone/>
            </a:pPr>
            <a:r>
              <a:rPr lang="en-US" b="1" dirty="0"/>
              <a:t>Be precise using Determiners</a:t>
            </a:r>
          </a:p>
          <a:p>
            <a:r>
              <a:rPr lang="en-US" dirty="0"/>
              <a:t>When you use a determiner (e.g. ‘this’, ‘that’, ‘ those’, ‘ these’), always be sure that the reader knows exactly what you are referring to.</a:t>
            </a:r>
          </a:p>
          <a:p>
            <a:endParaRPr lang="en-US" dirty="0"/>
          </a:p>
          <a:p>
            <a:r>
              <a:rPr lang="en-US" dirty="0"/>
              <a:t> Example: There is a bird in a cage that can talk.</a:t>
            </a:r>
          </a:p>
          <a:p>
            <a:endParaRPr lang="en-US" dirty="0"/>
          </a:p>
          <a:p>
            <a:endParaRPr lang="en-US" dirty="0"/>
          </a:p>
          <a:p>
            <a:r>
              <a:rPr lang="en-US" dirty="0"/>
              <a:t>Revised: In the cage is a bird that can talk.</a:t>
            </a:r>
            <a:endParaRPr lang="en-IN" dirty="0"/>
          </a:p>
        </p:txBody>
      </p:sp>
    </p:spTree>
    <p:extLst>
      <p:ext uri="{BB962C8B-B14F-4D97-AF65-F5344CB8AC3E}">
        <p14:creationId xmlns:p14="http://schemas.microsoft.com/office/powerpoint/2010/main" xmlns="" val="30588779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1"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Syntactical Word Order</a:t>
            </a:r>
            <a:endParaRPr lang="en-IN" dirty="0">
              <a:latin typeface="Times New Roman" panose="02020603050405020304" pitchFamily="18" charset="0"/>
              <a:cs typeface="Times New Roman" panose="02020603050405020304" pitchFamily="18" charset="0"/>
            </a:endParaRPr>
          </a:p>
        </p:txBody>
      </p:sp>
      <p:sp>
        <p:nvSpPr>
          <p:cNvPr id="1048632" name="Content Placeholder 2"/>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Mr</a:t>
            </a:r>
            <a:r>
              <a:rPr lang="en-US" dirty="0">
                <a:latin typeface="Times New Roman" panose="02020603050405020304" pitchFamily="18" charset="0"/>
                <a:cs typeface="Times New Roman" panose="02020603050405020304" pitchFamily="18" charset="0"/>
              </a:rPr>
              <a:t> Smith was found guilty of keeping a protected animal in the Atherton Magistrates Court after being charged with removing a scrub python from a resident's property.’</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Revised: In the Atherton Magistrates Court, </a:t>
            </a:r>
            <a:r>
              <a:rPr lang="en-US" dirty="0" err="1">
                <a:latin typeface="Times New Roman" panose="02020603050405020304" pitchFamily="18" charset="0"/>
                <a:cs typeface="Times New Roman" panose="02020603050405020304" pitchFamily="18" charset="0"/>
              </a:rPr>
              <a:t>Mr</a:t>
            </a:r>
            <a:r>
              <a:rPr lang="en-US" dirty="0">
                <a:latin typeface="Times New Roman" panose="02020603050405020304" pitchFamily="18" charset="0"/>
                <a:cs typeface="Times New Roman" panose="02020603050405020304" pitchFamily="18" charset="0"/>
              </a:rPr>
              <a:t> Smith was found guilty of keeping a protected animal, a scrub python, after removing it from a resident’s property.’</a:t>
            </a:r>
            <a:endParaRPr lang="en-IN" dirty="0">
              <a:latin typeface="Times New Roman" panose="02020603050405020304" pitchFamily="18" charset="0"/>
              <a:ea typeface="Calibri" panose="020F0502020204030204" pitchFamily="34" charset="0"/>
            </a:endParaRPr>
          </a:p>
          <a:p>
            <a:pPr marL="0" indent="0">
              <a:buNone/>
            </a:pPr>
            <a:endParaRPr lang="en-IN" dirty="0"/>
          </a:p>
          <a:p>
            <a:pPr marL="0" indent="0">
              <a:buNone/>
            </a:pPr>
            <a:r>
              <a:rPr lang="en-US" dirty="0"/>
              <a:t>	</a:t>
            </a:r>
            <a:endParaRPr lang="en-IN"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0D4A99B-83D7-6948-2902-D87BD9E32D74}"/>
            </a:ext>
          </a:extLst>
        </p:cNvPr>
        <p:cNvGrpSpPr/>
        <p:nvPr/>
      </p:nvGrpSpPr>
      <p:grpSpPr>
        <a:xfrm>
          <a:off x="0" y="0"/>
          <a:ext cx="0" cy="0"/>
          <a:chOff x="0" y="0"/>
          <a:chExt cx="0" cy="0"/>
        </a:xfrm>
      </p:grpSpPr>
      <p:sp>
        <p:nvSpPr>
          <p:cNvPr id="1048631" name="Title 1">
            <a:extLst>
              <a:ext uri="{FF2B5EF4-FFF2-40B4-BE49-F238E27FC236}">
                <a16:creationId xmlns:a16="http://schemas.microsoft.com/office/drawing/2014/main" xmlns="" id="{600439B9-0CF0-FE4D-12E2-5FCDA1D47DDE}"/>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Construct Grammatically Correct Sentences</a:t>
            </a:r>
            <a:endParaRPr lang="en-IN" dirty="0">
              <a:latin typeface="Times New Roman" panose="02020603050405020304" pitchFamily="18" charset="0"/>
              <a:cs typeface="Times New Roman" panose="02020603050405020304" pitchFamily="18" charset="0"/>
            </a:endParaRPr>
          </a:p>
        </p:txBody>
      </p:sp>
      <p:sp>
        <p:nvSpPr>
          <p:cNvPr id="1048632" name="Content Placeholder 2">
            <a:extLst>
              <a:ext uri="{FF2B5EF4-FFF2-40B4-BE49-F238E27FC236}">
                <a16:creationId xmlns:a16="http://schemas.microsoft.com/office/drawing/2014/main" xmlns="" id="{FDB77018-BA8D-4BD7-8492-B7CDBD565B79}"/>
              </a:ext>
            </a:extLst>
          </p:cNvPr>
          <p:cNvSpPr>
            <a:spLocks noGrp="1"/>
          </p:cNvSpPr>
          <p:nvPr>
            <p:ph idx="1"/>
          </p:nvPr>
        </p:nvSpPr>
        <p:spPr/>
        <p:txBody>
          <a:bodyPr>
            <a:normAutofit fontScale="55000" lnSpcReduction="20000"/>
          </a:bodyPr>
          <a:lstStyle/>
          <a:p>
            <a:pPr marL="0" indent="0">
              <a:buNone/>
            </a:pPr>
            <a:r>
              <a:rPr lang="en-IN" dirty="0">
                <a:latin typeface="Times New Roman" panose="02020603050405020304" pitchFamily="18" charset="0"/>
                <a:cs typeface="Times New Roman" panose="02020603050405020304" pitchFamily="18" charset="0"/>
              </a:rPr>
              <a:t>Misplaced Modifiers</a:t>
            </a:r>
          </a:p>
          <a:p>
            <a:pPr marL="0" indent="0">
              <a:buNone/>
            </a:pPr>
            <a:endParaRPr lang="en-IN" dirty="0"/>
          </a:p>
          <a:p>
            <a:pPr marL="0" indent="0">
              <a:buNone/>
            </a:pPr>
            <a:r>
              <a:rPr lang="en-IN" dirty="0"/>
              <a:t>1. The Girl was walking the dog on the phone.</a:t>
            </a:r>
          </a:p>
          <a:p>
            <a:pPr marL="0" indent="0">
              <a:buNone/>
            </a:pPr>
            <a:r>
              <a:rPr lang="en-IN" dirty="0"/>
              <a:t>2. The mother went to Delhi to sell off her flat along with her son.</a:t>
            </a:r>
          </a:p>
          <a:p>
            <a:pPr marL="0" indent="0">
              <a:buNone/>
            </a:pPr>
            <a:r>
              <a:rPr lang="en-US" dirty="0"/>
              <a:t>3. For Sale, piano, the property of a musician, with carved legs.</a:t>
            </a:r>
          </a:p>
          <a:p>
            <a:pPr marL="0" indent="0">
              <a:buNone/>
            </a:pPr>
            <a:r>
              <a:rPr lang="en-US" dirty="0"/>
              <a:t>4. A gentleman has a dog to sell who wishes to go abroad.</a:t>
            </a:r>
          </a:p>
          <a:p>
            <a:pPr marL="0" indent="0">
              <a:buNone/>
            </a:pPr>
            <a:r>
              <a:rPr lang="en-US" dirty="0"/>
              <a:t>5. Sometimes you will see an alligator lying in the sunshine on the bank eight feet long.</a:t>
            </a:r>
          </a:p>
          <a:p>
            <a:pPr marL="0" indent="0">
              <a:buNone/>
            </a:pPr>
            <a:r>
              <a:rPr lang="en-US" dirty="0"/>
              <a:t>6. He visited the battlefield where Napoleon was defeated in his holidays.</a:t>
            </a:r>
          </a:p>
          <a:p>
            <a:pPr marL="0" indent="0">
              <a:buNone/>
            </a:pPr>
            <a:r>
              <a:rPr lang="en-US" dirty="0"/>
              <a:t>7. He killed the sparrow which was eating some crumbs with a gun.</a:t>
            </a:r>
          </a:p>
          <a:p>
            <a:pPr marL="0" indent="0">
              <a:buNone/>
            </a:pPr>
            <a:r>
              <a:rPr lang="en-US" dirty="0"/>
              <a:t>8. The constable said that the prisoner seizing a bolster full of rage and fury had knocked the prosecutor down.</a:t>
            </a:r>
          </a:p>
          <a:p>
            <a:pPr marL="0" indent="0">
              <a:buNone/>
            </a:pPr>
            <a:endParaRPr lang="en-US" dirty="0"/>
          </a:p>
          <a:p>
            <a:pPr marL="0" indent="0">
              <a:buNone/>
            </a:pPr>
            <a:r>
              <a:rPr lang="en-US" dirty="0"/>
              <a:t>(Suggested Reading: High School Grammar Composition by Wren and Martin)</a:t>
            </a:r>
          </a:p>
          <a:p>
            <a:pPr marL="0" indent="0">
              <a:buNone/>
            </a:pPr>
            <a:endParaRPr lang="en-IN" dirty="0"/>
          </a:p>
          <a:p>
            <a:pPr marL="0" indent="0">
              <a:buNone/>
            </a:pPr>
            <a:endParaRPr lang="en-IN" dirty="0"/>
          </a:p>
          <a:p>
            <a:pPr marL="0" indent="0">
              <a:buNone/>
            </a:pPr>
            <a:r>
              <a:rPr lang="en-US" dirty="0"/>
              <a:t>	</a:t>
            </a:r>
            <a:endParaRPr lang="en-IN" dirty="0"/>
          </a:p>
        </p:txBody>
      </p:sp>
    </p:spTree>
    <p:extLst>
      <p:ext uri="{BB962C8B-B14F-4D97-AF65-F5344CB8AC3E}">
        <p14:creationId xmlns:p14="http://schemas.microsoft.com/office/powerpoint/2010/main" xmlns="" val="149240471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C272D19-3C29-B38D-E444-45A061B56062}"/>
            </a:ext>
          </a:extLst>
        </p:cNvPr>
        <p:cNvGrpSpPr/>
        <p:nvPr/>
      </p:nvGrpSpPr>
      <p:grpSpPr>
        <a:xfrm>
          <a:off x="0" y="0"/>
          <a:ext cx="0" cy="0"/>
          <a:chOff x="0" y="0"/>
          <a:chExt cx="0" cy="0"/>
        </a:xfrm>
      </p:grpSpPr>
      <p:sp>
        <p:nvSpPr>
          <p:cNvPr id="1048631" name="Title 1">
            <a:extLst>
              <a:ext uri="{FF2B5EF4-FFF2-40B4-BE49-F238E27FC236}">
                <a16:creationId xmlns:a16="http://schemas.microsoft.com/office/drawing/2014/main" xmlns="" id="{9482B50E-B040-5565-672F-E6CEE1A43117}"/>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Construct Grammatically Correct Sentences</a:t>
            </a:r>
            <a:endParaRPr lang="en-IN" dirty="0">
              <a:latin typeface="Times New Roman" panose="02020603050405020304" pitchFamily="18" charset="0"/>
              <a:cs typeface="Times New Roman" panose="02020603050405020304" pitchFamily="18" charset="0"/>
            </a:endParaRPr>
          </a:p>
        </p:txBody>
      </p:sp>
      <p:sp>
        <p:nvSpPr>
          <p:cNvPr id="1048632" name="Content Placeholder 2">
            <a:extLst>
              <a:ext uri="{FF2B5EF4-FFF2-40B4-BE49-F238E27FC236}">
                <a16:creationId xmlns:a16="http://schemas.microsoft.com/office/drawing/2014/main" xmlns="" id="{B1CE5FF6-4C2C-389A-53A4-4BB58A0F18C6}"/>
              </a:ext>
            </a:extLst>
          </p:cNvPr>
          <p:cNvSpPr>
            <a:spLocks noGrp="1"/>
          </p:cNvSpPr>
          <p:nvPr>
            <p:ph idx="1"/>
          </p:nvPr>
        </p:nvSpPr>
        <p:spPr/>
        <p:txBody>
          <a:bodyPr>
            <a:normAutofit fontScale="55000" lnSpcReduction="20000"/>
          </a:bodyPr>
          <a:lstStyle/>
          <a:p>
            <a:pPr marL="0" indent="0">
              <a:buNone/>
            </a:pPr>
            <a:r>
              <a:rPr lang="en-IN" dirty="0">
                <a:latin typeface="Times New Roman" panose="02020603050405020304" pitchFamily="18" charset="0"/>
                <a:cs typeface="Times New Roman" panose="02020603050405020304" pitchFamily="18" charset="0"/>
              </a:rPr>
              <a:t>Misplaced Modifiers</a:t>
            </a:r>
          </a:p>
          <a:p>
            <a:pPr marL="0" indent="0">
              <a:buNone/>
            </a:pPr>
            <a:endParaRPr lang="en-IN" dirty="0"/>
          </a:p>
          <a:p>
            <a:pPr marL="0" indent="0">
              <a:buNone/>
            </a:pPr>
            <a:r>
              <a:rPr lang="en-IN" dirty="0"/>
              <a:t>1. The Girl on the phone was walking the dog.</a:t>
            </a:r>
          </a:p>
          <a:p>
            <a:pPr marL="0" indent="0">
              <a:buNone/>
            </a:pPr>
            <a:r>
              <a:rPr lang="en-IN" dirty="0"/>
              <a:t>2. The mother, along with her son, went to Delhi to sell off her flat.</a:t>
            </a:r>
          </a:p>
          <a:p>
            <a:pPr marL="0" indent="0">
              <a:buNone/>
            </a:pPr>
            <a:r>
              <a:rPr lang="en-US" dirty="0"/>
              <a:t>3. For Sale, a piano with carved legs, the property of a musician.</a:t>
            </a:r>
          </a:p>
          <a:p>
            <a:pPr marL="0" indent="0">
              <a:buNone/>
            </a:pPr>
            <a:r>
              <a:rPr lang="en-US" dirty="0"/>
              <a:t>4. A gentleman who wishes to go abroad has a dog to sell.</a:t>
            </a:r>
          </a:p>
          <a:p>
            <a:pPr marL="0" indent="0">
              <a:buNone/>
            </a:pPr>
            <a:r>
              <a:rPr lang="en-US" dirty="0"/>
              <a:t>5. Sometimes you will see an alligator eight feet long on the bank lying in the sunshine.</a:t>
            </a:r>
          </a:p>
          <a:p>
            <a:pPr marL="0" indent="0">
              <a:buNone/>
            </a:pPr>
            <a:r>
              <a:rPr lang="en-US" dirty="0"/>
              <a:t>6. During his holidays, He visited the battlefield where Napoleon was defeated.</a:t>
            </a:r>
          </a:p>
          <a:p>
            <a:pPr marL="0" indent="0">
              <a:buNone/>
            </a:pPr>
            <a:r>
              <a:rPr lang="en-US" dirty="0"/>
              <a:t>7. He, with a gun, killed the sparrow which was eating some crumbs.</a:t>
            </a:r>
          </a:p>
          <a:p>
            <a:pPr marL="0" indent="0">
              <a:buNone/>
            </a:pPr>
            <a:r>
              <a:rPr lang="en-US" dirty="0"/>
              <a:t>8. The constable said that the prisoner, full of rage and fury, had knocked the prosecutor down.</a:t>
            </a:r>
          </a:p>
          <a:p>
            <a:pPr marL="0" indent="0">
              <a:buNone/>
            </a:pPr>
            <a:endParaRPr lang="en-US" dirty="0"/>
          </a:p>
          <a:p>
            <a:pPr marL="0" indent="0">
              <a:buNone/>
            </a:pPr>
            <a:r>
              <a:rPr lang="en-US" dirty="0"/>
              <a:t>(Suggested Reading: High School Grammar Composition by Wren and Martin)</a:t>
            </a:r>
          </a:p>
          <a:p>
            <a:pPr marL="0" indent="0">
              <a:buNone/>
            </a:pPr>
            <a:endParaRPr lang="en-IN" dirty="0"/>
          </a:p>
          <a:p>
            <a:pPr marL="0" indent="0">
              <a:buNone/>
            </a:pPr>
            <a:endParaRPr lang="en-IN" dirty="0"/>
          </a:p>
          <a:p>
            <a:pPr marL="0" indent="0">
              <a:buNone/>
            </a:pPr>
            <a:r>
              <a:rPr lang="en-US" dirty="0"/>
              <a:t>	</a:t>
            </a:r>
            <a:endParaRPr lang="en-IN" dirty="0"/>
          </a:p>
        </p:txBody>
      </p:sp>
    </p:spTree>
    <p:extLst>
      <p:ext uri="{BB962C8B-B14F-4D97-AF65-F5344CB8AC3E}">
        <p14:creationId xmlns:p14="http://schemas.microsoft.com/office/powerpoint/2010/main" xmlns="" val="29402074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Title 1"/>
          <p:cNvSpPr>
            <a:spLocks noGrp="1"/>
          </p:cNvSpPr>
          <p:nvPr>
            <p:ph type="title"/>
          </p:nvPr>
        </p:nvSpPr>
        <p:spPr/>
        <p:txBody>
          <a:bodyPr/>
          <a:lstStyle/>
          <a:p>
            <a:pPr algn="ctr"/>
            <a:r>
              <a:rPr lang="en-IN" dirty="0"/>
              <a:t>Dangling Modifiers</a:t>
            </a:r>
          </a:p>
        </p:txBody>
      </p:sp>
      <p:sp>
        <p:nvSpPr>
          <p:cNvPr id="1048634" name="Content Placeholder 2"/>
          <p:cNvSpPr>
            <a:spLocks noGrp="1"/>
          </p:cNvSpPr>
          <p:nvPr>
            <p:ph idx="1"/>
          </p:nvPr>
        </p:nvSpPr>
        <p:spPr/>
        <p:txBody>
          <a:bodyPr/>
          <a:lstStyle/>
          <a:p>
            <a:pPr marL="514350" indent="-514350">
              <a:buFont typeface="+mj-lt"/>
              <a:buAutoNum type="arabicPeriod"/>
            </a:pPr>
            <a:r>
              <a:rPr lang="en-US" dirty="0"/>
              <a:t> Writing carefully, the essay was finished in time to hand in.	</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r>
              <a:rPr lang="en-US" dirty="0"/>
              <a:t> At the age of four, my grandmother taught me to knit.</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r>
              <a:rPr lang="en-US" dirty="0"/>
              <a:t>Crowded in the car, the trip was uncomfortable.</a:t>
            </a:r>
          </a:p>
          <a:p>
            <a:endParaRPr lang="en-IN"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88ADF0B-6A9C-7A69-9AC5-D45567AD525A}"/>
            </a:ext>
          </a:extLst>
        </p:cNvPr>
        <p:cNvGrpSpPr/>
        <p:nvPr/>
      </p:nvGrpSpPr>
      <p:grpSpPr>
        <a:xfrm>
          <a:off x="0" y="0"/>
          <a:ext cx="0" cy="0"/>
          <a:chOff x="0" y="0"/>
          <a:chExt cx="0" cy="0"/>
        </a:xfrm>
      </p:grpSpPr>
      <p:sp>
        <p:nvSpPr>
          <p:cNvPr id="1048633" name="Title 1">
            <a:extLst>
              <a:ext uri="{FF2B5EF4-FFF2-40B4-BE49-F238E27FC236}">
                <a16:creationId xmlns:a16="http://schemas.microsoft.com/office/drawing/2014/main" xmlns="" id="{A4D085C7-4C2C-AEA8-94D7-8A35260F574F}"/>
              </a:ext>
            </a:extLst>
          </p:cNvPr>
          <p:cNvSpPr>
            <a:spLocks noGrp="1"/>
          </p:cNvSpPr>
          <p:nvPr>
            <p:ph type="title"/>
          </p:nvPr>
        </p:nvSpPr>
        <p:spPr/>
        <p:txBody>
          <a:bodyPr/>
          <a:lstStyle/>
          <a:p>
            <a:pPr algn="ctr"/>
            <a:r>
              <a:rPr lang="en-IN" dirty="0"/>
              <a:t>Dangling Modifiers</a:t>
            </a:r>
          </a:p>
        </p:txBody>
      </p:sp>
      <p:sp>
        <p:nvSpPr>
          <p:cNvPr id="1048634" name="Content Placeholder 2">
            <a:extLst>
              <a:ext uri="{FF2B5EF4-FFF2-40B4-BE49-F238E27FC236}">
                <a16:creationId xmlns:a16="http://schemas.microsoft.com/office/drawing/2014/main" xmlns="" id="{D618A911-546F-1353-332A-A8B2D060C8F3}"/>
              </a:ext>
            </a:extLst>
          </p:cNvPr>
          <p:cNvSpPr>
            <a:spLocks noGrp="1"/>
          </p:cNvSpPr>
          <p:nvPr>
            <p:ph idx="1"/>
          </p:nvPr>
        </p:nvSpPr>
        <p:spPr/>
        <p:txBody>
          <a:bodyPr/>
          <a:lstStyle/>
          <a:p>
            <a:pPr marL="514350" indent="-514350">
              <a:buFont typeface="+mj-lt"/>
              <a:buAutoNum type="arabicPeriod"/>
            </a:pPr>
            <a:r>
              <a:rPr lang="en-US" dirty="0"/>
              <a:t> Writing carefully, the essay was finished in time to hand in.		Writing carefully, I finished the essay in time to hand it in</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r>
              <a:rPr lang="en-US" dirty="0"/>
              <a:t> At the age of four, my grandmother taught me to knit. 		When I was four, my grandmother taught me to knit.</a:t>
            </a:r>
          </a:p>
          <a:p>
            <a:pPr marL="514350" indent="-514350">
              <a:buFont typeface="+mj-lt"/>
              <a:buAutoNum type="arabicPeriod"/>
            </a:pPr>
            <a:endParaRPr lang="en-US" dirty="0"/>
          </a:p>
          <a:p>
            <a:pPr marL="514350" indent="-514350">
              <a:buFont typeface="+mj-lt"/>
              <a:buAutoNum type="arabicPeriod"/>
            </a:pPr>
            <a:r>
              <a:rPr lang="en-US" dirty="0"/>
              <a:t>Crowded in the car, the trip was uncomfortable. 			Since the car was crowded, the trip was uncomfortable</a:t>
            </a:r>
          </a:p>
          <a:p>
            <a:endParaRPr lang="en-IN" dirty="0"/>
          </a:p>
        </p:txBody>
      </p:sp>
    </p:spTree>
    <p:extLst>
      <p:ext uri="{BB962C8B-B14F-4D97-AF65-F5344CB8AC3E}">
        <p14:creationId xmlns:p14="http://schemas.microsoft.com/office/powerpoint/2010/main" xmlns="" val="331306617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D5C43F-848B-6B91-94E0-4D55F4836BF7}"/>
              </a:ext>
            </a:extLst>
          </p:cNvPr>
          <p:cNvSpPr>
            <a:spLocks noGrp="1"/>
          </p:cNvSpPr>
          <p:nvPr>
            <p:ph type="title"/>
          </p:nvPr>
        </p:nvSpPr>
        <p:spPr/>
        <p:txBody>
          <a:bodyPr/>
          <a:lstStyle/>
          <a:p>
            <a:pPr algn="ctr"/>
            <a:r>
              <a:rPr lang="en-US" dirty="0"/>
              <a:t>Be Clear</a:t>
            </a:r>
            <a:endParaRPr lang="en-IN" dirty="0"/>
          </a:p>
        </p:txBody>
      </p:sp>
      <p:sp>
        <p:nvSpPr>
          <p:cNvPr id="3" name="Content Placeholder 2">
            <a:extLst>
              <a:ext uri="{FF2B5EF4-FFF2-40B4-BE49-F238E27FC236}">
                <a16:creationId xmlns:a16="http://schemas.microsoft.com/office/drawing/2014/main" xmlns="" id="{090961AD-DE4E-142A-D49C-165470EEA7CA}"/>
              </a:ext>
            </a:extLst>
          </p:cNvPr>
          <p:cNvSpPr>
            <a:spLocks noGrp="1"/>
          </p:cNvSpPr>
          <p:nvPr>
            <p:ph idx="1"/>
          </p:nvPr>
        </p:nvSpPr>
        <p:spPr/>
        <p:txBody>
          <a:bodyPr/>
          <a:lstStyle/>
          <a:p>
            <a:endParaRPr lang="en-US" b="1" dirty="0"/>
          </a:p>
          <a:p>
            <a:endParaRPr lang="en-US" b="1" dirty="0"/>
          </a:p>
          <a:p>
            <a:endParaRPr lang="en-US" b="1" dirty="0"/>
          </a:p>
          <a:p>
            <a:pPr marL="0" indent="0">
              <a:buNone/>
            </a:pPr>
            <a:r>
              <a:rPr lang="en-US" b="1" dirty="0"/>
              <a:t>			Brené Brown says, “Clear is kind.”</a:t>
            </a:r>
            <a:endParaRPr lang="en-IN" b="1" dirty="0"/>
          </a:p>
          <a:p>
            <a:endParaRPr lang="en-IN" dirty="0"/>
          </a:p>
        </p:txBody>
      </p:sp>
    </p:spTree>
    <p:extLst>
      <p:ext uri="{BB962C8B-B14F-4D97-AF65-F5344CB8AC3E}">
        <p14:creationId xmlns:p14="http://schemas.microsoft.com/office/powerpoint/2010/main" xmlns="" val="378606327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7" name="Title 1"/>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Eliminating Clichés and Euphemisms</a:t>
            </a:r>
          </a:p>
        </p:txBody>
      </p:sp>
      <p:sp>
        <p:nvSpPr>
          <p:cNvPr id="1048688" name="Content Placeholder 2"/>
          <p:cNvSpPr>
            <a:spLocks noGrp="1"/>
          </p:cNvSpPr>
          <p:nvPr>
            <p:ph idx="1"/>
          </p:nvPr>
        </p:nvSpPr>
        <p:spPr/>
        <p:txBody>
          <a:bodyPr>
            <a:normAutofit/>
          </a:bodyPr>
          <a:lstStyle/>
          <a:p>
            <a:r>
              <a:rPr lang="en-US" b="1" dirty="0"/>
              <a:t>Cliches: Familiar and repetitive phrases that have lost their novelty due to overuse</a:t>
            </a:r>
            <a:r>
              <a:rPr lang="en-US" dirty="0"/>
              <a:t>.</a:t>
            </a:r>
          </a:p>
          <a:p>
            <a:endParaRPr lang="en-US" dirty="0"/>
          </a:p>
          <a:p>
            <a:endParaRPr lang="en-US" dirty="0"/>
          </a:p>
          <a:p>
            <a:r>
              <a:rPr lang="en-US" dirty="0"/>
              <a:t>For Example:  ‘We’re Like A Family’, ‘Putting People First’, ‘Innovative Solutions’, ‘Cascade The Information’, ‘The Leading company’, food for thought, last but not least, fishing in troubled waters. </a:t>
            </a:r>
          </a:p>
          <a:p>
            <a:endParaRPr lang="en-US" dirty="0"/>
          </a:p>
          <a:p>
            <a:endParaRPr lang="en-US" dirty="0"/>
          </a:p>
          <a:p>
            <a:endParaRPr lang="en-US" dirty="0"/>
          </a:p>
          <a:p>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5"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Substitute </a:t>
            </a:r>
            <a:r>
              <a:rPr lang="en-IN" dirty="0">
                <a:latin typeface="Times New Roman" panose="02020603050405020304" pitchFamily="18" charset="0"/>
                <a:cs typeface="Times New Roman" panose="02020603050405020304" pitchFamily="18" charset="0"/>
              </a:rPr>
              <a:t>Clichés</a:t>
            </a:r>
          </a:p>
        </p:txBody>
      </p:sp>
      <p:sp>
        <p:nvSpPr>
          <p:cNvPr id="1048626" name="Content Placeholder 2"/>
          <p:cNvSpPr>
            <a:spLocks noGrp="1"/>
          </p:cNvSpPr>
          <p:nvPr>
            <p:ph idx="1"/>
          </p:nvPr>
        </p:nvSpPr>
        <p:spPr/>
        <p:txBody>
          <a:bodyPr/>
          <a:lstStyle/>
          <a:p>
            <a:pPr marL="514350" indent="-514350">
              <a:buAutoNum type="arabicPeriod"/>
            </a:pPr>
            <a:r>
              <a:rPr lang="en-US" dirty="0">
                <a:latin typeface="Times New Roman" panose="02020603050405020304" pitchFamily="18" charset="0"/>
                <a:cs typeface="Times New Roman" panose="02020603050405020304" pitchFamily="18" charset="0"/>
              </a:rPr>
              <a:t>The report discusses threadbare the problem of air pollution in India.</a:t>
            </a:r>
          </a:p>
          <a:p>
            <a:pPr marL="514350" indent="-514350">
              <a:buAutoNum type="arabicPeriod"/>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report discusses the problem of air pollution in India in detail.													</a:t>
            </a:r>
          </a:p>
          <a:p>
            <a:pPr marL="514350" indent="-514350">
              <a:buAutoNum type="arabicPeriod" startAt="2"/>
            </a:pPr>
            <a:r>
              <a:rPr lang="en-US" dirty="0">
                <a:latin typeface="Times New Roman" panose="02020603050405020304" pitchFamily="18" charset="0"/>
                <a:cs typeface="Times New Roman" panose="02020603050405020304" pitchFamily="18" charset="0"/>
              </a:rPr>
              <a:t>The engineers left no stone unturned to construct the bridge in time.</a:t>
            </a:r>
          </a:p>
          <a:p>
            <a:pPr marL="514350" indent="-514350">
              <a:buAutoNum type="arabicPeriod" startAt="2"/>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engineers worked systematically to construct the bridge on time.</a:t>
            </a:r>
          </a:p>
          <a:p>
            <a:endParaRPr lang="en-IN"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62F147-6FAF-5060-5ACB-D933507D6ADB}"/>
              </a:ext>
            </a:extLst>
          </p:cNvPr>
          <p:cNvSpPr>
            <a:spLocks noGrp="1"/>
          </p:cNvSpPr>
          <p:nvPr>
            <p:ph type="title"/>
          </p:nvPr>
        </p:nvSpPr>
        <p:spPr>
          <a:xfrm>
            <a:off x="838200" y="365126"/>
            <a:ext cx="10515600" cy="583142"/>
          </a:xfrm>
        </p:spPr>
        <p:txBody>
          <a:bodyPr>
            <a:normAutofit fontScale="90000"/>
          </a:bodyPr>
          <a:lstStyle/>
          <a:p>
            <a:pPr algn="ctr"/>
            <a:r>
              <a:rPr lang="en-US" dirty="0"/>
              <a:t>Substitute Cliches </a:t>
            </a:r>
            <a:endParaRPr lang="en-IN" dirty="0"/>
          </a:p>
        </p:txBody>
      </p:sp>
      <p:sp>
        <p:nvSpPr>
          <p:cNvPr id="3" name="Content Placeholder 2">
            <a:extLst>
              <a:ext uri="{FF2B5EF4-FFF2-40B4-BE49-F238E27FC236}">
                <a16:creationId xmlns:a16="http://schemas.microsoft.com/office/drawing/2014/main" xmlns="" id="{231FC7BA-680E-1D85-CFC0-29CA0FE888C5}"/>
              </a:ext>
            </a:extLst>
          </p:cNvPr>
          <p:cNvSpPr>
            <a:spLocks noGrp="1"/>
          </p:cNvSpPr>
          <p:nvPr>
            <p:ph idx="1"/>
          </p:nvPr>
        </p:nvSpPr>
        <p:spPr>
          <a:xfrm>
            <a:off x="838200" y="872066"/>
            <a:ext cx="10515600" cy="5985933"/>
          </a:xfrm>
        </p:spPr>
        <p:txBody>
          <a:bodyPr>
            <a:normAutofit fontScale="85000" lnSpcReduction="20000"/>
          </a:bodyPr>
          <a:lstStyle/>
          <a:p>
            <a:r>
              <a:rPr lang="en-US" dirty="0"/>
              <a:t>1. Acid test → Ultimate evaluation</a:t>
            </a:r>
          </a:p>
          <a:p>
            <a:r>
              <a:rPr lang="en-US" dirty="0"/>
              <a:t>2. At loose ends → Without a plan</a:t>
            </a:r>
          </a:p>
          <a:p>
            <a:r>
              <a:rPr lang="en-US" dirty="0"/>
              <a:t>3. Babe in the woods → Completely inexperienced</a:t>
            </a:r>
          </a:p>
          <a:p>
            <a:r>
              <a:rPr lang="en-US" dirty="0"/>
              <a:t>4. Better late than never → It's still worth doing, even if it's late</a:t>
            </a:r>
          </a:p>
          <a:p>
            <a:r>
              <a:rPr lang="en-US" dirty="0"/>
              <a:t>5. Brought back to reality → Returned to a realistic perspective</a:t>
            </a:r>
          </a:p>
          <a:p>
            <a:r>
              <a:rPr lang="en-US" dirty="0"/>
              <a:t>6. Black as pitch → Extremely dark</a:t>
            </a:r>
          </a:p>
          <a:p>
            <a:r>
              <a:rPr lang="en-US" dirty="0"/>
              <a:t>7. Blind as a bat → Completely unaware</a:t>
            </a:r>
          </a:p>
          <a:p>
            <a:r>
              <a:rPr lang="en-US" dirty="0"/>
              <a:t>8. Bolt from the blue → Unexpected surprise</a:t>
            </a:r>
          </a:p>
          <a:p>
            <a:r>
              <a:rPr lang="en-US" dirty="0"/>
              <a:t>9. Busy as a bee/beaver → Extremely busy</a:t>
            </a:r>
          </a:p>
          <a:p>
            <a:r>
              <a:rPr lang="en-US" dirty="0"/>
              <a:t>10. Cat's meow → Excellent or wonderful</a:t>
            </a:r>
          </a:p>
          <a:p>
            <a:r>
              <a:rPr lang="en-US" dirty="0"/>
              <a:t>11. Cool as a cucumber → Completely calm</a:t>
            </a:r>
          </a:p>
          <a:p>
            <a:r>
              <a:rPr lang="en-US" dirty="0"/>
              <a:t>12. Cool, calm, and collected → Composed and serene</a:t>
            </a:r>
          </a:p>
          <a:p>
            <a:r>
              <a:rPr lang="en-US" dirty="0"/>
              <a:t>13. Crack of dawn → Early morning</a:t>
            </a:r>
          </a:p>
          <a:p>
            <a:r>
              <a:rPr lang="en-US" dirty="0"/>
              <a:t>14. Crushing blow → Devastating setback</a:t>
            </a:r>
          </a:p>
          <a:p>
            <a:r>
              <a:rPr lang="en-US" dirty="0"/>
              <a:t>15. Cry over spilt milk → Worry about something that's already happened and can't be changed</a:t>
            </a:r>
            <a:endParaRPr lang="en-IN" dirty="0"/>
          </a:p>
        </p:txBody>
      </p:sp>
    </p:spTree>
    <p:extLst>
      <p:ext uri="{BB962C8B-B14F-4D97-AF65-F5344CB8AC3E}">
        <p14:creationId xmlns:p14="http://schemas.microsoft.com/office/powerpoint/2010/main" xmlns="" val="43097253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407CEE-4F64-D66A-537B-F7DD5EF88451}"/>
              </a:ext>
            </a:extLst>
          </p:cNvPr>
          <p:cNvSpPr>
            <a:spLocks noGrp="1"/>
          </p:cNvSpPr>
          <p:nvPr>
            <p:ph type="title"/>
          </p:nvPr>
        </p:nvSpPr>
        <p:spPr>
          <a:xfrm>
            <a:off x="838200" y="365125"/>
            <a:ext cx="10515600" cy="600075"/>
          </a:xfrm>
        </p:spPr>
        <p:txBody>
          <a:bodyPr>
            <a:normAutofit fontScale="90000"/>
          </a:bodyPr>
          <a:lstStyle/>
          <a:p>
            <a:pPr algn="ctr"/>
            <a:r>
              <a:rPr lang="en-US" dirty="0"/>
              <a:t>Substitute Cliches</a:t>
            </a:r>
            <a:endParaRPr lang="en-IN" dirty="0"/>
          </a:p>
        </p:txBody>
      </p:sp>
      <p:sp>
        <p:nvSpPr>
          <p:cNvPr id="3" name="Content Placeholder 2">
            <a:extLst>
              <a:ext uri="{FF2B5EF4-FFF2-40B4-BE49-F238E27FC236}">
                <a16:creationId xmlns:a16="http://schemas.microsoft.com/office/drawing/2014/main" xmlns="" id="{95F78616-A4BC-80D3-9943-5E51E15E399F}"/>
              </a:ext>
            </a:extLst>
          </p:cNvPr>
          <p:cNvSpPr>
            <a:spLocks noGrp="1"/>
          </p:cNvSpPr>
          <p:nvPr>
            <p:ph idx="1"/>
          </p:nvPr>
        </p:nvSpPr>
        <p:spPr>
          <a:xfrm>
            <a:off x="194733" y="1168400"/>
            <a:ext cx="11811000" cy="5604933"/>
          </a:xfrm>
        </p:spPr>
        <p:txBody>
          <a:bodyPr>
            <a:normAutofit fontScale="77500" lnSpcReduction="20000"/>
          </a:bodyPr>
          <a:lstStyle/>
          <a:p>
            <a:r>
              <a:rPr lang="en-US" dirty="0"/>
              <a:t>16. Dead as a doornail → Completely lifeless</a:t>
            </a:r>
          </a:p>
          <a:p>
            <a:r>
              <a:rPr lang="en-US" dirty="0"/>
              <a:t>17. Dog-eat-dog world → Highly competitive environment</a:t>
            </a:r>
          </a:p>
          <a:p>
            <a:r>
              <a:rPr lang="en-US" dirty="0"/>
              <a:t>18. Don't count your chickens → Don't assume something will happen until it's confirmed</a:t>
            </a:r>
          </a:p>
          <a:p>
            <a:r>
              <a:rPr lang="en-US" dirty="0"/>
              <a:t>19. Dyed in the wool → Strongly committed to a particular belief or ideology</a:t>
            </a:r>
          </a:p>
          <a:p>
            <a:r>
              <a:rPr lang="en-US" dirty="0"/>
              <a:t>20. Easier said than done → More difficult to do than to talk about</a:t>
            </a:r>
          </a:p>
          <a:p>
            <a:r>
              <a:rPr lang="en-US" dirty="0"/>
              <a:t>21. Easy as pie → Extremely simple</a:t>
            </a:r>
          </a:p>
          <a:p>
            <a:r>
              <a:rPr lang="en-US" dirty="0"/>
              <a:t>22. Feathered friends → Birds</a:t>
            </a:r>
          </a:p>
          <a:p>
            <a:r>
              <a:rPr lang="en-US" dirty="0"/>
              <a:t>23. Face the music → Accept the consequences</a:t>
            </a:r>
          </a:p>
          <a:p>
            <a:r>
              <a:rPr lang="en-US" dirty="0"/>
              <a:t>24. Flash in the pan → Brief success</a:t>
            </a:r>
          </a:p>
          <a:p>
            <a:r>
              <a:rPr lang="en-US" dirty="0"/>
              <a:t>25. Flat as a pancake → Completely flat</a:t>
            </a:r>
          </a:p>
          <a:p>
            <a:r>
              <a:rPr lang="en-US" dirty="0"/>
              <a:t>26. Gentle as a lamb → Extremely gentle</a:t>
            </a:r>
          </a:p>
          <a:p>
            <a:r>
              <a:rPr lang="en-US" dirty="0"/>
              <a:t>27. Go at it tooth and nail → Fight fiercely</a:t>
            </a:r>
          </a:p>
          <a:p>
            <a:r>
              <a:rPr lang="en-US" dirty="0"/>
              <a:t>28. Good time was had by all → Everyone enjoyed themselves</a:t>
            </a:r>
          </a:p>
          <a:p>
            <a:r>
              <a:rPr lang="en-US" dirty="0"/>
              <a:t>29. Greased lightning → Extremely fast</a:t>
            </a:r>
          </a:p>
          <a:p>
            <a:r>
              <a:rPr lang="en-US" dirty="0"/>
              <a:t>30. Happy as a lark → Extremely happy</a:t>
            </a:r>
          </a:p>
        </p:txBody>
      </p:sp>
    </p:spTree>
    <p:extLst>
      <p:ext uri="{BB962C8B-B14F-4D97-AF65-F5344CB8AC3E}">
        <p14:creationId xmlns:p14="http://schemas.microsoft.com/office/powerpoint/2010/main" xmlns="" val="206026200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DBFE120-A7A8-16DF-5A31-138E9F2945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7727EB5-2010-CE5F-D513-30BC1C292E86}"/>
              </a:ext>
            </a:extLst>
          </p:cNvPr>
          <p:cNvSpPr>
            <a:spLocks noGrp="1"/>
          </p:cNvSpPr>
          <p:nvPr>
            <p:ph type="title"/>
          </p:nvPr>
        </p:nvSpPr>
        <p:spPr>
          <a:xfrm>
            <a:off x="838200" y="365125"/>
            <a:ext cx="10515600" cy="600075"/>
          </a:xfrm>
        </p:spPr>
        <p:txBody>
          <a:bodyPr>
            <a:normAutofit fontScale="90000"/>
          </a:bodyPr>
          <a:lstStyle/>
          <a:p>
            <a:pPr algn="ctr"/>
            <a:r>
              <a:rPr lang="en-US" dirty="0"/>
              <a:t>Substitute Cliches</a:t>
            </a:r>
            <a:endParaRPr lang="en-IN" dirty="0"/>
          </a:p>
        </p:txBody>
      </p:sp>
      <p:sp>
        <p:nvSpPr>
          <p:cNvPr id="3" name="Content Placeholder 2">
            <a:extLst>
              <a:ext uri="{FF2B5EF4-FFF2-40B4-BE49-F238E27FC236}">
                <a16:creationId xmlns:a16="http://schemas.microsoft.com/office/drawing/2014/main" xmlns="" id="{23507EE3-BA2D-0B37-8208-FDD17E503C33}"/>
              </a:ext>
            </a:extLst>
          </p:cNvPr>
          <p:cNvSpPr>
            <a:spLocks noGrp="1"/>
          </p:cNvSpPr>
          <p:nvPr>
            <p:ph idx="1"/>
          </p:nvPr>
        </p:nvSpPr>
        <p:spPr>
          <a:xfrm>
            <a:off x="194733" y="1168400"/>
            <a:ext cx="11811000" cy="5604933"/>
          </a:xfrm>
        </p:spPr>
        <p:txBody>
          <a:bodyPr>
            <a:normAutofit/>
          </a:bodyPr>
          <a:lstStyle/>
          <a:p>
            <a:r>
              <a:rPr lang="en-US" dirty="0"/>
              <a:t>31. Head over heels → Completely in love</a:t>
            </a:r>
          </a:p>
          <a:p>
            <a:r>
              <a:rPr lang="en-US" dirty="0"/>
              <a:t>32. Heavy as lead → Extremely heavy</a:t>
            </a:r>
          </a:p>
          <a:p>
            <a:r>
              <a:rPr lang="en-US" dirty="0"/>
              <a:t>33. Horns of a dilemma → Difficult choice</a:t>
            </a:r>
          </a:p>
          <a:p>
            <a:r>
              <a:rPr lang="en-US" dirty="0"/>
              <a:t>34. Hour of need → Time of crisis</a:t>
            </a:r>
          </a:p>
          <a:p>
            <a:r>
              <a:rPr lang="en-US" dirty="0"/>
              <a:t>35. Keep a stiff upper lip → Remain calm and composed</a:t>
            </a:r>
          </a:p>
          <a:p>
            <a:r>
              <a:rPr lang="en-US" dirty="0"/>
              <a:t>36. Ladder of success → Path to achievement</a:t>
            </a:r>
          </a:p>
          <a:p>
            <a:r>
              <a:rPr lang="en-US" dirty="0"/>
              <a:t>37. Last but not least → Finally, but importantly</a:t>
            </a:r>
          </a:p>
          <a:p>
            <a:r>
              <a:rPr lang="en-US" dirty="0"/>
              <a:t>38. Looking a gift horse in the mouth → Questioning or criticizing something that's been given to you for free</a:t>
            </a:r>
            <a:endParaRPr lang="en-IN" dirty="0"/>
          </a:p>
          <a:p>
            <a:endParaRPr lang="en-US" dirty="0"/>
          </a:p>
        </p:txBody>
      </p:sp>
    </p:spTree>
    <p:extLst>
      <p:ext uri="{BB962C8B-B14F-4D97-AF65-F5344CB8AC3E}">
        <p14:creationId xmlns:p14="http://schemas.microsoft.com/office/powerpoint/2010/main" xmlns="" val="342401312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42A808-F889-9EBC-5986-50C4C23ACB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924639B-041B-D6A8-AA07-7714C023E302}"/>
              </a:ext>
            </a:extLst>
          </p:cNvPr>
          <p:cNvSpPr>
            <a:spLocks noGrp="1"/>
          </p:cNvSpPr>
          <p:nvPr>
            <p:ph type="title"/>
          </p:nvPr>
        </p:nvSpPr>
        <p:spPr>
          <a:xfrm>
            <a:off x="838200" y="365125"/>
            <a:ext cx="10515600" cy="600075"/>
          </a:xfrm>
        </p:spPr>
        <p:txBody>
          <a:bodyPr>
            <a:normAutofit fontScale="90000"/>
          </a:bodyPr>
          <a:lstStyle/>
          <a:p>
            <a:pPr algn="ctr"/>
            <a:r>
              <a:rPr lang="en-US" dirty="0"/>
              <a:t>Substitute Cliches</a:t>
            </a:r>
            <a:endParaRPr lang="en-IN" dirty="0"/>
          </a:p>
        </p:txBody>
      </p:sp>
      <p:sp>
        <p:nvSpPr>
          <p:cNvPr id="3" name="Content Placeholder 2">
            <a:extLst>
              <a:ext uri="{FF2B5EF4-FFF2-40B4-BE49-F238E27FC236}">
                <a16:creationId xmlns:a16="http://schemas.microsoft.com/office/drawing/2014/main" xmlns="" id="{74FB624B-D83F-1A45-D0D7-E2B0C8B1ADE4}"/>
              </a:ext>
            </a:extLst>
          </p:cNvPr>
          <p:cNvSpPr>
            <a:spLocks noGrp="1"/>
          </p:cNvSpPr>
          <p:nvPr>
            <p:ph idx="1"/>
          </p:nvPr>
        </p:nvSpPr>
        <p:spPr>
          <a:xfrm>
            <a:off x="194733" y="1168400"/>
            <a:ext cx="11811000" cy="5604933"/>
          </a:xfrm>
        </p:spPr>
        <p:txBody>
          <a:bodyPr>
            <a:normAutofit fontScale="40000" lnSpcReduction="20000"/>
          </a:bodyPr>
          <a:lstStyle/>
          <a:p>
            <a:r>
              <a:rPr lang="en-US" dirty="0"/>
              <a:t>39. Meaningful dialogue → Thoughtful conversation</a:t>
            </a:r>
          </a:p>
          <a:p>
            <a:r>
              <a:rPr lang="en-US" dirty="0"/>
              <a:t>40. Moving experience → Emotional event</a:t>
            </a:r>
          </a:p>
          <a:p>
            <a:r>
              <a:rPr lang="en-US" dirty="0"/>
              <a:t>41. Needle in a haystack → Extremely difficult to find</a:t>
            </a:r>
          </a:p>
          <a:p>
            <a:r>
              <a:rPr lang="en-US" dirty="0"/>
              <a:t>42. Open-and-shut case → Clear-cut situation</a:t>
            </a:r>
          </a:p>
          <a:p>
            <a:r>
              <a:rPr lang="en-US" dirty="0"/>
              <a:t>43. Point with pride → Take pride in</a:t>
            </a:r>
          </a:p>
          <a:p>
            <a:r>
              <a:rPr lang="en-US" dirty="0"/>
              <a:t>44. Pretty as a picture → Visually appealing</a:t>
            </a:r>
          </a:p>
          <a:p>
            <a:r>
              <a:rPr lang="en-US" dirty="0"/>
              <a:t>45. Put it in a nutshell → Summarize briefly</a:t>
            </a:r>
          </a:p>
          <a:p>
            <a:r>
              <a:rPr lang="en-US" dirty="0"/>
              <a:t>46. Quick as a flash/wink → Extremely fast</a:t>
            </a:r>
          </a:p>
          <a:p>
            <a:r>
              <a:rPr lang="en-US" dirty="0"/>
              <a:t>47. Rat race → Frenzied competition</a:t>
            </a:r>
          </a:p>
          <a:p>
            <a:r>
              <a:rPr lang="en-US" dirty="0"/>
              <a:t>48. Ripe old age → Advanced age</a:t>
            </a:r>
          </a:p>
          <a:p>
            <a:r>
              <a:rPr lang="en-US" dirty="0"/>
              <a:t>49. Ruled the roost → Had control</a:t>
            </a:r>
          </a:p>
          <a:p>
            <a:r>
              <a:rPr lang="en-US" dirty="0"/>
              <a:t>50. Sad but true → Unfortunate reality</a:t>
            </a:r>
          </a:p>
          <a:p>
            <a:r>
              <a:rPr lang="en-US" dirty="0"/>
              <a:t>51. Sadder but wiser → More experienced and knowledgeable</a:t>
            </a:r>
          </a:p>
          <a:p>
            <a:r>
              <a:rPr lang="en-US" dirty="0"/>
              <a:t>52. Set the world on fire → Achieve great success</a:t>
            </a:r>
          </a:p>
          <a:p>
            <a:r>
              <a:rPr lang="en-US" dirty="0"/>
              <a:t>53. Sick as a dog → Extremely ill</a:t>
            </a:r>
          </a:p>
          <a:p>
            <a:r>
              <a:rPr lang="en-US" dirty="0"/>
              <a:t>54. Sigh of relief → Feeling of comfort</a:t>
            </a:r>
          </a:p>
          <a:p>
            <a:r>
              <a:rPr lang="en-US" dirty="0"/>
              <a:t>54. Slow as molasses → Extremely slow</a:t>
            </a:r>
          </a:p>
          <a:p>
            <a:r>
              <a:rPr lang="en-US" dirty="0"/>
              <a:t>55. Smart as a whip → Extremely intelligent</a:t>
            </a:r>
          </a:p>
          <a:p>
            <a:r>
              <a:rPr lang="en-US" dirty="0"/>
              <a:t>56. Sneaking suspicion → Growing feeling of doubt</a:t>
            </a:r>
          </a:p>
          <a:p>
            <a:r>
              <a:rPr lang="en-US" dirty="0"/>
              <a:t>57. Spread like wildfire → Rapidly disseminate</a:t>
            </a:r>
          </a:p>
          <a:p>
            <a:r>
              <a:rPr lang="en-US" dirty="0"/>
              <a:t>58. Take the bull by the horns → Confront a challenge directly</a:t>
            </a:r>
          </a:p>
          <a:p>
            <a:r>
              <a:rPr lang="en-US" dirty="0"/>
              <a:t>59. To make a long story short → To summarize</a:t>
            </a:r>
          </a:p>
          <a:p>
            <a:r>
              <a:rPr lang="en-US" dirty="0"/>
              <a:t>60. Trial and error → Experimentation and learning</a:t>
            </a:r>
          </a:p>
        </p:txBody>
      </p:sp>
    </p:spTree>
    <p:extLst>
      <p:ext uri="{BB962C8B-B14F-4D97-AF65-F5344CB8AC3E}">
        <p14:creationId xmlns:p14="http://schemas.microsoft.com/office/powerpoint/2010/main" xmlns="" val="122008185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AE224DA-37F6-1C7D-D6EC-0F0BA038AB77}"/>
            </a:ext>
          </a:extLst>
        </p:cNvPr>
        <p:cNvGrpSpPr/>
        <p:nvPr/>
      </p:nvGrpSpPr>
      <p:grpSpPr>
        <a:xfrm>
          <a:off x="0" y="0"/>
          <a:ext cx="0" cy="0"/>
          <a:chOff x="0" y="0"/>
          <a:chExt cx="0" cy="0"/>
        </a:xfrm>
      </p:grpSpPr>
      <p:sp>
        <p:nvSpPr>
          <p:cNvPr id="1048687" name="Title 1">
            <a:extLst>
              <a:ext uri="{FF2B5EF4-FFF2-40B4-BE49-F238E27FC236}">
                <a16:creationId xmlns:a16="http://schemas.microsoft.com/office/drawing/2014/main" xmlns="" id="{A661D4EE-7BBF-6B0A-83D8-623E0C6E622E}"/>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Eliminating Euphemisms</a:t>
            </a:r>
          </a:p>
        </p:txBody>
      </p:sp>
      <p:sp>
        <p:nvSpPr>
          <p:cNvPr id="1048688" name="Content Placeholder 2">
            <a:extLst>
              <a:ext uri="{FF2B5EF4-FFF2-40B4-BE49-F238E27FC236}">
                <a16:creationId xmlns:a16="http://schemas.microsoft.com/office/drawing/2014/main" xmlns="" id="{DE8A10CE-EE89-2455-C4FD-A18F60FEC040}"/>
              </a:ext>
            </a:extLst>
          </p:cNvPr>
          <p:cNvSpPr>
            <a:spLocks noGrp="1"/>
          </p:cNvSpPr>
          <p:nvPr>
            <p:ph idx="1"/>
          </p:nvPr>
        </p:nvSpPr>
        <p:spPr/>
        <p:txBody>
          <a:bodyPr>
            <a:normAutofit/>
          </a:bodyPr>
          <a:lstStyle/>
          <a:p>
            <a:pPr marL="0" indent="0">
              <a:buNone/>
            </a:pPr>
            <a:r>
              <a:rPr lang="en-US" b="1" dirty="0"/>
              <a:t>Euphemisms: An indirect and polite way to not sound direct or offensive.</a:t>
            </a:r>
          </a:p>
          <a:p>
            <a:pPr marL="0" indent="0">
              <a:buNone/>
            </a:pPr>
            <a:endParaRPr lang="en-US" b="1" dirty="0"/>
          </a:p>
          <a:p>
            <a:pPr marL="0" indent="0">
              <a:buNone/>
            </a:pPr>
            <a:r>
              <a:rPr lang="en-US" dirty="0"/>
              <a:t>For example: </a:t>
            </a:r>
          </a:p>
          <a:p>
            <a:pPr marL="0" indent="0">
              <a:buNone/>
            </a:pPr>
            <a:r>
              <a:rPr lang="en-US" dirty="0"/>
              <a:t>He has left for his heavenly abode.</a:t>
            </a:r>
          </a:p>
          <a:p>
            <a:pPr marL="0" indent="0">
              <a:buNone/>
            </a:pPr>
            <a:r>
              <a:rPr lang="en-IN" dirty="0"/>
              <a:t>The boss told Mr Sharma that she would like to let go of him.</a:t>
            </a:r>
            <a:endParaRPr lang="en-US" dirty="0"/>
          </a:p>
          <a:p>
            <a:pPr marL="0" indent="0">
              <a:buNone/>
            </a:pPr>
            <a:r>
              <a:rPr lang="en-US" dirty="0"/>
              <a:t>She is between jobs.</a:t>
            </a:r>
          </a:p>
          <a:p>
            <a:endParaRPr lang="en-US" dirty="0"/>
          </a:p>
          <a:p>
            <a:endParaRPr lang="en-US" dirty="0"/>
          </a:p>
        </p:txBody>
      </p:sp>
    </p:spTree>
    <p:extLst>
      <p:ext uri="{BB962C8B-B14F-4D97-AF65-F5344CB8AC3E}">
        <p14:creationId xmlns:p14="http://schemas.microsoft.com/office/powerpoint/2010/main" xmlns="" val="303276679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5"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 Be Concise</a:t>
            </a:r>
            <a:endParaRPr lang="en-IN" dirty="0">
              <a:latin typeface="Times New Roman" panose="02020603050405020304" pitchFamily="18" charset="0"/>
              <a:cs typeface="Times New Roman" panose="02020603050405020304" pitchFamily="18" charset="0"/>
            </a:endParaRPr>
          </a:p>
        </p:txBody>
      </p:sp>
      <p:sp>
        <p:nvSpPr>
          <p:cNvPr id="1048676" name="Content Placeholder 2"/>
          <p:cNvSpPr>
            <a:spLocks noGrp="1"/>
          </p:cNvSpPr>
          <p:nvPr>
            <p:ph idx="1"/>
          </p:nvPr>
        </p:nvSpPr>
        <p:spPr/>
        <p:txBody>
          <a:bodyPr/>
          <a:lstStyle/>
          <a:p>
            <a:pPr marL="0" indent="0">
              <a:buNone/>
            </a:pPr>
            <a:r>
              <a:rPr lang="en-IN" dirty="0">
                <a:latin typeface="Times New Roman" panose="02020603050405020304" pitchFamily="18" charset="0"/>
                <a:cs typeface="Times New Roman" panose="02020603050405020304" pitchFamily="18" charset="0"/>
              </a:rPr>
              <a:t>1. Pruning the redundant</a:t>
            </a:r>
          </a:p>
          <a:p>
            <a:r>
              <a:rPr lang="en-US" dirty="0">
                <a:latin typeface="Times New Roman" panose="02020603050405020304" pitchFamily="18" charset="0"/>
                <a:cs typeface="Times New Roman" panose="02020603050405020304" pitchFamily="18" charset="0"/>
              </a:rPr>
              <a:t>Avoid saying the same thing twice.</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Many uneducated citizens </a:t>
            </a:r>
            <a:r>
              <a:rPr lang="en-US" dirty="0">
                <a:solidFill>
                  <a:srgbClr val="FF0000"/>
                </a:solidFill>
                <a:latin typeface="Times New Roman" panose="02020603050405020304" pitchFamily="18" charset="0"/>
                <a:cs typeface="Times New Roman" panose="02020603050405020304" pitchFamily="18" charset="0"/>
              </a:rPr>
              <a:t>who have never attended school </a:t>
            </a:r>
            <a:r>
              <a:rPr lang="en-US" dirty="0">
                <a:latin typeface="Times New Roman" panose="02020603050405020304" pitchFamily="18" charset="0"/>
                <a:cs typeface="Times New Roman" panose="02020603050405020304" pitchFamily="18" charset="0"/>
              </a:rPr>
              <a:t>continue to vote for better schools.</a:t>
            </a:r>
          </a:p>
          <a:p>
            <a:pPr marL="0" indent="0">
              <a:buNone/>
            </a:pPr>
            <a:endParaRPr lang="en-IN"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98C32BF-9C45-5EA9-BB98-A57C2494355A}"/>
            </a:ext>
          </a:extLst>
        </p:cNvPr>
        <p:cNvGrpSpPr/>
        <p:nvPr/>
      </p:nvGrpSpPr>
      <p:grpSpPr>
        <a:xfrm>
          <a:off x="0" y="0"/>
          <a:ext cx="0" cy="0"/>
          <a:chOff x="0" y="0"/>
          <a:chExt cx="0" cy="0"/>
        </a:xfrm>
      </p:grpSpPr>
      <p:sp>
        <p:nvSpPr>
          <p:cNvPr id="1048685" name="Title 1">
            <a:extLst>
              <a:ext uri="{FF2B5EF4-FFF2-40B4-BE49-F238E27FC236}">
                <a16:creationId xmlns:a16="http://schemas.microsoft.com/office/drawing/2014/main" xmlns="" id="{918714B3-CBD1-7BB2-9F89-15CBD1418143}"/>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Phrases You Can Omit</a:t>
            </a:r>
          </a:p>
        </p:txBody>
      </p:sp>
      <p:sp>
        <p:nvSpPr>
          <p:cNvPr id="1048686" name="Content Placeholder 2">
            <a:extLst>
              <a:ext uri="{FF2B5EF4-FFF2-40B4-BE49-F238E27FC236}">
                <a16:creationId xmlns:a16="http://schemas.microsoft.com/office/drawing/2014/main" xmlns="" id="{BD3F6C47-3792-8520-9319-07B7A5D51C5B}"/>
              </a:ext>
            </a:extLst>
          </p:cNvPr>
          <p:cNvSpPr>
            <a:spLocks noGrp="1"/>
          </p:cNvSpPr>
          <p:nvPr>
            <p:ph idx="1"/>
          </p:nvPr>
        </p:nvSpPr>
        <p:spPr/>
        <p:txBody>
          <a:bodyPr>
            <a:normAutofit fontScale="92500" lnSpcReduction="10000"/>
          </a:bodyPr>
          <a:lstStyle/>
          <a:p>
            <a:pPr marL="0" indent="0">
              <a:buNone/>
            </a:pPr>
            <a:r>
              <a:rPr lang="en-US" dirty="0"/>
              <a:t> Original Message: “At this point in time, we are currently reviewing the proposal and will get back to you in the near future with our decision.”</a:t>
            </a:r>
          </a:p>
          <a:p>
            <a:pPr marL="0" indent="0">
              <a:buNone/>
            </a:pPr>
            <a:endParaRPr lang="en-US" dirty="0"/>
          </a:p>
          <a:p>
            <a:pPr marL="0" indent="0">
              <a:buNone/>
            </a:pPr>
            <a:r>
              <a:rPr lang="en-US" dirty="0"/>
              <a:t>Pruned Message: “We are reviewing the proposal and will respond with our decision soon.”</a:t>
            </a:r>
          </a:p>
          <a:p>
            <a:pPr marL="0" indent="0">
              <a:buNone/>
            </a:pPr>
            <a:endParaRPr lang="en-US" dirty="0"/>
          </a:p>
          <a:p>
            <a:pPr marL="0" indent="0">
              <a:buNone/>
            </a:pPr>
            <a:r>
              <a:rPr lang="en-US" dirty="0"/>
              <a:t> Original Message: “Due to the fact that we have received your payment, we are proceeding with the shipment of your order.”</a:t>
            </a:r>
          </a:p>
          <a:p>
            <a:pPr marL="0" indent="0">
              <a:buNone/>
            </a:pPr>
            <a:endParaRPr lang="en-US" dirty="0"/>
          </a:p>
          <a:p>
            <a:pPr marL="0" indent="0">
              <a:buNone/>
            </a:pPr>
            <a:r>
              <a:rPr lang="en-US" dirty="0"/>
              <a:t>Pruned Message: "We have received your payment and are proceeding with shipping your order."</a:t>
            </a:r>
          </a:p>
          <a:p>
            <a:endParaRPr lang="en-IN" dirty="0"/>
          </a:p>
        </p:txBody>
      </p:sp>
    </p:spTree>
    <p:extLst>
      <p:ext uri="{BB962C8B-B14F-4D97-AF65-F5344CB8AC3E}">
        <p14:creationId xmlns:p14="http://schemas.microsoft.com/office/powerpoint/2010/main" xmlns="" val="194578192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6D77D0A-D989-4EB7-3FC8-9227B468DCF7}"/>
            </a:ext>
          </a:extLst>
        </p:cNvPr>
        <p:cNvGrpSpPr/>
        <p:nvPr/>
      </p:nvGrpSpPr>
      <p:grpSpPr>
        <a:xfrm>
          <a:off x="0" y="0"/>
          <a:ext cx="0" cy="0"/>
          <a:chOff x="0" y="0"/>
          <a:chExt cx="0" cy="0"/>
        </a:xfrm>
      </p:grpSpPr>
      <p:sp>
        <p:nvSpPr>
          <p:cNvPr id="1048675" name="Title 1">
            <a:extLst>
              <a:ext uri="{FF2B5EF4-FFF2-40B4-BE49-F238E27FC236}">
                <a16:creationId xmlns:a16="http://schemas.microsoft.com/office/drawing/2014/main" xmlns="" id="{6D60A8C1-6EFE-D1B9-9AC5-22D8B5394E58}"/>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 Be Concise</a:t>
            </a:r>
            <a:endParaRPr lang="en-IN" dirty="0">
              <a:latin typeface="Times New Roman" panose="02020603050405020304" pitchFamily="18" charset="0"/>
              <a:cs typeface="Times New Roman" panose="02020603050405020304" pitchFamily="18" charset="0"/>
            </a:endParaRPr>
          </a:p>
        </p:txBody>
      </p:sp>
      <p:sp>
        <p:nvSpPr>
          <p:cNvPr id="1048676" name="Content Placeholder 2">
            <a:extLst>
              <a:ext uri="{FF2B5EF4-FFF2-40B4-BE49-F238E27FC236}">
                <a16:creationId xmlns:a16="http://schemas.microsoft.com/office/drawing/2014/main" xmlns="" id="{7B2A70C8-4583-19CE-B97D-304B8EF7725C}"/>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2. A phrase that repeats itself—like “true fact” (fact), “twelve noon (noon),” or “I saw it with my own eyes”(I saw it or I saw it happen)—is sometimes called a pleonasm.</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Examples: added bonus, exact replica, foreign imports, free gifts, frozen ice, regular routine, unexpected surprise, past history.</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11715443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3C1A9B-29FB-AA17-F7CC-2EACBA8ED5AA}"/>
              </a:ext>
            </a:extLst>
          </p:cNvPr>
          <p:cNvSpPr>
            <a:spLocks noGrp="1"/>
          </p:cNvSpPr>
          <p:nvPr>
            <p:ph type="title"/>
          </p:nvPr>
        </p:nvSpPr>
        <p:spPr>
          <a:xfrm>
            <a:off x="838200" y="365126"/>
            <a:ext cx="10515600" cy="439208"/>
          </a:xfrm>
        </p:spPr>
        <p:txBody>
          <a:bodyPr>
            <a:normAutofit fontScale="90000"/>
          </a:bodyPr>
          <a:lstStyle/>
          <a:p>
            <a:pPr algn="ctr"/>
            <a:r>
              <a:rPr lang="en-US" dirty="0"/>
              <a:t>Redundancies</a:t>
            </a:r>
            <a:endParaRPr lang="en-IN" dirty="0"/>
          </a:p>
        </p:txBody>
      </p:sp>
      <p:graphicFrame>
        <p:nvGraphicFramePr>
          <p:cNvPr id="4" name="Content Placeholder 3">
            <a:extLst>
              <a:ext uri="{FF2B5EF4-FFF2-40B4-BE49-F238E27FC236}">
                <a16:creationId xmlns:a16="http://schemas.microsoft.com/office/drawing/2014/main" xmlns="" id="{FAF1679D-5E40-9B64-BD6D-8D53F823C7B4}"/>
              </a:ext>
            </a:extLst>
          </p:cNvPr>
          <p:cNvGraphicFramePr>
            <a:graphicFrameLocks noGrp="1"/>
          </p:cNvGraphicFramePr>
          <p:nvPr>
            <p:ph idx="1"/>
            <p:extLst>
              <p:ext uri="{D42A27DB-BD31-4B8C-83A1-F6EECF244321}">
                <p14:modId xmlns:p14="http://schemas.microsoft.com/office/powerpoint/2010/main" xmlns="" val="1488753910"/>
              </p:ext>
            </p:extLst>
          </p:nvPr>
        </p:nvGraphicFramePr>
        <p:xfrm>
          <a:off x="2802467" y="871537"/>
          <a:ext cx="6587066" cy="6061563"/>
        </p:xfrm>
        <a:graphic>
          <a:graphicData uri="http://schemas.openxmlformats.org/drawingml/2006/table">
            <a:tbl>
              <a:tblPr firstRow="1" firstCol="1" bandRow="1">
                <a:tableStyleId>{5C22544A-7EE6-4342-B048-85BDC9FD1C3A}</a:tableStyleId>
              </a:tblPr>
              <a:tblGrid>
                <a:gridCol w="3293533">
                  <a:extLst>
                    <a:ext uri="{9D8B030D-6E8A-4147-A177-3AD203B41FA5}">
                      <a16:colId xmlns:a16="http://schemas.microsoft.com/office/drawing/2014/main" xmlns="" val="1060348808"/>
                    </a:ext>
                  </a:extLst>
                </a:gridCol>
                <a:gridCol w="3293533">
                  <a:extLst>
                    <a:ext uri="{9D8B030D-6E8A-4147-A177-3AD203B41FA5}">
                      <a16:colId xmlns:a16="http://schemas.microsoft.com/office/drawing/2014/main" xmlns="" val="789816671"/>
                    </a:ext>
                  </a:extLst>
                </a:gridCol>
              </a:tblGrid>
              <a:tr h="171230">
                <a:tc>
                  <a:txBody>
                    <a:bodyPr/>
                    <a:lstStyle/>
                    <a:p>
                      <a:pPr>
                        <a:lnSpc>
                          <a:spcPct val="107000"/>
                        </a:lnSpc>
                        <a:spcAft>
                          <a:spcPts val="800"/>
                        </a:spcAft>
                      </a:pPr>
                      <a:r>
                        <a:rPr lang="en-IN" sz="900" kern="0">
                          <a:effectLst/>
                        </a:rPr>
                        <a:t>Redundancy</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The Lean Version</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851373873"/>
                  </a:ext>
                </a:extLst>
              </a:tr>
              <a:tr h="171230">
                <a:tc>
                  <a:txBody>
                    <a:bodyPr/>
                    <a:lstStyle/>
                    <a:p>
                      <a:pPr>
                        <a:lnSpc>
                          <a:spcPct val="107000"/>
                        </a:lnSpc>
                        <a:spcAft>
                          <a:spcPts val="800"/>
                        </a:spcAft>
                      </a:pPr>
                      <a:r>
                        <a:rPr lang="en-IN" sz="900" kern="0">
                          <a:effectLst/>
                        </a:rPr>
                        <a:t>12 midnight</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Midnight</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3935014288"/>
                  </a:ext>
                </a:extLst>
              </a:tr>
              <a:tr h="171230">
                <a:tc>
                  <a:txBody>
                    <a:bodyPr/>
                    <a:lstStyle/>
                    <a:p>
                      <a:pPr>
                        <a:lnSpc>
                          <a:spcPct val="107000"/>
                        </a:lnSpc>
                        <a:spcAft>
                          <a:spcPts val="800"/>
                        </a:spcAft>
                      </a:pPr>
                      <a:r>
                        <a:rPr lang="en-IN" sz="900" kern="0">
                          <a:effectLst/>
                        </a:rPr>
                        <a:t>12 noon</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Noon</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940128538"/>
                  </a:ext>
                </a:extLst>
              </a:tr>
              <a:tr h="171230">
                <a:tc>
                  <a:txBody>
                    <a:bodyPr/>
                    <a:lstStyle/>
                    <a:p>
                      <a:pPr>
                        <a:lnSpc>
                          <a:spcPct val="107000"/>
                        </a:lnSpc>
                        <a:spcAft>
                          <a:spcPts val="800"/>
                        </a:spcAft>
                      </a:pPr>
                      <a:r>
                        <a:rPr lang="en-IN" sz="900" kern="0">
                          <a:effectLst/>
                        </a:rPr>
                        <a:t>3 am in the morning</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3 am</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12405784"/>
                  </a:ext>
                </a:extLst>
              </a:tr>
              <a:tr h="320686">
                <a:tc>
                  <a:txBody>
                    <a:bodyPr/>
                    <a:lstStyle/>
                    <a:p>
                      <a:pPr>
                        <a:lnSpc>
                          <a:spcPct val="107000"/>
                        </a:lnSpc>
                        <a:spcAft>
                          <a:spcPts val="800"/>
                        </a:spcAft>
                      </a:pPr>
                      <a:r>
                        <a:rPr lang="en-IN" sz="900" kern="0">
                          <a:effectLst/>
                        </a:rPr>
                        <a:t>absolutely spectacular/phenomenal</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spectacular/phenomenal</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tc>
                <a:extLst>
                  <a:ext uri="{0D108BD9-81ED-4DB2-BD59-A6C34878D82A}">
                    <a16:rowId xmlns:a16="http://schemas.microsoft.com/office/drawing/2014/main" xmlns="" val="1557823690"/>
                  </a:ext>
                </a:extLst>
              </a:tr>
              <a:tr h="171230">
                <a:tc>
                  <a:txBody>
                    <a:bodyPr/>
                    <a:lstStyle/>
                    <a:p>
                      <a:pPr>
                        <a:lnSpc>
                          <a:spcPct val="107000"/>
                        </a:lnSpc>
                        <a:spcAft>
                          <a:spcPts val="800"/>
                        </a:spcAft>
                      </a:pPr>
                      <a:r>
                        <a:rPr lang="en-IN" sz="900" kern="0">
                          <a:effectLst/>
                        </a:rPr>
                        <a:t>a person who is honest</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an honest person</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4123532652"/>
                  </a:ext>
                </a:extLst>
              </a:tr>
              <a:tr h="171230">
                <a:tc>
                  <a:txBody>
                    <a:bodyPr/>
                    <a:lstStyle/>
                    <a:p>
                      <a:pPr>
                        <a:lnSpc>
                          <a:spcPct val="107000"/>
                        </a:lnSpc>
                        <a:spcAft>
                          <a:spcPts val="800"/>
                        </a:spcAft>
                      </a:pPr>
                      <a:r>
                        <a:rPr lang="en-IN" sz="900" kern="0">
                          <a:effectLst/>
                        </a:rPr>
                        <a:t>a total of 14 birds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14 birds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1552411465"/>
                  </a:ext>
                </a:extLst>
              </a:tr>
              <a:tr h="171230">
                <a:tc>
                  <a:txBody>
                    <a:bodyPr/>
                    <a:lstStyle/>
                    <a:p>
                      <a:pPr>
                        <a:lnSpc>
                          <a:spcPct val="107000"/>
                        </a:lnSpc>
                        <a:spcAft>
                          <a:spcPts val="800"/>
                        </a:spcAft>
                      </a:pPr>
                      <a:r>
                        <a:rPr lang="en-IN" sz="900" kern="0">
                          <a:effectLst/>
                        </a:rPr>
                        <a:t>biography of her life</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Biography</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1250960517"/>
                  </a:ext>
                </a:extLst>
              </a:tr>
              <a:tr h="171230">
                <a:tc>
                  <a:txBody>
                    <a:bodyPr/>
                    <a:lstStyle/>
                    <a:p>
                      <a:pPr>
                        <a:lnSpc>
                          <a:spcPct val="107000"/>
                        </a:lnSpc>
                        <a:spcAft>
                          <a:spcPts val="800"/>
                        </a:spcAft>
                      </a:pPr>
                      <a:r>
                        <a:rPr lang="en-IN" sz="900" kern="0">
                          <a:effectLst/>
                        </a:rPr>
                        <a:t>circle around</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Circle</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1913071052"/>
                  </a:ext>
                </a:extLst>
              </a:tr>
              <a:tr h="171230">
                <a:tc>
                  <a:txBody>
                    <a:bodyPr/>
                    <a:lstStyle/>
                    <a:p>
                      <a:pPr>
                        <a:lnSpc>
                          <a:spcPct val="107000"/>
                        </a:lnSpc>
                        <a:spcAft>
                          <a:spcPts val="800"/>
                        </a:spcAft>
                      </a:pPr>
                      <a:r>
                        <a:rPr lang="en-IN" sz="900" kern="0">
                          <a:effectLst/>
                        </a:rPr>
                        <a:t>close proximity</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Proximity</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4082379434"/>
                  </a:ext>
                </a:extLst>
              </a:tr>
              <a:tr h="171230">
                <a:tc>
                  <a:txBody>
                    <a:bodyPr/>
                    <a:lstStyle/>
                    <a:p>
                      <a:pPr>
                        <a:lnSpc>
                          <a:spcPct val="107000"/>
                        </a:lnSpc>
                        <a:spcAft>
                          <a:spcPts val="800"/>
                        </a:spcAft>
                      </a:pPr>
                      <a:r>
                        <a:rPr lang="en-IN" sz="900" kern="0">
                          <a:effectLst/>
                        </a:rPr>
                        <a:t>completely unanimous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Unanimous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927971503"/>
                  </a:ext>
                </a:extLst>
              </a:tr>
              <a:tr h="171230">
                <a:tc>
                  <a:txBody>
                    <a:bodyPr/>
                    <a:lstStyle/>
                    <a:p>
                      <a:pPr>
                        <a:lnSpc>
                          <a:spcPct val="107000"/>
                        </a:lnSpc>
                        <a:spcAft>
                          <a:spcPts val="800"/>
                        </a:spcAft>
                      </a:pPr>
                      <a:r>
                        <a:rPr lang="en-IN" sz="900" kern="0">
                          <a:effectLst/>
                        </a:rPr>
                        <a:t>consensus of opinion</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Consensus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2636191401"/>
                  </a:ext>
                </a:extLst>
              </a:tr>
              <a:tr h="171230">
                <a:tc>
                  <a:txBody>
                    <a:bodyPr/>
                    <a:lstStyle/>
                    <a:p>
                      <a:pPr>
                        <a:lnSpc>
                          <a:spcPct val="107000"/>
                        </a:lnSpc>
                        <a:spcAft>
                          <a:spcPts val="800"/>
                        </a:spcAft>
                      </a:pPr>
                      <a:r>
                        <a:rPr lang="en-IN" sz="900" kern="0">
                          <a:effectLst/>
                        </a:rPr>
                        <a:t>cooperate together</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Cooperate</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1307947847"/>
                  </a:ext>
                </a:extLst>
              </a:tr>
              <a:tr h="171230">
                <a:tc>
                  <a:txBody>
                    <a:bodyPr/>
                    <a:lstStyle/>
                    <a:p>
                      <a:pPr>
                        <a:lnSpc>
                          <a:spcPct val="107000"/>
                        </a:lnSpc>
                        <a:spcAft>
                          <a:spcPts val="800"/>
                        </a:spcAft>
                      </a:pPr>
                      <a:r>
                        <a:rPr lang="en-IN" sz="900" kern="0">
                          <a:effectLst/>
                        </a:rPr>
                        <a:t>each and every</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Each</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2826263415"/>
                  </a:ext>
                </a:extLst>
              </a:tr>
              <a:tr h="171230">
                <a:tc>
                  <a:txBody>
                    <a:bodyPr/>
                    <a:lstStyle/>
                    <a:p>
                      <a:pPr>
                        <a:lnSpc>
                          <a:spcPct val="107000"/>
                        </a:lnSpc>
                        <a:spcAft>
                          <a:spcPts val="800"/>
                        </a:spcAft>
                      </a:pPr>
                      <a:r>
                        <a:rPr lang="en-IN" sz="900" kern="0">
                          <a:effectLst/>
                        </a:rPr>
                        <a:t>enclosed herewith</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Enclosed</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1133550791"/>
                  </a:ext>
                </a:extLst>
              </a:tr>
              <a:tr h="171230">
                <a:tc>
                  <a:txBody>
                    <a:bodyPr/>
                    <a:lstStyle/>
                    <a:p>
                      <a:pPr>
                        <a:lnSpc>
                          <a:spcPct val="107000"/>
                        </a:lnSpc>
                        <a:spcAft>
                          <a:spcPts val="800"/>
                        </a:spcAft>
                      </a:pPr>
                      <a:r>
                        <a:rPr lang="en-IN" sz="900" kern="0">
                          <a:effectLst/>
                        </a:rPr>
                        <a:t>end result</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Result</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2595484848"/>
                  </a:ext>
                </a:extLst>
              </a:tr>
              <a:tr h="171230">
                <a:tc>
                  <a:txBody>
                    <a:bodyPr/>
                    <a:lstStyle/>
                    <a:p>
                      <a:pPr>
                        <a:lnSpc>
                          <a:spcPct val="107000"/>
                        </a:lnSpc>
                        <a:spcAft>
                          <a:spcPts val="800"/>
                        </a:spcAft>
                      </a:pPr>
                      <a:r>
                        <a:rPr lang="en-IN" sz="900" kern="0">
                          <a:effectLst/>
                        </a:rPr>
                        <a:t>exactly the same</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the same</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3076168690"/>
                  </a:ext>
                </a:extLst>
              </a:tr>
              <a:tr h="171230">
                <a:tc>
                  <a:txBody>
                    <a:bodyPr/>
                    <a:lstStyle/>
                    <a:p>
                      <a:pPr>
                        <a:lnSpc>
                          <a:spcPct val="107000"/>
                        </a:lnSpc>
                        <a:spcAft>
                          <a:spcPts val="800"/>
                        </a:spcAft>
                      </a:pPr>
                      <a:r>
                        <a:rPr lang="en-IN" sz="900" kern="0">
                          <a:effectLst/>
                        </a:rPr>
                        <a:t>final completion</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Completion</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608978960"/>
                  </a:ext>
                </a:extLst>
              </a:tr>
              <a:tr h="320686">
                <a:tc>
                  <a:txBody>
                    <a:bodyPr/>
                    <a:lstStyle/>
                    <a:p>
                      <a:pPr>
                        <a:lnSpc>
                          <a:spcPct val="107000"/>
                        </a:lnSpc>
                        <a:spcAft>
                          <a:spcPts val="800"/>
                        </a:spcAft>
                      </a:pPr>
                      <a:r>
                        <a:rPr lang="en-IN" sz="900" kern="0">
                          <a:effectLst/>
                        </a:rPr>
                        <a:t>frank and honest exchange</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tc>
                <a:tc>
                  <a:txBody>
                    <a:bodyPr/>
                    <a:lstStyle/>
                    <a:p>
                      <a:pPr>
                        <a:lnSpc>
                          <a:spcPct val="107000"/>
                        </a:lnSpc>
                        <a:spcAft>
                          <a:spcPts val="800"/>
                        </a:spcAft>
                      </a:pPr>
                      <a:r>
                        <a:rPr lang="en-IN" sz="900" kern="0">
                          <a:effectLst/>
                        </a:rPr>
                        <a:t>frank exchange or honest exchange</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3054228711"/>
                  </a:ext>
                </a:extLst>
              </a:tr>
              <a:tr h="171230">
                <a:tc>
                  <a:txBody>
                    <a:bodyPr/>
                    <a:lstStyle/>
                    <a:p>
                      <a:pPr>
                        <a:lnSpc>
                          <a:spcPct val="107000"/>
                        </a:lnSpc>
                        <a:spcAft>
                          <a:spcPts val="800"/>
                        </a:spcAft>
                      </a:pPr>
                      <a:r>
                        <a:rPr lang="en-IN" sz="900" kern="0">
                          <a:effectLst/>
                        </a:rPr>
                        <a:t>free gift</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Gift</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2439476137"/>
                  </a:ext>
                </a:extLst>
              </a:tr>
              <a:tr h="171230">
                <a:tc>
                  <a:txBody>
                    <a:bodyPr/>
                    <a:lstStyle/>
                    <a:p>
                      <a:pPr>
                        <a:lnSpc>
                          <a:spcPct val="107000"/>
                        </a:lnSpc>
                        <a:spcAft>
                          <a:spcPts val="800"/>
                        </a:spcAft>
                      </a:pPr>
                      <a:r>
                        <a:rPr lang="en-IN" sz="900" kern="0">
                          <a:effectLst/>
                        </a:rPr>
                        <a:t>he/she is a person who . . .</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he/she</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tc>
                <a:extLst>
                  <a:ext uri="{0D108BD9-81ED-4DB2-BD59-A6C34878D82A}">
                    <a16:rowId xmlns:a16="http://schemas.microsoft.com/office/drawing/2014/main" xmlns="" val="402145901"/>
                  </a:ext>
                </a:extLst>
              </a:tr>
              <a:tr h="171230">
                <a:tc>
                  <a:txBody>
                    <a:bodyPr/>
                    <a:lstStyle/>
                    <a:p>
                      <a:pPr>
                        <a:lnSpc>
                          <a:spcPct val="107000"/>
                        </a:lnSpc>
                        <a:spcAft>
                          <a:spcPts val="800"/>
                        </a:spcAft>
                      </a:pPr>
                      <a:r>
                        <a:rPr lang="en-IN" sz="900" kern="0">
                          <a:effectLst/>
                        </a:rPr>
                        <a:t>important/basic essentials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Essentials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tc>
                <a:extLst>
                  <a:ext uri="{0D108BD9-81ED-4DB2-BD59-A6C34878D82A}">
                    <a16:rowId xmlns:a16="http://schemas.microsoft.com/office/drawing/2014/main" xmlns="" val="3389313167"/>
                  </a:ext>
                </a:extLst>
              </a:tr>
              <a:tr h="171230">
                <a:tc>
                  <a:txBody>
                    <a:bodyPr/>
                    <a:lstStyle/>
                    <a:p>
                      <a:pPr>
                        <a:lnSpc>
                          <a:spcPct val="107000"/>
                        </a:lnSpc>
                        <a:spcAft>
                          <a:spcPts val="800"/>
                        </a:spcAft>
                      </a:pPr>
                      <a:r>
                        <a:rPr lang="en-IN" sz="900" kern="0">
                          <a:effectLst/>
                        </a:rPr>
                        <a:t>in spite of the fact that</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Although</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tc>
                <a:extLst>
                  <a:ext uri="{0D108BD9-81ED-4DB2-BD59-A6C34878D82A}">
                    <a16:rowId xmlns:a16="http://schemas.microsoft.com/office/drawing/2014/main" xmlns="" val="1338838599"/>
                  </a:ext>
                </a:extLst>
              </a:tr>
              <a:tr h="320686">
                <a:tc>
                  <a:txBody>
                    <a:bodyPr/>
                    <a:lstStyle/>
                    <a:p>
                      <a:pPr>
                        <a:lnSpc>
                          <a:spcPct val="107000"/>
                        </a:lnSpc>
                        <a:spcAft>
                          <a:spcPts val="800"/>
                        </a:spcAft>
                      </a:pPr>
                      <a:r>
                        <a:rPr lang="en-IN" sz="900" kern="0">
                          <a:effectLst/>
                        </a:rPr>
                        <a:t>in the field of economics/law enforcement</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in economics/law enforcement</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tc>
                <a:extLst>
                  <a:ext uri="{0D108BD9-81ED-4DB2-BD59-A6C34878D82A}">
                    <a16:rowId xmlns:a16="http://schemas.microsoft.com/office/drawing/2014/main" xmlns="" val="2154287890"/>
                  </a:ext>
                </a:extLst>
              </a:tr>
              <a:tr h="171230">
                <a:tc>
                  <a:txBody>
                    <a:bodyPr/>
                    <a:lstStyle/>
                    <a:p>
                      <a:pPr>
                        <a:lnSpc>
                          <a:spcPct val="107000"/>
                        </a:lnSpc>
                        <a:spcAft>
                          <a:spcPts val="800"/>
                        </a:spcAft>
                      </a:pPr>
                      <a:r>
                        <a:rPr lang="en-IN" sz="900" kern="0">
                          <a:effectLst/>
                        </a:rPr>
                        <a:t>in the event that</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If</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261920735"/>
                  </a:ext>
                </a:extLst>
              </a:tr>
              <a:tr h="171230">
                <a:tc>
                  <a:txBody>
                    <a:bodyPr/>
                    <a:lstStyle/>
                    <a:p>
                      <a:pPr>
                        <a:lnSpc>
                          <a:spcPct val="107000"/>
                        </a:lnSpc>
                        <a:spcAft>
                          <a:spcPts val="800"/>
                        </a:spcAft>
                      </a:pPr>
                      <a:r>
                        <a:rPr lang="en-IN" sz="900" kern="0">
                          <a:effectLst/>
                        </a:rPr>
                        <a:t>job functions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job or functions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589292961"/>
                  </a:ext>
                </a:extLst>
              </a:tr>
              <a:tr h="171230">
                <a:tc>
                  <a:txBody>
                    <a:bodyPr/>
                    <a:lstStyle/>
                    <a:p>
                      <a:pPr>
                        <a:lnSpc>
                          <a:spcPct val="107000"/>
                        </a:lnSpc>
                        <a:spcAft>
                          <a:spcPts val="800"/>
                        </a:spcAft>
                      </a:pPr>
                      <a:r>
                        <a:rPr lang="en-IN" sz="900" kern="0">
                          <a:effectLst/>
                        </a:rPr>
                        <a:t>new innovations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Innovations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1666853499"/>
                  </a:ext>
                </a:extLst>
              </a:tr>
              <a:tr h="171230">
                <a:tc>
                  <a:txBody>
                    <a:bodyPr/>
                    <a:lstStyle/>
                    <a:p>
                      <a:pPr>
                        <a:lnSpc>
                          <a:spcPct val="107000"/>
                        </a:lnSpc>
                        <a:spcAft>
                          <a:spcPts val="800"/>
                        </a:spcAft>
                      </a:pPr>
                      <a:r>
                        <a:rPr lang="en-IN" sz="900" kern="0">
                          <a:effectLst/>
                        </a:rPr>
                        <a:t>one and the same</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the same</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1846456506"/>
                  </a:ext>
                </a:extLst>
              </a:tr>
              <a:tr h="171230">
                <a:tc>
                  <a:txBody>
                    <a:bodyPr/>
                    <a:lstStyle/>
                    <a:p>
                      <a:pPr>
                        <a:lnSpc>
                          <a:spcPct val="107000"/>
                        </a:lnSpc>
                        <a:spcAft>
                          <a:spcPts val="800"/>
                        </a:spcAft>
                      </a:pPr>
                      <a:r>
                        <a:rPr lang="en-IN" sz="900" kern="0">
                          <a:effectLst/>
                        </a:rPr>
                        <a:t>particular interest</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Interest</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1427939385"/>
                  </a:ext>
                </a:extLst>
              </a:tr>
              <a:tr h="171230">
                <a:tc>
                  <a:txBody>
                    <a:bodyPr/>
                    <a:lstStyle/>
                    <a:p>
                      <a:pPr>
                        <a:lnSpc>
                          <a:spcPct val="107000"/>
                        </a:lnSpc>
                        <a:spcAft>
                          <a:spcPts val="800"/>
                        </a:spcAft>
                      </a:pPr>
                      <a:r>
                        <a:rPr lang="en-IN" sz="900" kern="0">
                          <a:effectLst/>
                        </a:rPr>
                        <a:t>period of four days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four days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1354412495"/>
                  </a:ext>
                </a:extLst>
              </a:tr>
              <a:tr h="171230">
                <a:tc>
                  <a:txBody>
                    <a:bodyPr/>
                    <a:lstStyle/>
                    <a:p>
                      <a:pPr>
                        <a:lnSpc>
                          <a:spcPct val="107000"/>
                        </a:lnSpc>
                        <a:spcAft>
                          <a:spcPts val="800"/>
                        </a:spcAft>
                      </a:pPr>
                      <a:r>
                        <a:rPr lang="en-IN" sz="900" kern="0">
                          <a:effectLst/>
                        </a:rPr>
                        <a:t>personally, I think/feel</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a:effectLst/>
                        </a:rPr>
                        <a:t>I think/feel</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tc>
                <a:extLst>
                  <a:ext uri="{0D108BD9-81ED-4DB2-BD59-A6C34878D82A}">
                    <a16:rowId xmlns:a16="http://schemas.microsoft.com/office/drawing/2014/main" xmlns="" val="1951720852"/>
                  </a:ext>
                </a:extLst>
              </a:tr>
              <a:tr h="171230">
                <a:tc>
                  <a:txBody>
                    <a:bodyPr/>
                    <a:lstStyle/>
                    <a:p>
                      <a:pPr>
                        <a:lnSpc>
                          <a:spcPct val="107000"/>
                        </a:lnSpc>
                        <a:spcAft>
                          <a:spcPts val="800"/>
                        </a:spcAft>
                      </a:pPr>
                      <a:r>
                        <a:rPr lang="en-IN" sz="900" kern="0">
                          <a:effectLst/>
                        </a:rPr>
                        <a:t>personal opinion</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tc>
                  <a:txBody>
                    <a:bodyPr/>
                    <a:lstStyle/>
                    <a:p>
                      <a:pPr>
                        <a:lnSpc>
                          <a:spcPct val="107000"/>
                        </a:lnSpc>
                        <a:spcAft>
                          <a:spcPts val="800"/>
                        </a:spcAft>
                      </a:pPr>
                      <a:r>
                        <a:rPr lang="en-IN" sz="900" kern="0" dirty="0">
                          <a:effectLst/>
                        </a:rPr>
                        <a:t>Opinion</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4548" marR="14548" marT="14548" marB="14548" anchor="ctr"/>
                </a:tc>
                <a:extLst>
                  <a:ext uri="{0D108BD9-81ED-4DB2-BD59-A6C34878D82A}">
                    <a16:rowId xmlns:a16="http://schemas.microsoft.com/office/drawing/2014/main" xmlns="" val="4084762793"/>
                  </a:ext>
                </a:extLst>
              </a:tr>
            </a:tbl>
          </a:graphicData>
        </a:graphic>
      </p:graphicFrame>
    </p:spTree>
    <p:extLst>
      <p:ext uri="{BB962C8B-B14F-4D97-AF65-F5344CB8AC3E}">
        <p14:creationId xmlns:p14="http://schemas.microsoft.com/office/powerpoint/2010/main" xmlns="" val="210097905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5759837-AC49-3B62-405F-C7CEC12A0151}"/>
              </a:ext>
            </a:extLst>
          </p:cNvPr>
          <p:cNvSpPr>
            <a:spLocks noGrp="1"/>
          </p:cNvSpPr>
          <p:nvPr>
            <p:ph type="title"/>
          </p:nvPr>
        </p:nvSpPr>
        <p:spPr>
          <a:xfrm>
            <a:off x="838200" y="365126"/>
            <a:ext cx="10515600" cy="540808"/>
          </a:xfrm>
        </p:spPr>
        <p:txBody>
          <a:bodyPr>
            <a:normAutofit fontScale="90000"/>
          </a:bodyPr>
          <a:lstStyle/>
          <a:p>
            <a:pPr algn="ctr"/>
            <a:r>
              <a:rPr lang="en-US" dirty="0"/>
              <a:t>Redundancies</a:t>
            </a:r>
            <a:endParaRPr lang="en-IN" dirty="0"/>
          </a:p>
        </p:txBody>
      </p:sp>
      <p:graphicFrame>
        <p:nvGraphicFramePr>
          <p:cNvPr id="4" name="Content Placeholder 3">
            <a:extLst>
              <a:ext uri="{FF2B5EF4-FFF2-40B4-BE49-F238E27FC236}">
                <a16:creationId xmlns:a16="http://schemas.microsoft.com/office/drawing/2014/main" xmlns="" id="{03D3CE4B-D9AD-23CC-202F-FFC5AC9CD9D6}"/>
              </a:ext>
            </a:extLst>
          </p:cNvPr>
          <p:cNvGraphicFramePr>
            <a:graphicFrameLocks noGrp="1"/>
          </p:cNvGraphicFramePr>
          <p:nvPr>
            <p:ph idx="1"/>
            <p:extLst>
              <p:ext uri="{D42A27DB-BD31-4B8C-83A1-F6EECF244321}">
                <p14:modId xmlns:p14="http://schemas.microsoft.com/office/powerpoint/2010/main" xmlns="" val="2978262586"/>
              </p:ext>
            </p:extLst>
          </p:nvPr>
        </p:nvGraphicFramePr>
        <p:xfrm>
          <a:off x="2878667" y="1303867"/>
          <a:ext cx="6375400" cy="5393271"/>
        </p:xfrm>
        <a:graphic>
          <a:graphicData uri="http://schemas.openxmlformats.org/drawingml/2006/table">
            <a:tbl>
              <a:tblPr firstRow="1" firstCol="1" bandRow="1">
                <a:tableStyleId>{5C22544A-7EE6-4342-B048-85BDC9FD1C3A}</a:tableStyleId>
              </a:tblPr>
              <a:tblGrid>
                <a:gridCol w="3187700">
                  <a:extLst>
                    <a:ext uri="{9D8B030D-6E8A-4147-A177-3AD203B41FA5}">
                      <a16:colId xmlns:a16="http://schemas.microsoft.com/office/drawing/2014/main" xmlns="" val="4015233962"/>
                    </a:ext>
                  </a:extLst>
                </a:gridCol>
                <a:gridCol w="3187700">
                  <a:extLst>
                    <a:ext uri="{9D8B030D-6E8A-4147-A177-3AD203B41FA5}">
                      <a16:colId xmlns:a16="http://schemas.microsoft.com/office/drawing/2014/main" xmlns="" val="3763562911"/>
                    </a:ext>
                  </a:extLst>
                </a:gridCol>
              </a:tblGrid>
              <a:tr h="339859">
                <a:tc>
                  <a:txBody>
                    <a:bodyPr/>
                    <a:lstStyle/>
                    <a:p>
                      <a:pPr>
                        <a:lnSpc>
                          <a:spcPct val="107000"/>
                        </a:lnSpc>
                        <a:spcAft>
                          <a:spcPts val="800"/>
                        </a:spcAft>
                      </a:pPr>
                      <a:r>
                        <a:rPr lang="en-IN" sz="1200" kern="0">
                          <a:effectLst/>
                        </a:rPr>
                        <a:t>puzzling in nature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nSpc>
                          <a:spcPct val="107000"/>
                        </a:lnSpc>
                        <a:spcAft>
                          <a:spcPts val="800"/>
                        </a:spcAft>
                      </a:pPr>
                      <a:r>
                        <a:rPr lang="en-IN" sz="1200" kern="0">
                          <a:effectLst/>
                        </a:rPr>
                        <a:t>Puzzling</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extLst>
                  <a:ext uri="{0D108BD9-81ED-4DB2-BD59-A6C34878D82A}">
                    <a16:rowId xmlns:a16="http://schemas.microsoft.com/office/drawing/2014/main" xmlns="" val="2614407952"/>
                  </a:ext>
                </a:extLst>
              </a:tr>
              <a:tr h="339859">
                <a:tc>
                  <a:txBody>
                    <a:bodyPr/>
                    <a:lstStyle/>
                    <a:p>
                      <a:pPr>
                        <a:lnSpc>
                          <a:spcPct val="107000"/>
                        </a:lnSpc>
                        <a:spcAft>
                          <a:spcPts val="800"/>
                        </a:spcAft>
                      </a:pPr>
                      <a:r>
                        <a:rPr lang="en-IN" sz="1200" kern="0">
                          <a:effectLst/>
                        </a:rPr>
                        <a:t>refer back</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nSpc>
                          <a:spcPct val="107000"/>
                        </a:lnSpc>
                        <a:spcAft>
                          <a:spcPts val="800"/>
                        </a:spcAft>
                      </a:pPr>
                      <a:r>
                        <a:rPr lang="en-IN" sz="1200" kern="0">
                          <a:effectLst/>
                        </a:rPr>
                        <a:t>Refer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extLst>
                  <a:ext uri="{0D108BD9-81ED-4DB2-BD59-A6C34878D82A}">
                    <a16:rowId xmlns:a16="http://schemas.microsoft.com/office/drawing/2014/main" xmlns="" val="241051192"/>
                  </a:ext>
                </a:extLst>
              </a:tr>
              <a:tr h="339859">
                <a:tc>
                  <a:txBody>
                    <a:bodyPr/>
                    <a:lstStyle/>
                    <a:p>
                      <a:pPr>
                        <a:lnSpc>
                          <a:spcPct val="107000"/>
                        </a:lnSpc>
                        <a:spcAft>
                          <a:spcPts val="800"/>
                        </a:spcAft>
                      </a:pPr>
                      <a:r>
                        <a:rPr lang="en-IN" sz="1200" kern="0">
                          <a:effectLst/>
                        </a:rPr>
                        <a:t>repeat again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nSpc>
                          <a:spcPct val="107000"/>
                        </a:lnSpc>
                        <a:spcAft>
                          <a:spcPts val="800"/>
                        </a:spcAft>
                      </a:pPr>
                      <a:r>
                        <a:rPr lang="en-IN" sz="1200" kern="0" dirty="0">
                          <a:effectLst/>
                        </a:rPr>
                        <a:t>Repeat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extLst>
                  <a:ext uri="{0D108BD9-81ED-4DB2-BD59-A6C34878D82A}">
                    <a16:rowId xmlns:a16="http://schemas.microsoft.com/office/drawing/2014/main" xmlns="" val="1550095368"/>
                  </a:ext>
                </a:extLst>
              </a:tr>
              <a:tr h="339859">
                <a:tc>
                  <a:txBody>
                    <a:bodyPr/>
                    <a:lstStyle/>
                    <a:p>
                      <a:pPr>
                        <a:lnSpc>
                          <a:spcPct val="107000"/>
                        </a:lnSpc>
                        <a:spcAft>
                          <a:spcPts val="800"/>
                        </a:spcAft>
                      </a:pPr>
                      <a:r>
                        <a:rPr lang="en-IN" sz="1200" kern="0">
                          <a:effectLst/>
                        </a:rPr>
                        <a:t>return again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nSpc>
                          <a:spcPct val="107000"/>
                        </a:lnSpc>
                        <a:spcAft>
                          <a:spcPts val="800"/>
                        </a:spcAft>
                      </a:pPr>
                      <a:r>
                        <a:rPr lang="en-IN" sz="1200" kern="0">
                          <a:effectLst/>
                        </a:rPr>
                        <a:t>Return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extLst>
                  <a:ext uri="{0D108BD9-81ED-4DB2-BD59-A6C34878D82A}">
                    <a16:rowId xmlns:a16="http://schemas.microsoft.com/office/drawing/2014/main" xmlns="" val="3880451520"/>
                  </a:ext>
                </a:extLst>
              </a:tr>
              <a:tr h="339859">
                <a:tc>
                  <a:txBody>
                    <a:bodyPr/>
                    <a:lstStyle/>
                    <a:p>
                      <a:pPr>
                        <a:lnSpc>
                          <a:spcPct val="107000"/>
                        </a:lnSpc>
                        <a:spcAft>
                          <a:spcPts val="800"/>
                        </a:spcAft>
                      </a:pPr>
                      <a:r>
                        <a:rPr lang="en-IN" sz="1200" kern="0">
                          <a:effectLst/>
                        </a:rPr>
                        <a:t>revert back</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nSpc>
                          <a:spcPct val="107000"/>
                        </a:lnSpc>
                        <a:spcAft>
                          <a:spcPts val="800"/>
                        </a:spcAft>
                      </a:pPr>
                      <a:r>
                        <a:rPr lang="en-IN" sz="1200" kern="0">
                          <a:effectLst/>
                        </a:rPr>
                        <a:t>Revert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extLst>
                  <a:ext uri="{0D108BD9-81ED-4DB2-BD59-A6C34878D82A}">
                    <a16:rowId xmlns:a16="http://schemas.microsoft.com/office/drawing/2014/main" xmlns="" val="405728598"/>
                  </a:ext>
                </a:extLst>
              </a:tr>
              <a:tr h="339859">
                <a:tc>
                  <a:txBody>
                    <a:bodyPr/>
                    <a:lstStyle/>
                    <a:p>
                      <a:pPr>
                        <a:lnSpc>
                          <a:spcPct val="107000"/>
                        </a:lnSpc>
                        <a:spcAft>
                          <a:spcPts val="800"/>
                        </a:spcAft>
                      </a:pPr>
                      <a:r>
                        <a:rPr lang="en-IN" sz="1200" kern="0">
                          <a:effectLst/>
                        </a:rPr>
                        <a:t>shorter/longer in length</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nSpc>
                          <a:spcPct val="107000"/>
                        </a:lnSpc>
                        <a:spcAft>
                          <a:spcPts val="800"/>
                        </a:spcAft>
                      </a:pPr>
                      <a:r>
                        <a:rPr lang="en-IN" sz="1200" kern="0">
                          <a:effectLst/>
                        </a:rPr>
                        <a:t>shorter/longer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extLst>
                  <a:ext uri="{0D108BD9-81ED-4DB2-BD59-A6C34878D82A}">
                    <a16:rowId xmlns:a16="http://schemas.microsoft.com/office/drawing/2014/main" xmlns="" val="295139631"/>
                  </a:ext>
                </a:extLst>
              </a:tr>
              <a:tr h="339859">
                <a:tc>
                  <a:txBody>
                    <a:bodyPr/>
                    <a:lstStyle/>
                    <a:p>
                      <a:pPr>
                        <a:lnSpc>
                          <a:spcPct val="107000"/>
                        </a:lnSpc>
                        <a:spcAft>
                          <a:spcPts val="800"/>
                        </a:spcAft>
                      </a:pPr>
                      <a:r>
                        <a:rPr lang="en-IN" sz="1200" kern="0">
                          <a:effectLst/>
                        </a:rPr>
                        <a:t>small/large in size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nSpc>
                          <a:spcPct val="107000"/>
                        </a:lnSpc>
                        <a:spcAft>
                          <a:spcPts val="800"/>
                        </a:spcAft>
                      </a:pPr>
                      <a:r>
                        <a:rPr lang="en-IN" sz="1200" kern="0">
                          <a:effectLst/>
                        </a:rPr>
                        <a:t>small/large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extLst>
                  <a:ext uri="{0D108BD9-81ED-4DB2-BD59-A6C34878D82A}">
                    <a16:rowId xmlns:a16="http://schemas.microsoft.com/office/drawing/2014/main" xmlns="" val="506243535"/>
                  </a:ext>
                </a:extLst>
              </a:tr>
              <a:tr h="635245">
                <a:tc>
                  <a:txBody>
                    <a:bodyPr/>
                    <a:lstStyle/>
                    <a:p>
                      <a:pPr>
                        <a:lnSpc>
                          <a:spcPct val="107000"/>
                        </a:lnSpc>
                        <a:spcAft>
                          <a:spcPts val="800"/>
                        </a:spcAft>
                      </a:pPr>
                      <a:r>
                        <a:rPr lang="en-IN" sz="1200" kern="0">
                          <a:effectLst/>
                        </a:rPr>
                        <a:t>square/round/rectangular in shape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nSpc>
                          <a:spcPct val="107000"/>
                        </a:lnSpc>
                        <a:spcAft>
                          <a:spcPts val="800"/>
                        </a:spcAft>
                      </a:pPr>
                      <a:r>
                        <a:rPr lang="en-IN" sz="1200" kern="0">
                          <a:effectLst/>
                        </a:rPr>
                        <a:t>square/round/rectangular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tc>
                <a:extLst>
                  <a:ext uri="{0D108BD9-81ED-4DB2-BD59-A6C34878D82A}">
                    <a16:rowId xmlns:a16="http://schemas.microsoft.com/office/drawing/2014/main" xmlns="" val="2737505676"/>
                  </a:ext>
                </a:extLst>
              </a:tr>
              <a:tr h="339859">
                <a:tc>
                  <a:txBody>
                    <a:bodyPr/>
                    <a:lstStyle/>
                    <a:p>
                      <a:pPr>
                        <a:lnSpc>
                          <a:spcPct val="107000"/>
                        </a:lnSpc>
                        <a:spcAft>
                          <a:spcPts val="800"/>
                        </a:spcAft>
                      </a:pPr>
                      <a:r>
                        <a:rPr lang="en-IN" sz="1200" kern="0">
                          <a:effectLst/>
                        </a:rPr>
                        <a:t>summarize briefly</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nSpc>
                          <a:spcPct val="107000"/>
                        </a:lnSpc>
                        <a:spcAft>
                          <a:spcPts val="800"/>
                        </a:spcAft>
                      </a:pPr>
                      <a:r>
                        <a:rPr lang="en-IN" sz="1200" kern="0">
                          <a:effectLst/>
                        </a:rPr>
                        <a:t>Summarize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extLst>
                  <a:ext uri="{0D108BD9-81ED-4DB2-BD59-A6C34878D82A}">
                    <a16:rowId xmlns:a16="http://schemas.microsoft.com/office/drawing/2014/main" xmlns="" val="4045807664"/>
                  </a:ext>
                </a:extLst>
              </a:tr>
              <a:tr h="339859">
                <a:tc>
                  <a:txBody>
                    <a:bodyPr/>
                    <a:lstStyle/>
                    <a:p>
                      <a:pPr>
                        <a:lnSpc>
                          <a:spcPct val="107000"/>
                        </a:lnSpc>
                        <a:spcAft>
                          <a:spcPts val="800"/>
                        </a:spcAft>
                      </a:pPr>
                      <a:r>
                        <a:rPr lang="en-IN" sz="1200" kern="0">
                          <a:effectLst/>
                        </a:rPr>
                        <a:t>surrounded on all sides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nSpc>
                          <a:spcPct val="107000"/>
                        </a:lnSpc>
                        <a:spcAft>
                          <a:spcPts val="800"/>
                        </a:spcAft>
                      </a:pPr>
                      <a:r>
                        <a:rPr lang="en-IN" sz="1200" kern="0">
                          <a:effectLst/>
                        </a:rPr>
                        <a:t>Surrounded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tc>
                <a:extLst>
                  <a:ext uri="{0D108BD9-81ED-4DB2-BD59-A6C34878D82A}">
                    <a16:rowId xmlns:a16="http://schemas.microsoft.com/office/drawing/2014/main" xmlns="" val="1569748152"/>
                  </a:ext>
                </a:extLst>
              </a:tr>
              <a:tr h="339859">
                <a:tc>
                  <a:txBody>
                    <a:bodyPr/>
                    <a:lstStyle/>
                    <a:p>
                      <a:pPr>
                        <a:lnSpc>
                          <a:spcPct val="107000"/>
                        </a:lnSpc>
                        <a:spcAft>
                          <a:spcPts val="800"/>
                        </a:spcAft>
                      </a:pPr>
                      <a:r>
                        <a:rPr lang="en-IN" sz="1200" kern="0">
                          <a:effectLst/>
                        </a:rPr>
                        <a:t>surrounding circumstances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nSpc>
                          <a:spcPct val="107000"/>
                        </a:lnSpc>
                        <a:spcAft>
                          <a:spcPts val="800"/>
                        </a:spcAft>
                      </a:pPr>
                      <a:r>
                        <a:rPr lang="en-IN" sz="1200" kern="0">
                          <a:effectLst/>
                        </a:rPr>
                        <a:t>Circumstances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extLst>
                  <a:ext uri="{0D108BD9-81ED-4DB2-BD59-A6C34878D82A}">
                    <a16:rowId xmlns:a16="http://schemas.microsoft.com/office/drawing/2014/main" xmlns="" val="1306558832"/>
                  </a:ext>
                </a:extLst>
              </a:tr>
              <a:tr h="339859">
                <a:tc>
                  <a:txBody>
                    <a:bodyPr/>
                    <a:lstStyle/>
                    <a:p>
                      <a:pPr>
                        <a:lnSpc>
                          <a:spcPct val="107000"/>
                        </a:lnSpc>
                        <a:spcAft>
                          <a:spcPts val="800"/>
                        </a:spcAft>
                      </a:pPr>
                      <a:r>
                        <a:rPr lang="en-IN" sz="1200" kern="0">
                          <a:effectLst/>
                        </a:rPr>
                        <a:t>the future to come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nSpc>
                          <a:spcPct val="107000"/>
                        </a:lnSpc>
                        <a:spcAft>
                          <a:spcPts val="800"/>
                        </a:spcAft>
                      </a:pPr>
                      <a:r>
                        <a:rPr lang="en-IN" sz="1200" kern="0">
                          <a:effectLst/>
                        </a:rPr>
                        <a:t>the future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extLst>
                  <a:ext uri="{0D108BD9-81ED-4DB2-BD59-A6C34878D82A}">
                    <a16:rowId xmlns:a16="http://schemas.microsoft.com/office/drawing/2014/main" xmlns="" val="3126475988"/>
                  </a:ext>
                </a:extLst>
              </a:tr>
              <a:tr h="339859">
                <a:tc>
                  <a:txBody>
                    <a:bodyPr/>
                    <a:lstStyle/>
                    <a:p>
                      <a:pPr>
                        <a:lnSpc>
                          <a:spcPct val="107000"/>
                        </a:lnSpc>
                        <a:spcAft>
                          <a:spcPts val="800"/>
                        </a:spcAft>
                      </a:pPr>
                      <a:r>
                        <a:rPr lang="en-IN" sz="1200" kern="0">
                          <a:effectLst/>
                        </a:rPr>
                        <a:t>there is no doubt but that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nSpc>
                          <a:spcPct val="107000"/>
                        </a:lnSpc>
                        <a:spcAft>
                          <a:spcPts val="800"/>
                        </a:spcAft>
                      </a:pPr>
                      <a:r>
                        <a:rPr lang="en-IN" sz="1200" kern="0">
                          <a:effectLst/>
                        </a:rPr>
                        <a:t>no doubt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tc>
                <a:extLst>
                  <a:ext uri="{0D108BD9-81ED-4DB2-BD59-A6C34878D82A}">
                    <a16:rowId xmlns:a16="http://schemas.microsoft.com/office/drawing/2014/main" xmlns="" val="2897610943"/>
                  </a:ext>
                </a:extLst>
              </a:tr>
              <a:tr h="339859">
                <a:tc>
                  <a:txBody>
                    <a:bodyPr/>
                    <a:lstStyle/>
                    <a:p>
                      <a:pPr>
                        <a:lnSpc>
                          <a:spcPct val="107000"/>
                        </a:lnSpc>
                        <a:spcAft>
                          <a:spcPts val="800"/>
                        </a:spcAft>
                      </a:pPr>
                      <a:r>
                        <a:rPr lang="en-IN" sz="1200" kern="0">
                          <a:effectLst/>
                        </a:rPr>
                        <a:t>usual/habitual custom</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nSpc>
                          <a:spcPct val="107000"/>
                        </a:lnSpc>
                        <a:spcAft>
                          <a:spcPts val="800"/>
                        </a:spcAft>
                      </a:pPr>
                      <a:r>
                        <a:rPr lang="en-IN" sz="1200" kern="0">
                          <a:effectLst/>
                        </a:rPr>
                        <a:t>Custom</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extLst>
                  <a:ext uri="{0D108BD9-81ED-4DB2-BD59-A6C34878D82A}">
                    <a16:rowId xmlns:a16="http://schemas.microsoft.com/office/drawing/2014/main" xmlns="" val="3837116518"/>
                  </a:ext>
                </a:extLst>
              </a:tr>
              <a:tr h="339859">
                <a:tc>
                  <a:txBody>
                    <a:bodyPr/>
                    <a:lstStyle/>
                    <a:p>
                      <a:pPr>
                        <a:lnSpc>
                          <a:spcPct val="107000"/>
                        </a:lnSpc>
                        <a:spcAft>
                          <a:spcPts val="800"/>
                        </a:spcAft>
                      </a:pPr>
                      <a:r>
                        <a:rPr lang="en-IN" sz="1200" kern="0">
                          <a:effectLst/>
                        </a:rPr>
                        <a:t>we are in receipt of</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nSpc>
                          <a:spcPct val="107000"/>
                        </a:lnSpc>
                        <a:spcAft>
                          <a:spcPts val="800"/>
                        </a:spcAft>
                      </a:pPr>
                      <a:r>
                        <a:rPr lang="en-IN" sz="1200" kern="0" dirty="0">
                          <a:effectLst/>
                        </a:rPr>
                        <a:t>we have received</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extLst>
                  <a:ext uri="{0D108BD9-81ED-4DB2-BD59-A6C34878D82A}">
                    <a16:rowId xmlns:a16="http://schemas.microsoft.com/office/drawing/2014/main" xmlns="" val="2994194497"/>
                  </a:ext>
                </a:extLst>
              </a:tr>
            </a:tbl>
          </a:graphicData>
        </a:graphic>
      </p:graphicFrame>
    </p:spTree>
    <p:extLst>
      <p:ext uri="{BB962C8B-B14F-4D97-AF65-F5344CB8AC3E}">
        <p14:creationId xmlns:p14="http://schemas.microsoft.com/office/powerpoint/2010/main" xmlns="" val="275162970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9"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Reducing Clauses to Phrases, Phrases to Single Words</a:t>
            </a:r>
            <a:endParaRPr lang="en-IN" dirty="0">
              <a:latin typeface="Times New Roman" panose="02020603050405020304" pitchFamily="18" charset="0"/>
              <a:cs typeface="Times New Roman" panose="02020603050405020304" pitchFamily="18" charset="0"/>
            </a:endParaRPr>
          </a:p>
        </p:txBody>
      </p:sp>
      <p:sp>
        <p:nvSpPr>
          <p:cNvPr id="1048680" name="Content Placeholder 2"/>
          <p:cNvSpPr>
            <a:spLocks noGrp="1"/>
          </p:cNvSpPr>
          <p:nvPr>
            <p:ph idx="1"/>
          </p:nvPr>
        </p:nvSpPr>
        <p:spPr/>
        <p:txBody>
          <a:bodyPr/>
          <a:lstStyle/>
          <a:p>
            <a:r>
              <a:rPr lang="en-US" dirty="0"/>
              <a:t>Be alert for clauses or phrases that can be pared to simpler, shorter constructions. The “which clause” can often be shortened to a simple adjective.</a:t>
            </a:r>
          </a:p>
          <a:p>
            <a:pPr marL="0" indent="0">
              <a:buNone/>
            </a:pPr>
            <a:r>
              <a:rPr lang="en-US" dirty="0"/>
              <a:t>a. Smith College, which was founded in 1871, is the premier all-women’s college in the United States.</a:t>
            </a:r>
          </a:p>
          <a:p>
            <a:pPr marL="0" indent="0">
              <a:buNone/>
            </a:pPr>
            <a:r>
              <a:rPr lang="en-US" dirty="0"/>
              <a:t>a. Founded in 1871, Smith College is the premier all-women’s college in the United States.</a:t>
            </a:r>
          </a:p>
          <a:p>
            <a:pPr marL="0" indent="0">
              <a:buNone/>
            </a:pPr>
            <a:r>
              <a:rPr lang="en-US" dirty="0"/>
              <a:t>b. Citizens who knew what was going on voted him out of office.</a:t>
            </a:r>
          </a:p>
          <a:p>
            <a:pPr marL="0" indent="0">
              <a:buNone/>
            </a:pPr>
            <a:r>
              <a:rPr lang="en-US" dirty="0"/>
              <a:t>b. Knowledgeable citizens voted him out of office.</a:t>
            </a:r>
            <a:endParaRPr lang="en-IN"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Title 1"/>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Intensifiers that Don't Intensify</a:t>
            </a:r>
          </a:p>
        </p:txBody>
      </p:sp>
      <p:sp>
        <p:nvSpPr>
          <p:cNvPr id="1048682" name="Content Placeholder 2"/>
          <p:cNvSpPr>
            <a:spLocks noGrp="1"/>
          </p:cNvSpPr>
          <p:nvPr>
            <p:ph idx="1"/>
          </p:nvPr>
        </p:nvSpPr>
        <p:spPr/>
        <p:txBody>
          <a:bodyPr/>
          <a:lstStyle/>
          <a:p>
            <a:r>
              <a:rPr lang="en-US" b="0" i="0" dirty="0">
                <a:solidFill>
                  <a:srgbClr val="000000"/>
                </a:solidFill>
                <a:effectLst/>
                <a:latin typeface="times" panose="02020603050405020304" pitchFamily="18" charset="0"/>
              </a:rPr>
              <a:t>Avoid using words such as </a:t>
            </a:r>
            <a:r>
              <a:rPr lang="en-US" b="0" i="1" dirty="0">
                <a:solidFill>
                  <a:srgbClr val="000000"/>
                </a:solidFill>
                <a:effectLst/>
                <a:latin typeface="times" panose="02020603050405020304" pitchFamily="18" charset="0"/>
              </a:rPr>
              <a:t>really, very, quite, extremely, severely</a:t>
            </a:r>
            <a:r>
              <a:rPr lang="en-US" b="0" i="0" dirty="0">
                <a:solidFill>
                  <a:srgbClr val="000000"/>
                </a:solidFill>
                <a:effectLst/>
                <a:latin typeface="times" panose="02020603050405020304" pitchFamily="18" charset="0"/>
              </a:rPr>
              <a:t> when they are not necessary.</a:t>
            </a:r>
            <a:endParaRPr lang="en-IN"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38BCE71-3478-1C5B-A1BE-30DBA4B36404}"/>
            </a:ext>
          </a:extLst>
        </p:cNvPr>
        <p:cNvGrpSpPr/>
        <p:nvPr/>
      </p:nvGrpSpPr>
      <p:grpSpPr>
        <a:xfrm>
          <a:off x="0" y="0"/>
          <a:ext cx="0" cy="0"/>
          <a:chOff x="0" y="0"/>
          <a:chExt cx="0" cy="0"/>
        </a:xfrm>
      </p:grpSpPr>
      <p:sp>
        <p:nvSpPr>
          <p:cNvPr id="1048681" name="Title 1">
            <a:extLst>
              <a:ext uri="{FF2B5EF4-FFF2-40B4-BE49-F238E27FC236}">
                <a16:creationId xmlns:a16="http://schemas.microsoft.com/office/drawing/2014/main" xmlns="" id="{D8F88C04-649A-041D-8B56-D5603F3D5E23}"/>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Intensifiers that Don't Intensify</a:t>
            </a:r>
          </a:p>
        </p:txBody>
      </p:sp>
      <p:pic>
        <p:nvPicPr>
          <p:cNvPr id="4" name="Content Placeholder 3">
            <a:extLst>
              <a:ext uri="{FF2B5EF4-FFF2-40B4-BE49-F238E27FC236}">
                <a16:creationId xmlns:a16="http://schemas.microsoft.com/office/drawing/2014/main" xmlns="" id="{CCC508BB-5306-E33E-1C06-17A4372344B6}"/>
              </a:ext>
            </a:extLst>
          </p:cNvPr>
          <p:cNvPicPr>
            <a:picLocks noGrp="1" noChangeAspect="1"/>
          </p:cNvPicPr>
          <p:nvPr>
            <p:ph idx="1"/>
          </p:nvPr>
        </p:nvPicPr>
        <p:blipFill>
          <a:blip r:embed="rId2"/>
          <a:stretch>
            <a:fillRect/>
          </a:stretch>
        </p:blipFill>
        <p:spPr>
          <a:xfrm>
            <a:off x="3541759" y="1802377"/>
            <a:ext cx="4974559" cy="4351338"/>
          </a:xfrm>
          <a:prstGeom prst="rect">
            <a:avLst/>
          </a:prstGeom>
        </p:spPr>
      </p:pic>
    </p:spTree>
    <p:extLst>
      <p:ext uri="{BB962C8B-B14F-4D97-AF65-F5344CB8AC3E}">
        <p14:creationId xmlns:p14="http://schemas.microsoft.com/office/powerpoint/2010/main" xmlns="" val="424528648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3" name="Title 1"/>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Avoiding Expletive Constructions</a:t>
            </a:r>
          </a:p>
        </p:txBody>
      </p:sp>
      <p:sp>
        <p:nvSpPr>
          <p:cNvPr id="1048684" name="Content Placeholder 2"/>
          <p:cNvSpPr>
            <a:spLocks noGrp="1"/>
          </p:cNvSpPr>
          <p:nvPr>
            <p:ph idx="1"/>
          </p:nvPr>
        </p:nvSpPr>
        <p:spPr/>
        <p:txBody>
          <a:bodyPr/>
          <a:lstStyle/>
          <a:p>
            <a:r>
              <a:rPr lang="en-US" dirty="0"/>
              <a:t>There are twenty-five students who have already expressed a desire to attend the program next summer. It is they and their parents who stand to gain the most from the government grant.</a:t>
            </a:r>
          </a:p>
          <a:p>
            <a:r>
              <a:rPr lang="en-US" dirty="0"/>
              <a:t>Twenty-five students have already expressed a desire to attend the program next summer. They and their parents stand to gain the most from the government grant.</a:t>
            </a:r>
            <a:endParaRPr lang="en-I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5" name="Title 1"/>
          <p:cNvSpPr>
            <a:spLocks noGrp="1"/>
          </p:cNvSpPr>
          <p:nvPr>
            <p:ph type="title"/>
          </p:nvPr>
        </p:nvSpPr>
        <p:spPr/>
        <p:txBody>
          <a:bodyPr/>
          <a:lstStyle/>
          <a:p>
            <a:pPr algn="ctr"/>
            <a:r>
              <a:rPr lang="en-IN" dirty="0"/>
              <a:t>Be economical with words</a:t>
            </a:r>
          </a:p>
        </p:txBody>
      </p:sp>
      <p:sp>
        <p:nvSpPr>
          <p:cNvPr id="1048636" name="Content Placeholder 2"/>
          <p:cNvSpPr>
            <a:spLocks noGrp="1"/>
          </p:cNvSpPr>
          <p:nvPr>
            <p:ph idx="1"/>
          </p:nvPr>
        </p:nvSpPr>
        <p:spPr>
          <a:xfrm>
            <a:off x="838200" y="1816198"/>
            <a:ext cx="10515600" cy="4351338"/>
          </a:xfrm>
        </p:spPr>
        <p:txBody>
          <a:bodyPr>
            <a:normAutofit fontScale="96786"/>
          </a:bodyPr>
          <a:lstStyle/>
          <a:p>
            <a:pPr marL="514350" indent="-514350">
              <a:buAutoNum type="arabicPeriod"/>
            </a:pPr>
            <a:r>
              <a:rPr lang="en-US" dirty="0"/>
              <a:t>This is to inform you that I  am interested in applying for the position of Junior Engineer. (17 words)</a:t>
            </a:r>
          </a:p>
          <a:p>
            <a:pPr marL="514350" indent="-514350">
              <a:buAutoNum type="arabicPeriod"/>
            </a:pPr>
            <a:endParaRPr lang="en-US" dirty="0"/>
          </a:p>
          <a:p>
            <a:pPr marL="514350" indent="-514350">
              <a:buAutoNum type="arabicPeriod"/>
            </a:pPr>
            <a:endParaRPr lang="en-US" dirty="0"/>
          </a:p>
          <a:p>
            <a:pPr>
              <a:buFont typeface="Wingdings" panose="05000000000000000000" pitchFamily="2" charset="2"/>
              <a:buChar char="v"/>
            </a:pPr>
            <a:r>
              <a:rPr lang="en-US" dirty="0"/>
              <a:t>I am interested in applying for the post of Junior Engineer. (11 words)</a:t>
            </a:r>
          </a:p>
          <a:p>
            <a:pPr marL="0" indent="0">
              <a:buNone/>
            </a:pP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88F638A-1F33-F0B1-03D7-2ADC31DC97BD}"/>
            </a:ext>
          </a:extLst>
        </p:cNvPr>
        <p:cNvGrpSpPr/>
        <p:nvPr/>
      </p:nvGrpSpPr>
      <p:grpSpPr>
        <a:xfrm>
          <a:off x="0" y="0"/>
          <a:ext cx="0" cy="0"/>
          <a:chOff x="0" y="0"/>
          <a:chExt cx="0" cy="0"/>
        </a:xfrm>
      </p:grpSpPr>
      <p:sp>
        <p:nvSpPr>
          <p:cNvPr id="1048635" name="Title 1">
            <a:extLst>
              <a:ext uri="{FF2B5EF4-FFF2-40B4-BE49-F238E27FC236}">
                <a16:creationId xmlns:a16="http://schemas.microsoft.com/office/drawing/2014/main" xmlns="" id="{709F40F9-EBAB-4B92-D1B8-7B513689CEE6}"/>
              </a:ext>
            </a:extLst>
          </p:cNvPr>
          <p:cNvSpPr>
            <a:spLocks noGrp="1"/>
          </p:cNvSpPr>
          <p:nvPr>
            <p:ph type="title"/>
          </p:nvPr>
        </p:nvSpPr>
        <p:spPr/>
        <p:txBody>
          <a:bodyPr/>
          <a:lstStyle/>
          <a:p>
            <a:pPr algn="ctr"/>
            <a:r>
              <a:rPr lang="en-IN" dirty="0"/>
              <a:t>Be economical with words</a:t>
            </a:r>
          </a:p>
        </p:txBody>
      </p:sp>
      <p:sp>
        <p:nvSpPr>
          <p:cNvPr id="1048636" name="Content Placeholder 2">
            <a:extLst>
              <a:ext uri="{FF2B5EF4-FFF2-40B4-BE49-F238E27FC236}">
                <a16:creationId xmlns:a16="http://schemas.microsoft.com/office/drawing/2014/main" xmlns="" id="{524AB1AB-7AF5-0A94-0092-4D86CD852D97}"/>
              </a:ext>
            </a:extLst>
          </p:cNvPr>
          <p:cNvSpPr>
            <a:spLocks noGrp="1"/>
          </p:cNvSpPr>
          <p:nvPr>
            <p:ph idx="1"/>
          </p:nvPr>
        </p:nvSpPr>
        <p:spPr>
          <a:xfrm>
            <a:off x="838200" y="1816198"/>
            <a:ext cx="10515600" cy="4351338"/>
          </a:xfrm>
        </p:spPr>
        <p:txBody>
          <a:bodyPr>
            <a:normAutofit fontScale="96786" lnSpcReduction="10000"/>
          </a:bodyPr>
          <a:lstStyle/>
          <a:p>
            <a:pPr marL="0" indent="0">
              <a:buNone/>
            </a:pPr>
            <a:r>
              <a:rPr lang="en-US" dirty="0"/>
              <a:t>2. I am truly the best choice among all the candidates because I qualified Bachelor of Technology in Mechanical Engineering with a really excellent  CGP of 7.8. Also, besides the core B. Tech course in Mechanical Engineering, I quite a bit was motivated to pursue several technical courses to enhance my skills and knowledge. </a:t>
            </a:r>
          </a:p>
          <a:p>
            <a:pPr>
              <a:buFont typeface="Wingdings" panose="05000000000000000000" pitchFamily="2" charset="2"/>
              <a:buChar char="v"/>
            </a:pPr>
            <a:r>
              <a:rPr lang="en-US" dirty="0"/>
              <a:t>I’m the ideal candidate for the Junior Engineer role, holding a B. Tech. in Mechanical Engineering with a strong CGPA of 7.8. I've also pursued additional technical courses to enhance my skills and knowledge."</a:t>
            </a:r>
          </a:p>
          <a:p>
            <a:pPr>
              <a:buFont typeface="Wingdings" panose="05000000000000000000" pitchFamily="2" charset="2"/>
              <a:buChar char="v"/>
            </a:pPr>
            <a:r>
              <a:rPr lang="en-US" dirty="0"/>
              <a:t>With a B. Tech. in Mechanical Engineering (CGPA 7.8) and additional technical training, I’m confident in my qualifications for the Junior Engineer role</a:t>
            </a:r>
            <a:r>
              <a:rPr lang="en-IN" dirty="0"/>
              <a:t>. </a:t>
            </a:r>
          </a:p>
        </p:txBody>
      </p:sp>
    </p:spTree>
    <p:extLst>
      <p:ext uri="{BB962C8B-B14F-4D97-AF65-F5344CB8AC3E}">
        <p14:creationId xmlns:p14="http://schemas.microsoft.com/office/powerpoint/2010/main" xmlns="" val="11378688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Title 1"/>
          <p:cNvSpPr>
            <a:spLocks noGrp="1"/>
          </p:cNvSpPr>
          <p:nvPr>
            <p:ph type="title"/>
          </p:nvPr>
        </p:nvSpPr>
        <p:spPr>
          <a:xfrm>
            <a:off x="839788" y="365126"/>
            <a:ext cx="10515600" cy="557742"/>
          </a:xfrm>
        </p:spPr>
        <p:txBody>
          <a:bodyPr>
            <a:normAutofit fontScale="90000"/>
          </a:bodyPr>
          <a:lstStyle/>
          <a:p>
            <a:pPr algn="ctr"/>
            <a:r>
              <a:rPr lang="en-IN" b="1" dirty="0"/>
              <a:t>Be Concrete</a:t>
            </a:r>
          </a:p>
        </p:txBody>
      </p:sp>
      <p:sp>
        <p:nvSpPr>
          <p:cNvPr id="1048613" name="Text Placeholder 2"/>
          <p:cNvSpPr>
            <a:spLocks noGrp="1"/>
          </p:cNvSpPr>
          <p:nvPr>
            <p:ph type="body" idx="1"/>
          </p:nvPr>
        </p:nvSpPr>
        <p:spPr>
          <a:xfrm rot="10800000" flipV="1">
            <a:off x="839788" y="1123421"/>
            <a:ext cx="5157787" cy="341312"/>
          </a:xfrm>
        </p:spPr>
        <p:txBody>
          <a:bodyPr>
            <a:normAutofit fontScale="92500" lnSpcReduction="20000"/>
          </a:bodyPr>
          <a:lstStyle/>
          <a:p>
            <a:pPr algn="ctr"/>
            <a:r>
              <a:rPr lang="en-IN" dirty="0">
                <a:latin typeface="Times New Roman" panose="02020603050405020304" pitchFamily="18" charset="0"/>
                <a:cs typeface="Times New Roman" panose="02020603050405020304" pitchFamily="18" charset="0"/>
              </a:rPr>
              <a:t>Concrete words</a:t>
            </a:r>
          </a:p>
        </p:txBody>
      </p:sp>
      <p:sp>
        <p:nvSpPr>
          <p:cNvPr id="1048614" name="Content Placeholder 3"/>
          <p:cNvSpPr>
            <a:spLocks noGrp="1"/>
          </p:cNvSpPr>
          <p:nvPr>
            <p:ph sz="half" idx="2"/>
          </p:nvPr>
        </p:nvSpPr>
        <p:spPr>
          <a:xfrm>
            <a:off x="839788" y="1464734"/>
            <a:ext cx="5157787" cy="5393266"/>
          </a:xfrm>
        </p:spPr>
        <p:txBody>
          <a:bodyPr>
            <a:normAutofit/>
          </a:bodyPr>
          <a:lstStyle/>
          <a:p>
            <a:r>
              <a:rPr lang="en-US" dirty="0">
                <a:latin typeface="Times New Roman" panose="02020603050405020304" pitchFamily="18" charset="0"/>
                <a:cs typeface="Times New Roman" panose="02020603050405020304" pitchFamily="18" charset="0"/>
              </a:rPr>
              <a:t>Specific</a:t>
            </a:r>
          </a:p>
          <a:p>
            <a:r>
              <a:rPr lang="en-US" dirty="0">
                <a:latin typeface="Times New Roman" panose="02020603050405020304" pitchFamily="18" charset="0"/>
                <a:cs typeface="Times New Roman" panose="02020603050405020304" pitchFamily="18" charset="0"/>
              </a:rPr>
              <a:t>Limited interpretation 	</a:t>
            </a:r>
          </a:p>
          <a:p>
            <a:r>
              <a:rPr lang="en-US" dirty="0">
                <a:latin typeface="Times New Roman" panose="02020603050405020304" pitchFamily="18" charset="0"/>
                <a:cs typeface="Times New Roman" panose="02020603050405020304" pitchFamily="18" charset="0"/>
              </a:rPr>
              <a:t>Forceful			</a:t>
            </a:r>
          </a:p>
          <a:p>
            <a:r>
              <a:rPr lang="en-US" dirty="0">
                <a:latin typeface="Times New Roman" panose="02020603050405020304" pitchFamily="18" charset="0"/>
                <a:cs typeface="Times New Roman" panose="02020603050405020304" pitchFamily="18" charset="0"/>
              </a:rPr>
              <a:t>Direct and to the point </a:t>
            </a:r>
          </a:p>
        </p:txBody>
      </p:sp>
      <p:sp>
        <p:nvSpPr>
          <p:cNvPr id="1048615" name="Text Placeholder 4"/>
          <p:cNvSpPr>
            <a:spLocks noGrp="1"/>
          </p:cNvSpPr>
          <p:nvPr>
            <p:ph type="body" sz="quarter" idx="3"/>
          </p:nvPr>
        </p:nvSpPr>
        <p:spPr>
          <a:xfrm>
            <a:off x="6172200" y="1123421"/>
            <a:ext cx="5183188" cy="341312"/>
          </a:xfrm>
        </p:spPr>
        <p:txBody>
          <a:bodyPr>
            <a:normAutofit fontScale="92500" lnSpcReduction="20000"/>
          </a:bodyPr>
          <a:lstStyle/>
          <a:p>
            <a:pPr algn="ctr"/>
            <a:r>
              <a:rPr lang="en-IN" dirty="0">
                <a:latin typeface="Times New Roman" panose="02020603050405020304" pitchFamily="18" charset="0"/>
                <a:cs typeface="Times New Roman" panose="02020603050405020304" pitchFamily="18" charset="0"/>
              </a:rPr>
              <a:t>Abstract words</a:t>
            </a:r>
          </a:p>
        </p:txBody>
      </p:sp>
      <p:sp>
        <p:nvSpPr>
          <p:cNvPr id="1048616" name="Content Placeholder 5"/>
          <p:cNvSpPr>
            <a:spLocks noGrp="1"/>
          </p:cNvSpPr>
          <p:nvPr>
            <p:ph sz="quarter" idx="4"/>
          </p:nvPr>
        </p:nvSpPr>
        <p:spPr>
          <a:xfrm>
            <a:off x="6172200" y="1464733"/>
            <a:ext cx="5183188" cy="5393266"/>
          </a:xfrm>
        </p:spPr>
        <p:txBody>
          <a:bodyPr>
            <a:normAutofit/>
          </a:bodyPr>
          <a:lstStyle/>
          <a:p>
            <a:r>
              <a:rPr lang="en-IN" dirty="0"/>
              <a:t>General</a:t>
            </a:r>
          </a:p>
          <a:p>
            <a:r>
              <a:rPr lang="en-IN" dirty="0"/>
              <a:t>Ambiguous</a:t>
            </a:r>
          </a:p>
          <a:p>
            <a:r>
              <a:rPr lang="en-IN" dirty="0"/>
              <a:t>Vague</a:t>
            </a:r>
          </a:p>
          <a:p>
            <a:r>
              <a:rPr lang="en-US" dirty="0"/>
              <a:t>Digress from the point</a:t>
            </a:r>
          </a:p>
          <a:p>
            <a:endParaRPr lang="en-I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034D083-C1A8-33E9-2DA9-651F63FB4CA0}"/>
            </a:ext>
          </a:extLst>
        </p:cNvPr>
        <p:cNvGrpSpPr/>
        <p:nvPr/>
      </p:nvGrpSpPr>
      <p:grpSpPr>
        <a:xfrm>
          <a:off x="0" y="0"/>
          <a:ext cx="0" cy="0"/>
          <a:chOff x="0" y="0"/>
          <a:chExt cx="0" cy="0"/>
        </a:xfrm>
      </p:grpSpPr>
      <p:sp>
        <p:nvSpPr>
          <p:cNvPr id="1048612" name="Title 1">
            <a:extLst>
              <a:ext uri="{FF2B5EF4-FFF2-40B4-BE49-F238E27FC236}">
                <a16:creationId xmlns:a16="http://schemas.microsoft.com/office/drawing/2014/main" xmlns="" id="{372E79CB-E1DD-4A72-8F2A-23DE84ADB305}"/>
              </a:ext>
            </a:extLst>
          </p:cNvPr>
          <p:cNvSpPr>
            <a:spLocks noGrp="1"/>
          </p:cNvSpPr>
          <p:nvPr>
            <p:ph type="title"/>
          </p:nvPr>
        </p:nvSpPr>
        <p:spPr>
          <a:xfrm>
            <a:off x="839788" y="365126"/>
            <a:ext cx="10515600" cy="557742"/>
          </a:xfrm>
        </p:spPr>
        <p:txBody>
          <a:bodyPr>
            <a:normAutofit fontScale="90000"/>
          </a:bodyPr>
          <a:lstStyle/>
          <a:p>
            <a:pPr algn="ctr"/>
            <a:r>
              <a:rPr lang="en-IN" b="1" dirty="0"/>
              <a:t>Be Concrete</a:t>
            </a:r>
          </a:p>
        </p:txBody>
      </p:sp>
      <p:sp>
        <p:nvSpPr>
          <p:cNvPr id="1048613" name="Text Placeholder 2">
            <a:extLst>
              <a:ext uri="{FF2B5EF4-FFF2-40B4-BE49-F238E27FC236}">
                <a16:creationId xmlns:a16="http://schemas.microsoft.com/office/drawing/2014/main" xmlns="" id="{1242312C-02E2-6FED-925B-D8EBB061DD8C}"/>
              </a:ext>
            </a:extLst>
          </p:cNvPr>
          <p:cNvSpPr>
            <a:spLocks noGrp="1"/>
          </p:cNvSpPr>
          <p:nvPr>
            <p:ph type="body" idx="1"/>
          </p:nvPr>
        </p:nvSpPr>
        <p:spPr>
          <a:xfrm rot="10800000" flipV="1">
            <a:off x="839788" y="1123421"/>
            <a:ext cx="5157787" cy="341312"/>
          </a:xfrm>
        </p:spPr>
        <p:txBody>
          <a:bodyPr>
            <a:normAutofit fontScale="92500" lnSpcReduction="20000"/>
          </a:bodyPr>
          <a:lstStyle/>
          <a:p>
            <a:pPr algn="ctr"/>
            <a:r>
              <a:rPr lang="en-IN" dirty="0">
                <a:latin typeface="Times New Roman" panose="02020603050405020304" pitchFamily="18" charset="0"/>
                <a:cs typeface="Times New Roman" panose="02020603050405020304" pitchFamily="18" charset="0"/>
              </a:rPr>
              <a:t>Concrete words</a:t>
            </a:r>
          </a:p>
        </p:txBody>
      </p:sp>
      <p:sp>
        <p:nvSpPr>
          <p:cNvPr id="1048614" name="Content Placeholder 3">
            <a:extLst>
              <a:ext uri="{FF2B5EF4-FFF2-40B4-BE49-F238E27FC236}">
                <a16:creationId xmlns:a16="http://schemas.microsoft.com/office/drawing/2014/main" xmlns="" id="{A1C041AA-40A6-F528-AF6E-2814D9EE6B02}"/>
              </a:ext>
            </a:extLst>
          </p:cNvPr>
          <p:cNvSpPr>
            <a:spLocks noGrp="1"/>
          </p:cNvSpPr>
          <p:nvPr>
            <p:ph sz="half" idx="2"/>
          </p:nvPr>
        </p:nvSpPr>
        <p:spPr>
          <a:xfrm>
            <a:off x="839788" y="1464734"/>
            <a:ext cx="5157787" cy="5393266"/>
          </a:xfrm>
        </p:spPr>
        <p:txBody>
          <a:bodyPr>
            <a:normAutofit/>
          </a:bodyPr>
          <a:lstStyle/>
          <a:p>
            <a:pPr marL="514350" indent="-514350">
              <a:buFont typeface="+mj-lt"/>
              <a:buAutoNum type="arabicPeriod"/>
            </a:pPr>
            <a:r>
              <a:rPr lang="en-US" dirty="0">
                <a:latin typeface="Times New Roman" panose="02020603050405020304" pitchFamily="18" charset="0"/>
                <a:cs typeface="Times New Roman" panose="02020603050405020304" pitchFamily="18" charset="0"/>
              </a:rPr>
              <a:t>A 20% rise in wages is expected.  </a:t>
            </a:r>
          </a:p>
          <a:p>
            <a:pPr marL="514350" indent="-514350">
              <a:buFont typeface="+mj-lt"/>
              <a:buAutoNum type="arabicPeriod"/>
            </a:pP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2-Day Workshop on communication skills will be </a:t>
            </a:r>
            <a:r>
              <a:rPr lang="en-US" dirty="0" err="1">
                <a:latin typeface="Times New Roman" panose="02020603050405020304" pitchFamily="18" charset="0"/>
                <a:cs typeface="Times New Roman" panose="02020603050405020304" pitchFamily="18" charset="0"/>
              </a:rPr>
              <a:t>organised</a:t>
            </a:r>
            <a:r>
              <a:rPr lang="en-US" dirty="0">
                <a:latin typeface="Times New Roman" panose="02020603050405020304" pitchFamily="18" charset="0"/>
                <a:cs typeface="Times New Roman" panose="02020603050405020304" pitchFamily="18" charset="0"/>
              </a:rPr>
              <a:t> in the next semester.</a:t>
            </a:r>
          </a:p>
          <a:p>
            <a:pPr marL="514350" indent="-514350">
              <a:buFont typeface="+mj-lt"/>
              <a:buAutoNum type="arabicPeriod"/>
            </a:pP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100 sq mt size office on the second floor of Main Building is required.</a:t>
            </a:r>
            <a:endParaRPr lang="en-IN" dirty="0">
              <a:latin typeface="Times New Roman" panose="02020603050405020304" pitchFamily="18" charset="0"/>
              <a:cs typeface="Times New Roman" panose="02020603050405020304" pitchFamily="18" charset="0"/>
            </a:endParaRPr>
          </a:p>
        </p:txBody>
      </p:sp>
      <p:sp>
        <p:nvSpPr>
          <p:cNvPr id="1048615" name="Text Placeholder 4">
            <a:extLst>
              <a:ext uri="{FF2B5EF4-FFF2-40B4-BE49-F238E27FC236}">
                <a16:creationId xmlns:a16="http://schemas.microsoft.com/office/drawing/2014/main" xmlns="" id="{0C9D5EA8-1810-EABA-A8B7-CFCEA959904C}"/>
              </a:ext>
            </a:extLst>
          </p:cNvPr>
          <p:cNvSpPr>
            <a:spLocks noGrp="1"/>
          </p:cNvSpPr>
          <p:nvPr>
            <p:ph type="body" sz="quarter" idx="3"/>
          </p:nvPr>
        </p:nvSpPr>
        <p:spPr>
          <a:xfrm>
            <a:off x="6172200" y="1123421"/>
            <a:ext cx="5183188" cy="341312"/>
          </a:xfrm>
        </p:spPr>
        <p:txBody>
          <a:bodyPr>
            <a:normAutofit fontScale="92500" lnSpcReduction="20000"/>
          </a:bodyPr>
          <a:lstStyle/>
          <a:p>
            <a:pPr algn="ctr"/>
            <a:r>
              <a:rPr lang="en-IN" dirty="0">
                <a:latin typeface="Times New Roman" panose="02020603050405020304" pitchFamily="18" charset="0"/>
                <a:cs typeface="Times New Roman" panose="02020603050405020304" pitchFamily="18" charset="0"/>
              </a:rPr>
              <a:t>Abstract words</a:t>
            </a:r>
          </a:p>
        </p:txBody>
      </p:sp>
      <p:sp>
        <p:nvSpPr>
          <p:cNvPr id="1048616" name="Content Placeholder 5">
            <a:extLst>
              <a:ext uri="{FF2B5EF4-FFF2-40B4-BE49-F238E27FC236}">
                <a16:creationId xmlns:a16="http://schemas.microsoft.com/office/drawing/2014/main" xmlns="" id="{4106842B-F343-D71D-A5CC-5DED50244534}"/>
              </a:ext>
            </a:extLst>
          </p:cNvPr>
          <p:cNvSpPr>
            <a:spLocks noGrp="1"/>
          </p:cNvSpPr>
          <p:nvPr>
            <p:ph sz="quarter" idx="4"/>
          </p:nvPr>
        </p:nvSpPr>
        <p:spPr>
          <a:xfrm>
            <a:off x="6172200" y="1464733"/>
            <a:ext cx="5183188" cy="5393266"/>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 Quite a few students opt for the elective courses.</a:t>
            </a:r>
          </a:p>
          <a:p>
            <a:pPr marL="0" indent="0">
              <a:buNone/>
            </a:pPr>
            <a:r>
              <a:rPr lang="en-US" dirty="0">
                <a:latin typeface="Times New Roman" panose="02020603050405020304" pitchFamily="18" charset="0"/>
                <a:cs typeface="Times New Roman" panose="02020603050405020304" pitchFamily="18" charset="0"/>
              </a:rPr>
              <a:t>There is a slim chance for him to get a job.</a:t>
            </a:r>
          </a:p>
          <a:p>
            <a:pPr marL="0" indent="0">
              <a:buNone/>
            </a:pPr>
            <a:r>
              <a:rPr lang="en-US" dirty="0">
                <a:latin typeface="Times New Roman" panose="02020603050405020304" pitchFamily="18" charset="0"/>
                <a:cs typeface="Times New Roman" panose="02020603050405020304" pitchFamily="18" charset="0"/>
              </a:rPr>
              <a:t>Sakshi did fairly well in her last semester exam.</a:t>
            </a:r>
          </a:p>
          <a:p>
            <a:pPr marL="0" indent="0">
              <a:buNone/>
            </a:pPr>
            <a:r>
              <a:rPr lang="en-US" dirty="0">
                <a:latin typeface="Times New Roman" panose="02020603050405020304" pitchFamily="18" charset="0"/>
                <a:cs typeface="Times New Roman" panose="02020603050405020304" pitchFamily="18" charset="0"/>
              </a:rPr>
              <a:t>He was quite a bit reluctant to share the details of his meeting with the boss.</a:t>
            </a:r>
          </a:p>
          <a:p>
            <a:endParaRPr lang="en-IN" dirty="0"/>
          </a:p>
        </p:txBody>
      </p:sp>
    </p:spTree>
    <p:extLst>
      <p:ext uri="{BB962C8B-B14F-4D97-AF65-F5344CB8AC3E}">
        <p14:creationId xmlns:p14="http://schemas.microsoft.com/office/powerpoint/2010/main" xmlns="" val="515717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Title 1"/>
          <p:cNvSpPr>
            <a:spLocks noGrp="1"/>
          </p:cNvSpPr>
          <p:nvPr>
            <p:ph type="title"/>
          </p:nvPr>
        </p:nvSpPr>
        <p:spPr/>
        <p:txBody>
          <a:bodyPr/>
          <a:lstStyle/>
          <a:p>
            <a:pPr algn="ctr"/>
            <a:r>
              <a:rPr lang="en-US" dirty="0"/>
              <a:t>Be Concrete</a:t>
            </a:r>
            <a:endParaRPr lang="en-IN" dirty="0"/>
          </a:p>
        </p:txBody>
      </p:sp>
      <p:sp>
        <p:nvSpPr>
          <p:cNvPr id="1048618"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A.	The company suffered a tremendous loss in the first quarter of the last year.</a:t>
            </a:r>
          </a:p>
          <a:p>
            <a:pPr marL="0" indent="0">
              <a:buNone/>
            </a:pPr>
            <a:r>
              <a:rPr lang="en-US" dirty="0">
                <a:latin typeface="Times New Roman" panose="02020603050405020304" pitchFamily="18" charset="0"/>
                <a:cs typeface="Times New Roman" panose="02020603050405020304" pitchFamily="18" charset="0"/>
              </a:rPr>
              <a:t>Revised: In the 2022 April quarter, a 20%  loss in profits is calculated.																									</a:t>
            </a:r>
          </a:p>
          <a:p>
            <a:pPr marL="0" indent="0">
              <a:buNone/>
            </a:pPr>
            <a:r>
              <a:rPr lang="en-US" dirty="0">
                <a:latin typeface="Times New Roman" panose="02020603050405020304" pitchFamily="18" charset="0"/>
                <a:cs typeface="Times New Roman" panose="02020603050405020304" pitchFamily="18" charset="0"/>
              </a:rPr>
              <a:t>B.	The smell of the coffee is good.</a:t>
            </a:r>
          </a:p>
          <a:p>
            <a:pPr marL="0" indent="0">
              <a:buNone/>
            </a:pPr>
            <a:r>
              <a:rPr lang="en-US" dirty="0">
                <a:latin typeface="Times New Roman" panose="02020603050405020304" pitchFamily="18" charset="0"/>
                <a:cs typeface="Times New Roman" panose="02020603050405020304" pitchFamily="18" charset="0"/>
              </a:rPr>
              <a:t>Revised: The aroma of the coffee is refreshing.</a:t>
            </a:r>
          </a:p>
          <a:p>
            <a:endParaRPr lang="en-US"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48618">
                                            <p:txEl>
                                              <p:pRg st="1" end="1"/>
                                            </p:txEl>
                                          </p:spTgt>
                                        </p:tgtEl>
                                        <p:attrNameLst>
                                          <p:attrName>style.visibility</p:attrName>
                                        </p:attrNameLst>
                                      </p:cBhvr>
                                      <p:to>
                                        <p:strVal val="visible"/>
                                      </p:to>
                                    </p:set>
                                    <p:anim calcmode="lin" valueType="num">
                                      <p:cBhvr additive="base">
                                        <p:cTn id="7" dur="2250" fill="hold"/>
                                        <p:tgtEl>
                                          <p:spTgt spid="1048618">
                                            <p:txEl>
                                              <p:pRg st="1" end="1"/>
                                            </p:txEl>
                                          </p:spTgt>
                                        </p:tgtEl>
                                        <p:attrNameLst>
                                          <p:attrName>ppt_x</p:attrName>
                                        </p:attrNameLst>
                                      </p:cBhvr>
                                      <p:tavLst>
                                        <p:tav tm="0">
                                          <p:val>
                                            <p:strVal val="#ppt_x"/>
                                          </p:val>
                                        </p:tav>
                                        <p:tav tm="100000">
                                          <p:val>
                                            <p:strVal val="#ppt_x"/>
                                          </p:val>
                                        </p:tav>
                                      </p:tavLst>
                                    </p:anim>
                                    <p:anim calcmode="lin" valueType="num">
                                      <p:cBhvr additive="base">
                                        <p:cTn id="8" dur="2250" fill="hold"/>
                                        <p:tgtEl>
                                          <p:spTgt spid="104861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48618">
                                            <p:txEl>
                                              <p:pRg st="2" end="2"/>
                                            </p:txEl>
                                          </p:spTgt>
                                        </p:tgtEl>
                                        <p:attrNameLst>
                                          <p:attrName>style.visibility</p:attrName>
                                        </p:attrNameLst>
                                      </p:cBhvr>
                                      <p:to>
                                        <p:strVal val="visible"/>
                                      </p:to>
                                    </p:set>
                                    <p:anim calcmode="lin" valueType="num">
                                      <p:cBhvr additive="base">
                                        <p:cTn id="13" dur="2250" fill="hold"/>
                                        <p:tgtEl>
                                          <p:spTgt spid="1048618">
                                            <p:txEl>
                                              <p:pRg st="2" end="2"/>
                                            </p:txEl>
                                          </p:spTgt>
                                        </p:tgtEl>
                                        <p:attrNameLst>
                                          <p:attrName>ppt_x</p:attrName>
                                        </p:attrNameLst>
                                      </p:cBhvr>
                                      <p:tavLst>
                                        <p:tav tm="0">
                                          <p:val>
                                            <p:strVal val="#ppt_x"/>
                                          </p:val>
                                        </p:tav>
                                        <p:tav tm="100000">
                                          <p:val>
                                            <p:strVal val="#ppt_x"/>
                                          </p:val>
                                        </p:tav>
                                      </p:tavLst>
                                    </p:anim>
                                    <p:anim calcmode="lin" valueType="num">
                                      <p:cBhvr additive="base">
                                        <p:cTn id="14" dur="2250" fill="hold"/>
                                        <p:tgtEl>
                                          <p:spTgt spid="104861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48618">
                                            <p:txEl>
                                              <p:pRg st="3" end="3"/>
                                            </p:txEl>
                                          </p:spTgt>
                                        </p:tgtEl>
                                        <p:attrNameLst>
                                          <p:attrName>style.visibility</p:attrName>
                                        </p:attrNameLst>
                                      </p:cBhvr>
                                      <p:to>
                                        <p:strVal val="visible"/>
                                      </p:to>
                                    </p:set>
                                    <p:anim calcmode="lin" valueType="num">
                                      <p:cBhvr additive="base">
                                        <p:cTn id="19" dur="2250" fill="hold"/>
                                        <p:tgtEl>
                                          <p:spTgt spid="1048618">
                                            <p:txEl>
                                              <p:pRg st="3" end="3"/>
                                            </p:txEl>
                                          </p:spTgt>
                                        </p:tgtEl>
                                        <p:attrNameLst>
                                          <p:attrName>ppt_x</p:attrName>
                                        </p:attrNameLst>
                                      </p:cBhvr>
                                      <p:tavLst>
                                        <p:tav tm="0">
                                          <p:val>
                                            <p:strVal val="#ppt_x"/>
                                          </p:val>
                                        </p:tav>
                                        <p:tav tm="100000">
                                          <p:val>
                                            <p:strVal val="#ppt_x"/>
                                          </p:val>
                                        </p:tav>
                                      </p:tavLst>
                                    </p:anim>
                                    <p:anim calcmode="lin" valueType="num">
                                      <p:cBhvr additive="base">
                                        <p:cTn id="20" dur="2250" fill="hold"/>
                                        <p:tgtEl>
                                          <p:spTgt spid="104861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3" name="Title 1"/>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Be Considerate </a:t>
            </a:r>
          </a:p>
        </p:txBody>
      </p:sp>
      <p:sp>
        <p:nvSpPr>
          <p:cNvPr id="1048654" name="Content Placeholder 2"/>
          <p:cNvSpPr>
            <a:spLocks noGrp="1"/>
          </p:cNvSpPr>
          <p:nvPr>
            <p:ph idx="1"/>
          </p:nvPr>
        </p:nvSpPr>
        <p:spPr/>
        <p:txBody>
          <a:bodyPr>
            <a:normAutofit fontScale="92500" lnSpcReduction="20000"/>
          </a:bodyPr>
          <a:lstStyle/>
          <a:p>
            <a:pPr marL="0" indent="0" algn="ctr">
              <a:buNone/>
            </a:pPr>
            <a:r>
              <a:rPr lang="en-US" dirty="0">
                <a:latin typeface="Times New Roman" panose="02020603050405020304" pitchFamily="18" charset="0"/>
                <a:cs typeface="Times New Roman" panose="02020603050405020304" pitchFamily="18" charset="0"/>
              </a:rPr>
              <a:t>Avoid negative replies</a:t>
            </a:r>
          </a:p>
          <a:p>
            <a:pPr marL="514350" indent="-514350">
              <a:buAutoNum type="arabicPeriod"/>
            </a:pPr>
            <a:r>
              <a:rPr lang="en-US" dirty="0">
                <a:latin typeface="Times New Roman" panose="02020603050405020304" pitchFamily="18" charset="0"/>
                <a:cs typeface="Times New Roman" panose="02020603050405020304" pitchFamily="18" charset="0"/>
              </a:rPr>
              <a:t>I cannot help you with the assignment.</a:t>
            </a:r>
          </a:p>
          <a:p>
            <a:pPr marL="0" indent="0">
              <a:buNone/>
            </a:pPr>
            <a:r>
              <a:rPr lang="en-US" dirty="0">
                <a:latin typeface="Times New Roman" panose="02020603050405020304" pitchFamily="18" charset="0"/>
                <a:cs typeface="Times New Roman" panose="02020603050405020304" pitchFamily="18" charset="0"/>
              </a:rPr>
              <a:t>Revised: </a:t>
            </a:r>
          </a:p>
          <a:p>
            <a:pPr marL="0" indent="0">
              <a:buNone/>
            </a:pPr>
            <a:r>
              <a:rPr lang="en-US" dirty="0">
                <a:latin typeface="Times New Roman" panose="02020603050405020304" pitchFamily="18" charset="0"/>
                <a:cs typeface="Times New Roman" panose="02020603050405020304" pitchFamily="18" charset="0"/>
              </a:rPr>
              <a:t>I appreciate you reaching out to me for assistance with the assignment. Unfortunately, I’m unable to provide the support you need at this time. However, I’d be happy to help you explore alternative resources or provide guidance on where to find the information.</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Thank you for considering me for help with your assignment. I regret that I’m not in a position to assist you with this task. Please let me know if there’s anything else I can help with in the future</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48654">
                                            <p:txEl>
                                              <p:pRg st="2" end="2"/>
                                            </p:txEl>
                                          </p:spTgt>
                                        </p:tgtEl>
                                        <p:attrNameLst>
                                          <p:attrName>style.visibility</p:attrName>
                                        </p:attrNameLst>
                                      </p:cBhvr>
                                      <p:to>
                                        <p:strVal val="visible"/>
                                      </p:to>
                                    </p:set>
                                    <p:anim calcmode="lin" valueType="num">
                                      <p:cBhvr additive="base">
                                        <p:cTn id="7" dur="1000" fill="hold"/>
                                        <p:tgtEl>
                                          <p:spTgt spid="1048654">
                                            <p:txEl>
                                              <p:pRg st="2" end="2"/>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104865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48654">
                                            <p:txEl>
                                              <p:pRg st="3" end="3"/>
                                            </p:txEl>
                                          </p:spTgt>
                                        </p:tgtEl>
                                        <p:attrNameLst>
                                          <p:attrName>style.visibility</p:attrName>
                                        </p:attrNameLst>
                                      </p:cBhvr>
                                      <p:to>
                                        <p:strVal val="visible"/>
                                      </p:to>
                                    </p:set>
                                    <p:anim calcmode="lin" valueType="num">
                                      <p:cBhvr additive="base">
                                        <p:cTn id="13" dur="1000" fill="hold"/>
                                        <p:tgtEl>
                                          <p:spTgt spid="1048654">
                                            <p:txEl>
                                              <p:pRg st="3" end="3"/>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104865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48654">
                                            <p:txEl>
                                              <p:pRg st="6" end="6"/>
                                            </p:txEl>
                                          </p:spTgt>
                                        </p:tgtEl>
                                        <p:attrNameLst>
                                          <p:attrName>style.visibility</p:attrName>
                                        </p:attrNameLst>
                                      </p:cBhvr>
                                      <p:to>
                                        <p:strVal val="visible"/>
                                      </p:to>
                                    </p:set>
                                    <p:anim calcmode="lin" valueType="num">
                                      <p:cBhvr additive="base">
                                        <p:cTn id="19" dur="1000" fill="hold"/>
                                        <p:tgtEl>
                                          <p:spTgt spid="1048654">
                                            <p:txEl>
                                              <p:pRg st="6" end="6"/>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104865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1AE4475-8C1D-4A87-2D01-2AC30FA1CA3E}"/>
            </a:ext>
          </a:extLst>
        </p:cNvPr>
        <p:cNvGrpSpPr/>
        <p:nvPr/>
      </p:nvGrpSpPr>
      <p:grpSpPr>
        <a:xfrm>
          <a:off x="0" y="0"/>
          <a:ext cx="0" cy="0"/>
          <a:chOff x="0" y="0"/>
          <a:chExt cx="0" cy="0"/>
        </a:xfrm>
      </p:grpSpPr>
      <p:sp>
        <p:nvSpPr>
          <p:cNvPr id="1048653" name="Title 1">
            <a:extLst>
              <a:ext uri="{FF2B5EF4-FFF2-40B4-BE49-F238E27FC236}">
                <a16:creationId xmlns:a16="http://schemas.microsoft.com/office/drawing/2014/main" xmlns="" id="{D226C6E1-6657-EC44-DBEE-C17960C448ED}"/>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Be Considerate </a:t>
            </a:r>
          </a:p>
        </p:txBody>
      </p:sp>
      <p:sp>
        <p:nvSpPr>
          <p:cNvPr id="1048654" name="Content Placeholder 2">
            <a:extLst>
              <a:ext uri="{FF2B5EF4-FFF2-40B4-BE49-F238E27FC236}">
                <a16:creationId xmlns:a16="http://schemas.microsoft.com/office/drawing/2014/main" xmlns="" id="{6F168661-0004-E6B7-5207-AA09CEE15F0E}"/>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Avoid negative replies</a:t>
            </a:r>
          </a:p>
          <a:p>
            <a:pPr marL="0" indent="0">
              <a:buNone/>
            </a:pPr>
            <a:r>
              <a:rPr lang="en-US" dirty="0">
                <a:latin typeface="Times New Roman" panose="02020603050405020304" pitchFamily="18" charset="0"/>
                <a:cs typeface="Times New Roman" panose="02020603050405020304" pitchFamily="18" charset="0"/>
              </a:rPr>
              <a:t>2. I cannot talk with you right now.</a:t>
            </a:r>
          </a:p>
          <a:p>
            <a:pPr marL="0" indent="0">
              <a:buNone/>
            </a:pPr>
            <a:r>
              <a:rPr lang="en-US" dirty="0">
                <a:latin typeface="Times New Roman" panose="02020603050405020304" pitchFamily="18" charset="0"/>
                <a:cs typeface="Times New Roman" panose="02020603050405020304" pitchFamily="18" charset="0"/>
              </a:rPr>
              <a:t>Revised: </a:t>
            </a:r>
          </a:p>
          <a:p>
            <a:pPr marL="514350" indent="-514350">
              <a:buAutoNum type="arabicPeriod"/>
            </a:pPr>
            <a:r>
              <a:rPr lang="en-US" dirty="0">
                <a:latin typeface="Times New Roman" panose="02020603050405020304" pitchFamily="18" charset="0"/>
                <a:cs typeface="Times New Roman" panose="02020603050405020304" pitchFamily="18" charset="0"/>
              </a:rPr>
              <a:t> I’m busy at the moment, can we catch up later?</a:t>
            </a:r>
          </a:p>
          <a:p>
            <a:pPr marL="514350" indent="-514350">
              <a:buAutoNum type="arabicPeriod"/>
            </a:pPr>
            <a:r>
              <a:rPr lang="en-US" dirty="0">
                <a:latin typeface="Times New Roman" panose="02020603050405020304" pitchFamily="18" charset="0"/>
                <a:cs typeface="Times New Roman" panose="02020603050405020304" pitchFamily="18" charset="0"/>
              </a:rPr>
              <a:t>I’m tied up right now, let’s talk another time.</a:t>
            </a:r>
          </a:p>
          <a:p>
            <a:pPr marL="514350" indent="-514350">
              <a:buAutoNum type="arabicPeriod"/>
            </a:pPr>
            <a:r>
              <a:rPr lang="en-US" dirty="0">
                <a:latin typeface="Times New Roman" panose="02020603050405020304" pitchFamily="18" charset="0"/>
                <a:cs typeface="Times New Roman" panose="02020603050405020304" pitchFamily="18" charset="0"/>
              </a:rPr>
              <a:t>Can I call/text you back later? I’m in the middle of something.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839029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48654">
                                            <p:txEl>
                                              <p:pRg st="1" end="1"/>
                                            </p:txEl>
                                          </p:spTgt>
                                        </p:tgtEl>
                                        <p:attrNameLst>
                                          <p:attrName>style.visibility</p:attrName>
                                        </p:attrNameLst>
                                      </p:cBhvr>
                                      <p:to>
                                        <p:strVal val="visible"/>
                                      </p:to>
                                    </p:set>
                                    <p:anim calcmode="lin" valueType="num">
                                      <p:cBhvr additive="base">
                                        <p:cTn id="7" dur="1500" fill="hold"/>
                                        <p:tgtEl>
                                          <p:spTgt spid="1048654">
                                            <p:txEl>
                                              <p:pRg st="1" end="1"/>
                                            </p:txEl>
                                          </p:spTgt>
                                        </p:tgtEl>
                                        <p:attrNameLst>
                                          <p:attrName>ppt_x</p:attrName>
                                        </p:attrNameLst>
                                      </p:cBhvr>
                                      <p:tavLst>
                                        <p:tav tm="0">
                                          <p:val>
                                            <p:strVal val="#ppt_x"/>
                                          </p:val>
                                        </p:tav>
                                        <p:tav tm="100000">
                                          <p:val>
                                            <p:strVal val="#ppt_x"/>
                                          </p:val>
                                        </p:tav>
                                      </p:tavLst>
                                    </p:anim>
                                    <p:anim calcmode="lin" valueType="num">
                                      <p:cBhvr additive="base">
                                        <p:cTn id="8" dur="1500" fill="hold"/>
                                        <p:tgtEl>
                                          <p:spTgt spid="104865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48654">
                                            <p:txEl>
                                              <p:pRg st="2" end="2"/>
                                            </p:txEl>
                                          </p:spTgt>
                                        </p:tgtEl>
                                        <p:attrNameLst>
                                          <p:attrName>style.visibility</p:attrName>
                                        </p:attrNameLst>
                                      </p:cBhvr>
                                      <p:to>
                                        <p:strVal val="visible"/>
                                      </p:to>
                                    </p:set>
                                    <p:anim calcmode="lin" valueType="num">
                                      <p:cBhvr additive="base">
                                        <p:cTn id="13" dur="1500" fill="hold"/>
                                        <p:tgtEl>
                                          <p:spTgt spid="1048654">
                                            <p:txEl>
                                              <p:pRg st="2" end="2"/>
                                            </p:txEl>
                                          </p:spTgt>
                                        </p:tgtEl>
                                        <p:attrNameLst>
                                          <p:attrName>ppt_x</p:attrName>
                                        </p:attrNameLst>
                                      </p:cBhvr>
                                      <p:tavLst>
                                        <p:tav tm="0">
                                          <p:val>
                                            <p:strVal val="#ppt_x"/>
                                          </p:val>
                                        </p:tav>
                                        <p:tav tm="100000">
                                          <p:val>
                                            <p:strVal val="#ppt_x"/>
                                          </p:val>
                                        </p:tav>
                                      </p:tavLst>
                                    </p:anim>
                                    <p:anim calcmode="lin" valueType="num">
                                      <p:cBhvr additive="base">
                                        <p:cTn id="14" dur="1500" fill="hold"/>
                                        <p:tgtEl>
                                          <p:spTgt spid="104865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48654">
                                            <p:txEl>
                                              <p:pRg st="3" end="3"/>
                                            </p:txEl>
                                          </p:spTgt>
                                        </p:tgtEl>
                                        <p:attrNameLst>
                                          <p:attrName>style.visibility</p:attrName>
                                        </p:attrNameLst>
                                      </p:cBhvr>
                                      <p:to>
                                        <p:strVal val="visible"/>
                                      </p:to>
                                    </p:set>
                                    <p:anim calcmode="lin" valueType="num">
                                      <p:cBhvr additive="base">
                                        <p:cTn id="19" dur="1500" fill="hold"/>
                                        <p:tgtEl>
                                          <p:spTgt spid="1048654">
                                            <p:txEl>
                                              <p:pRg st="3" end="3"/>
                                            </p:txEl>
                                          </p:spTgt>
                                        </p:tgtEl>
                                        <p:attrNameLst>
                                          <p:attrName>ppt_x</p:attrName>
                                        </p:attrNameLst>
                                      </p:cBhvr>
                                      <p:tavLst>
                                        <p:tav tm="0">
                                          <p:val>
                                            <p:strVal val="#ppt_x"/>
                                          </p:val>
                                        </p:tav>
                                        <p:tav tm="100000">
                                          <p:val>
                                            <p:strVal val="#ppt_x"/>
                                          </p:val>
                                        </p:tav>
                                      </p:tavLst>
                                    </p:anim>
                                    <p:anim calcmode="lin" valueType="num">
                                      <p:cBhvr additive="base">
                                        <p:cTn id="20" dur="1500" fill="hold"/>
                                        <p:tgtEl>
                                          <p:spTgt spid="104865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48654">
                                            <p:txEl>
                                              <p:pRg st="4" end="4"/>
                                            </p:txEl>
                                          </p:spTgt>
                                        </p:tgtEl>
                                        <p:attrNameLst>
                                          <p:attrName>style.visibility</p:attrName>
                                        </p:attrNameLst>
                                      </p:cBhvr>
                                      <p:to>
                                        <p:strVal val="visible"/>
                                      </p:to>
                                    </p:set>
                                    <p:anim calcmode="lin" valueType="num">
                                      <p:cBhvr additive="base">
                                        <p:cTn id="25" dur="1500" fill="hold"/>
                                        <p:tgtEl>
                                          <p:spTgt spid="1048654">
                                            <p:txEl>
                                              <p:pRg st="4" end="4"/>
                                            </p:txEl>
                                          </p:spTgt>
                                        </p:tgtEl>
                                        <p:attrNameLst>
                                          <p:attrName>ppt_x</p:attrName>
                                        </p:attrNameLst>
                                      </p:cBhvr>
                                      <p:tavLst>
                                        <p:tav tm="0">
                                          <p:val>
                                            <p:strVal val="#ppt_x"/>
                                          </p:val>
                                        </p:tav>
                                        <p:tav tm="100000">
                                          <p:val>
                                            <p:strVal val="#ppt_x"/>
                                          </p:val>
                                        </p:tav>
                                      </p:tavLst>
                                    </p:anim>
                                    <p:anim calcmode="lin" valueType="num">
                                      <p:cBhvr additive="base">
                                        <p:cTn id="26" dur="1500" fill="hold"/>
                                        <p:tgtEl>
                                          <p:spTgt spid="104865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48654">
                                            <p:txEl>
                                              <p:pRg st="5" end="5"/>
                                            </p:txEl>
                                          </p:spTgt>
                                        </p:tgtEl>
                                        <p:attrNameLst>
                                          <p:attrName>style.visibility</p:attrName>
                                        </p:attrNameLst>
                                      </p:cBhvr>
                                      <p:to>
                                        <p:strVal val="visible"/>
                                      </p:to>
                                    </p:set>
                                    <p:anim calcmode="lin" valueType="num">
                                      <p:cBhvr additive="base">
                                        <p:cTn id="31" dur="1500" fill="hold"/>
                                        <p:tgtEl>
                                          <p:spTgt spid="1048654">
                                            <p:txEl>
                                              <p:pRg st="5" end="5"/>
                                            </p:txEl>
                                          </p:spTgt>
                                        </p:tgtEl>
                                        <p:attrNameLst>
                                          <p:attrName>ppt_x</p:attrName>
                                        </p:attrNameLst>
                                      </p:cBhvr>
                                      <p:tavLst>
                                        <p:tav tm="0">
                                          <p:val>
                                            <p:strVal val="#ppt_x"/>
                                          </p:val>
                                        </p:tav>
                                        <p:tav tm="100000">
                                          <p:val>
                                            <p:strVal val="#ppt_x"/>
                                          </p:val>
                                        </p:tav>
                                      </p:tavLst>
                                    </p:anim>
                                    <p:anim calcmode="lin" valueType="num">
                                      <p:cBhvr additive="base">
                                        <p:cTn id="32" dur="1500" fill="hold"/>
                                        <p:tgtEl>
                                          <p:spTgt spid="104865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4" name="Title 1"/>
          <p:cNvSpPr>
            <a:spLocks noGrp="1"/>
          </p:cNvSpPr>
          <p:nvPr>
            <p:ph type="title"/>
          </p:nvPr>
        </p:nvSpPr>
        <p:spPr/>
        <p:txBody>
          <a:bodyPr/>
          <a:lstStyle/>
          <a:p>
            <a:pPr algn="ctr"/>
            <a:r>
              <a:rPr lang="en-US" dirty="0"/>
              <a:t>Be Considerate</a:t>
            </a:r>
            <a:endParaRPr lang="en-IN" dirty="0"/>
          </a:p>
        </p:txBody>
      </p:sp>
      <p:sp>
        <p:nvSpPr>
          <p:cNvPr id="1048715" name="Content Placeholder 2"/>
          <p:cNvSpPr>
            <a:spLocks noGrp="1"/>
          </p:cNvSpPr>
          <p:nvPr>
            <p:ph idx="1"/>
          </p:nvPr>
        </p:nvSpPr>
        <p:spPr/>
        <p:txBody>
          <a:bodyPr>
            <a:normAutofit/>
          </a:bodyPr>
          <a:lstStyle/>
          <a:p>
            <a:pPr marL="0" indent="0" algn="ctr">
              <a:buNone/>
            </a:pPr>
            <a:r>
              <a:rPr lang="en-US" dirty="0"/>
              <a:t>Construct Questions to know others’ opinions</a:t>
            </a:r>
          </a:p>
          <a:p>
            <a:pPr marL="514350" indent="-514350">
              <a:buAutoNum type="arabicPeriod"/>
            </a:pPr>
            <a:r>
              <a:rPr lang="en-US" dirty="0"/>
              <a:t>We should redesign the company logo!				Shouldn’t we redesign the company logo?					</a:t>
            </a:r>
          </a:p>
          <a:p>
            <a:endParaRPr lang="en-US" dirty="0"/>
          </a:p>
          <a:p>
            <a:pPr marL="0" indent="0">
              <a:buNone/>
            </a:pPr>
            <a:r>
              <a:rPr lang="en-US" dirty="0"/>
              <a:t>2. We must hire a new advertising agency.				Couldn’t we hire a new advertising agency?			Wouldn’t it be better to hire a new advertising agency?</a:t>
            </a:r>
            <a:endParaRPr lang="en-I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428D275-B78C-3057-6E23-1028AE9E388C}"/>
            </a:ext>
          </a:extLst>
        </p:cNvPr>
        <p:cNvGrpSpPr/>
        <p:nvPr/>
      </p:nvGrpSpPr>
      <p:grpSpPr>
        <a:xfrm>
          <a:off x="0" y="0"/>
          <a:ext cx="0" cy="0"/>
          <a:chOff x="0" y="0"/>
          <a:chExt cx="0" cy="0"/>
        </a:xfrm>
      </p:grpSpPr>
      <p:sp>
        <p:nvSpPr>
          <p:cNvPr id="1048714" name="Title 1">
            <a:extLst>
              <a:ext uri="{FF2B5EF4-FFF2-40B4-BE49-F238E27FC236}">
                <a16:creationId xmlns:a16="http://schemas.microsoft.com/office/drawing/2014/main" xmlns="" id="{CBF33AD0-E003-C314-2AA7-79FD3598B579}"/>
              </a:ext>
            </a:extLst>
          </p:cNvPr>
          <p:cNvSpPr>
            <a:spLocks noGrp="1"/>
          </p:cNvSpPr>
          <p:nvPr>
            <p:ph type="title"/>
          </p:nvPr>
        </p:nvSpPr>
        <p:spPr/>
        <p:txBody>
          <a:bodyPr/>
          <a:lstStyle/>
          <a:p>
            <a:pPr algn="ctr"/>
            <a:r>
              <a:rPr lang="en-US" dirty="0"/>
              <a:t>Be Considerate</a:t>
            </a:r>
            <a:endParaRPr lang="en-IN" dirty="0"/>
          </a:p>
        </p:txBody>
      </p:sp>
      <p:sp>
        <p:nvSpPr>
          <p:cNvPr id="1048715" name="Content Placeholder 2">
            <a:extLst>
              <a:ext uri="{FF2B5EF4-FFF2-40B4-BE49-F238E27FC236}">
                <a16:creationId xmlns:a16="http://schemas.microsoft.com/office/drawing/2014/main" xmlns="" id="{DDF36565-E5A9-D679-4388-900E0AA35EA6}"/>
              </a:ext>
            </a:extLst>
          </p:cNvPr>
          <p:cNvSpPr>
            <a:spLocks noGrp="1"/>
          </p:cNvSpPr>
          <p:nvPr>
            <p:ph idx="1"/>
          </p:nvPr>
        </p:nvSpPr>
        <p:spPr/>
        <p:txBody>
          <a:bodyPr>
            <a:normAutofit/>
          </a:bodyPr>
          <a:lstStyle/>
          <a:p>
            <a:pPr marL="0" indent="0" algn="ctr">
              <a:buNone/>
            </a:pPr>
            <a:r>
              <a:rPr lang="en-US" dirty="0"/>
              <a:t>Construct Questions to know others’ opinions</a:t>
            </a:r>
          </a:p>
          <a:p>
            <a:pPr marL="514350" indent="-514350">
              <a:buAutoNum type="arabicPeriod"/>
            </a:pPr>
            <a:r>
              <a:rPr lang="en-US" dirty="0"/>
              <a:t>What do you think about...?</a:t>
            </a:r>
          </a:p>
          <a:p>
            <a:pPr marL="514350" indent="-514350">
              <a:buAutoNum type="arabicPeriod"/>
            </a:pPr>
            <a:r>
              <a:rPr lang="en-US" dirty="0"/>
              <a:t>How do you feel about...?</a:t>
            </a:r>
          </a:p>
          <a:p>
            <a:pPr marL="514350" indent="-514350">
              <a:buAutoNum type="arabicPeriod"/>
            </a:pPr>
            <a:r>
              <a:rPr lang="en-US" dirty="0"/>
              <a:t>What are your thoughts on...?</a:t>
            </a:r>
          </a:p>
          <a:p>
            <a:pPr marL="514350" indent="-514350">
              <a:buAutoNum type="arabicPeriod"/>
            </a:pPr>
            <a:r>
              <a:rPr lang="en-US" dirty="0"/>
              <a:t>Is there anything else you’d like to add?</a:t>
            </a:r>
            <a:endParaRPr lang="en-IN" dirty="0"/>
          </a:p>
        </p:txBody>
      </p:sp>
    </p:spTree>
    <p:extLst>
      <p:ext uri="{BB962C8B-B14F-4D97-AF65-F5344CB8AC3E}">
        <p14:creationId xmlns:p14="http://schemas.microsoft.com/office/powerpoint/2010/main" xmlns="" val="21229147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Title 1"/>
          <p:cNvSpPr>
            <a:spLocks noGrp="1"/>
          </p:cNvSpPr>
          <p:nvPr>
            <p:ph type="title"/>
          </p:nvPr>
        </p:nvSpPr>
        <p:spPr/>
        <p:txBody>
          <a:bodyPr/>
          <a:lstStyle/>
          <a:p>
            <a:pPr algn="ctr"/>
            <a:r>
              <a:rPr lang="en-US" dirty="0"/>
              <a:t>Use Acronyms and Abbreviations sparingly</a:t>
            </a:r>
            <a:endParaRPr lang="en-IN" dirty="0"/>
          </a:p>
        </p:txBody>
      </p:sp>
      <p:sp>
        <p:nvSpPr>
          <p:cNvPr id="1048622" name="Content Placeholder 2"/>
          <p:cNvSpPr>
            <a:spLocks noGrp="1"/>
          </p:cNvSpPr>
          <p:nvPr>
            <p:ph idx="1"/>
          </p:nvPr>
        </p:nvSpPr>
        <p:spPr/>
        <p:txBody>
          <a:bodyPr>
            <a:normAutofit fontScale="96786" lnSpcReduction="10000"/>
          </a:bodyPr>
          <a:lstStyle/>
          <a:p>
            <a:pPr marL="514350" lvl="0" indent="-514350">
              <a:buFont typeface="+mj-lt"/>
              <a:buAutoNum type="arabicPeriod"/>
            </a:pPr>
            <a:r>
              <a:rPr lang="en-IN" dirty="0">
                <a:latin typeface="Times New Roman" panose="02020603050405020304" pitchFamily="18" charset="0"/>
                <a:cs typeface="Times New Roman" panose="02020603050405020304" pitchFamily="18" charset="0"/>
              </a:rPr>
              <a:t> Introduce acronyms the first time you use them by defining them in full, parenthetically.</a:t>
            </a:r>
            <a:r>
              <a:rPr lang="en-US" dirty="0">
                <a:latin typeface="Times New Roman" panose="02020603050405020304" pitchFamily="18" charset="0"/>
                <a:cs typeface="Times New Roman" panose="02020603050405020304" pitchFamily="18" charset="0"/>
              </a:rPr>
              <a:t> 							Example: I pursued engineering from U.I.E.T., or I pursued Computer Science Engineering from the University Institute of Engineering and Technology.</a:t>
            </a:r>
          </a:p>
          <a:p>
            <a:pPr marL="514350" lvl="0" indent="-514350">
              <a:buFont typeface="+mj-lt"/>
              <a:buAutoNum type="arabicPeriod"/>
            </a:pPr>
            <a:r>
              <a:rPr lang="en-IN" dirty="0">
                <a:latin typeface="Times New Roman" panose="02020603050405020304" pitchFamily="18" charset="0"/>
                <a:cs typeface="Times New Roman" panose="02020603050405020304" pitchFamily="18" charset="0"/>
              </a:rPr>
              <a:t>Do not use acronyms related to the technical field when communicating with individuals from different fields. 			Example: A meaningful sentence follows </a:t>
            </a:r>
            <a:r>
              <a:rPr lang="en-IN" b="1" i="1" dirty="0">
                <a:latin typeface="Times New Roman" panose="02020603050405020304" pitchFamily="18" charset="0"/>
                <a:cs typeface="Times New Roman" panose="02020603050405020304" pitchFamily="18" charset="0"/>
              </a:rPr>
              <a:t>SVO</a:t>
            </a:r>
            <a:r>
              <a:rPr lang="en-IN" dirty="0">
                <a:latin typeface="Times New Roman" panose="02020603050405020304" pitchFamily="18" charset="0"/>
                <a:cs typeface="Times New Roman" panose="02020603050405020304" pitchFamily="18" charset="0"/>
              </a:rPr>
              <a:t> order.</a:t>
            </a:r>
          </a:p>
          <a:p>
            <a:pPr marL="514350" lvl="0" indent="-514350">
              <a:buFont typeface="+mj-lt"/>
              <a:buAutoNum type="arabicPeriod"/>
            </a:pPr>
            <a:r>
              <a:rPr lang="en-IN" dirty="0">
                <a:latin typeface="Times New Roman" panose="02020603050405020304" pitchFamily="18" charset="0"/>
                <a:cs typeface="Times New Roman" panose="02020603050405020304" pitchFamily="18" charset="0"/>
              </a:rPr>
              <a:t>Restrict the number of acronyms in individual sentences.</a:t>
            </a:r>
          </a:p>
          <a:p>
            <a:pPr marL="514350" lvl="0" indent="-514350">
              <a:buFont typeface="+mj-lt"/>
              <a:buAutoNum type="arabicPeriod"/>
            </a:pPr>
            <a:r>
              <a:rPr lang="en-IN" dirty="0">
                <a:latin typeface="Times New Roman" panose="02020603050405020304" pitchFamily="18" charset="0"/>
                <a:cs typeface="Times New Roman" panose="02020603050405020304" pitchFamily="18" charset="0"/>
              </a:rPr>
              <a:t>Define the acronyms in a separate list if several potentially confusing acronyms are being used.</a:t>
            </a: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Using Abbreviations Effectively</a:t>
            </a:r>
            <a:endParaRPr lang="en-IN" dirty="0">
              <a:latin typeface="Times New Roman" panose="02020603050405020304" pitchFamily="18" charset="0"/>
              <a:cs typeface="Times New Roman" panose="02020603050405020304" pitchFamily="18" charset="0"/>
            </a:endParaRPr>
          </a:p>
        </p:txBody>
      </p:sp>
      <p:sp>
        <p:nvSpPr>
          <p:cNvPr id="1048624" name="Content Placeholder 2"/>
          <p:cNvSpPr>
            <a:spLocks noGrp="1"/>
          </p:cNvSpPr>
          <p:nvPr>
            <p:ph idx="1"/>
          </p:nvPr>
        </p:nvSpPr>
        <p:spPr/>
        <p:txBody>
          <a:bodyPr/>
          <a:lstStyle/>
          <a:p>
            <a:pPr marL="514350" indent="-514350">
              <a:buFont typeface="+mj-lt"/>
              <a:buAutoNum type="arabicPeriod"/>
            </a:pPr>
            <a:r>
              <a:rPr lang="en-US" dirty="0">
                <a:latin typeface="Times New Roman" panose="02020603050405020304" pitchFamily="18" charset="0"/>
                <a:cs typeface="Times New Roman" panose="02020603050405020304" pitchFamily="18" charset="0"/>
              </a:rPr>
              <a:t>Do not abbreviate words at the beginning of the sentence.</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Do not abbreviate proper nouns.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 rule varies as a matter of style (MLA/ APA).		Abbreviations that include the last letter of the word being shortened do not take a period. For example, Dr ( Doctor), </a:t>
            </a:r>
            <a:r>
              <a:rPr lang="en-US" dirty="0" err="1">
                <a:latin typeface="Times New Roman" panose="02020603050405020304" pitchFamily="18" charset="0"/>
                <a:cs typeface="Times New Roman" panose="02020603050405020304" pitchFamily="18" charset="0"/>
              </a:rPr>
              <a:t>Mr</a:t>
            </a:r>
            <a:r>
              <a:rPr lang="en-US" dirty="0">
                <a:latin typeface="Times New Roman" panose="02020603050405020304" pitchFamily="18" charset="0"/>
                <a:cs typeface="Times New Roman" panose="02020603050405020304" pitchFamily="18" charset="0"/>
              </a:rPr>
              <a:t> (Mister) but exceptions to this rule is Prof.( Professor) and Col. (column).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Do not use phonic abbreviations like ‘u’ for ‘You’.</a:t>
            </a:r>
          </a:p>
          <a:p>
            <a:pPr marL="0" indent="0">
              <a:buNone/>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9B4CE1-AAC0-43CD-3E9E-F0CD66E56ADB}"/>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Business Tone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E06F3123-D71B-00E5-6216-E5CD8FAD1BEF}"/>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1.	Use “ You Approach” judiciously</a:t>
            </a:r>
          </a:p>
          <a:p>
            <a:pPr marL="0" indent="0">
              <a:buNone/>
            </a:pPr>
            <a:r>
              <a:rPr lang="en-US" dirty="0">
                <a:latin typeface="Times New Roman" panose="02020603050405020304" pitchFamily="18" charset="0"/>
                <a:cs typeface="Times New Roman" panose="02020603050405020304" pitchFamily="18" charset="0"/>
              </a:rPr>
              <a:t>2.	Learn the judicious use of voice in a sentence, whether active or passive, to get the desired response.</a:t>
            </a:r>
          </a:p>
          <a:p>
            <a:pPr marL="514350" indent="-514350">
              <a:buAutoNum type="arabicPeriod" startAt="3"/>
            </a:pPr>
            <a:r>
              <a:rPr lang="en-US" dirty="0">
                <a:latin typeface="Times New Roman" panose="02020603050405020304" pitchFamily="18" charset="0"/>
                <a:cs typeface="Times New Roman" panose="02020603050405020304" pitchFamily="18" charset="0"/>
              </a:rPr>
              <a:t>Use gender-neutral language</a:t>
            </a:r>
          </a:p>
          <a:p>
            <a:pPr marL="514350" indent="-514350">
              <a:buAutoNum type="arabicPeriod" startAt="3"/>
            </a:pPr>
            <a:r>
              <a:rPr lang="en-US" dirty="0">
                <a:latin typeface="Times New Roman" panose="02020603050405020304" pitchFamily="18" charset="0"/>
                <a:cs typeface="Times New Roman" panose="02020603050405020304" pitchFamily="18" charset="0"/>
              </a:rPr>
              <a:t>Be Confident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8258327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Title 1"/>
          <p:cNvSpPr>
            <a:spLocks noGrp="1"/>
          </p:cNvSpPr>
          <p:nvPr>
            <p:ph type="title"/>
          </p:nvPr>
        </p:nvSpPr>
        <p:spPr/>
        <p:txBody>
          <a:bodyPr/>
          <a:lstStyle/>
          <a:p>
            <a:r>
              <a:rPr lang="en-IN" dirty="0"/>
              <a:t> </a:t>
            </a:r>
            <a:r>
              <a:rPr lang="en-IN" dirty="0">
                <a:latin typeface="Times New Roman" panose="02020603050405020304" pitchFamily="18" charset="0"/>
                <a:cs typeface="Times New Roman" panose="02020603050405020304" pitchFamily="18" charset="0"/>
              </a:rPr>
              <a:t>The Judicious use of  “ You” </a:t>
            </a:r>
          </a:p>
        </p:txBody>
      </p:sp>
      <p:sp>
        <p:nvSpPr>
          <p:cNvPr id="1048640" name="Content Placeholder 2"/>
          <p:cNvSpPr>
            <a:spLocks noGrp="1"/>
          </p:cNvSpPr>
          <p:nvPr>
            <p:ph idx="1"/>
          </p:nvPr>
        </p:nvSpPr>
        <p:spPr/>
        <p:txBody>
          <a:bodyPr/>
          <a:lstStyle/>
          <a:p>
            <a:pPr marL="0" indent="0">
              <a:buNone/>
            </a:pPr>
            <a:r>
              <a:rPr lang="en-US" dirty="0"/>
              <a:t>1.	We will send your order soon.</a:t>
            </a:r>
          </a:p>
          <a:p>
            <a:r>
              <a:rPr lang="en-US" dirty="0"/>
              <a:t>Revised:  You will receive your order by tomorrow.</a:t>
            </a:r>
          </a:p>
          <a:p>
            <a:pPr marL="0" indent="0">
              <a:buNone/>
            </a:pPr>
            <a:r>
              <a:rPr lang="en-US" dirty="0"/>
              <a:t>2.	The project report was submitted on time by you.</a:t>
            </a:r>
          </a:p>
          <a:p>
            <a:r>
              <a:rPr lang="en-US" dirty="0"/>
              <a:t>Revised: You submitted the project report on time.</a:t>
            </a:r>
          </a:p>
          <a:p>
            <a:pPr marL="0" indent="0">
              <a:buNone/>
            </a:pPr>
            <a:r>
              <a:rPr lang="en-US" dirty="0"/>
              <a:t>3.	We will respond to you immediately.</a:t>
            </a:r>
          </a:p>
          <a:p>
            <a:r>
              <a:rPr lang="en-US" dirty="0"/>
              <a:t>Revised: You will get a response immediately.</a:t>
            </a:r>
          </a:p>
          <a:p>
            <a:endParaRPr lang="en-IN"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1" name="Title 1"/>
          <p:cNvSpPr>
            <a:spLocks noGrp="1"/>
          </p:cNvSpPr>
          <p:nvPr>
            <p:ph type="title"/>
          </p:nvPr>
        </p:nvSpPr>
        <p:spPr/>
        <p:txBody>
          <a:bodyPr/>
          <a:lstStyle/>
          <a:p>
            <a:r>
              <a:rPr lang="en-US" dirty="0"/>
              <a:t>			Avoid the use of the “You” pronoun in Negative situations</a:t>
            </a:r>
            <a:endParaRPr lang="en-IN" dirty="0"/>
          </a:p>
        </p:txBody>
      </p:sp>
      <p:sp>
        <p:nvSpPr>
          <p:cNvPr id="1048642" name="Content Placeholder 2"/>
          <p:cNvSpPr>
            <a:spLocks noGrp="1"/>
          </p:cNvSpPr>
          <p:nvPr>
            <p:ph idx="1"/>
          </p:nvPr>
        </p:nvSpPr>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1.	You have failed to acquire the sales target of the second quarter.</a:t>
            </a:r>
          </a:p>
          <a:p>
            <a:r>
              <a:rPr lang="en-US" dirty="0">
                <a:latin typeface="Times New Roman" panose="02020603050405020304" pitchFamily="18" charset="0"/>
                <a:cs typeface="Times New Roman" panose="02020603050405020304" pitchFamily="18" charset="0"/>
              </a:rPr>
              <a:t>Revised:  The sales target has not been met of the second quarter.</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2.	You have not mentioned the important details of the job profile.</a:t>
            </a:r>
          </a:p>
          <a:p>
            <a:r>
              <a:rPr lang="en-US" dirty="0">
                <a:latin typeface="Times New Roman" panose="02020603050405020304" pitchFamily="18" charset="0"/>
                <a:cs typeface="Times New Roman" panose="02020603050405020304" pitchFamily="18" charset="0"/>
              </a:rPr>
              <a:t>Revised: The important details of the job profile have not been mentioned.</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3.	You have delayed my order.</a:t>
            </a:r>
          </a:p>
          <a:p>
            <a:r>
              <a:rPr lang="en-US" dirty="0">
                <a:latin typeface="Times New Roman" panose="02020603050405020304" pitchFamily="18" charset="0"/>
                <a:cs typeface="Times New Roman" panose="02020603050405020304" pitchFamily="18" charset="0"/>
              </a:rPr>
              <a:t>My order has been delayed, or I have yet to receive my order.</a:t>
            </a: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2" name="Title 1"/>
          <p:cNvSpPr>
            <a:spLocks noGrp="1"/>
          </p:cNvSpPr>
          <p:nvPr>
            <p:ph type="title"/>
          </p:nvPr>
        </p:nvSpPr>
        <p:spPr/>
        <p:txBody>
          <a:bodyPr/>
          <a:lstStyle/>
          <a:p>
            <a:pPr algn="ctr"/>
            <a:r>
              <a:rPr lang="en-US" dirty="0"/>
              <a:t>Avoid the use of the “You” pronoun in Negative situations</a:t>
            </a:r>
            <a:endParaRPr lang="en-IN" dirty="0"/>
          </a:p>
        </p:txBody>
      </p:sp>
      <p:sp>
        <p:nvSpPr>
          <p:cNvPr id="1048713" name="Content Placeholder 2"/>
          <p:cNvSpPr>
            <a:spLocks noGrp="1"/>
          </p:cNvSpPr>
          <p:nvPr>
            <p:ph idx="1"/>
          </p:nvPr>
        </p:nvSpPr>
        <p:spPr/>
        <p:txBody>
          <a:bodyPr/>
          <a:lstStyle/>
          <a:p>
            <a:pPr marL="514350" indent="-514350">
              <a:buFont typeface="+mj-lt"/>
              <a:buAutoNum type="arabicPeriod"/>
            </a:pPr>
            <a:r>
              <a:rPr lang="en-US" dirty="0"/>
              <a:t>You have broken my computer!						</a:t>
            </a:r>
            <a:r>
              <a:rPr lang="en-US" b="1" i="1" dirty="0">
                <a:solidFill>
                  <a:srgbClr val="222222"/>
                </a:solidFill>
                <a:effectLst/>
                <a:latin typeface="Verdana" panose="020B0604030504040204" pitchFamily="34" charset="0"/>
              </a:rPr>
              <a:t>My computer </a:t>
            </a:r>
            <a:r>
              <a:rPr lang="en-US" b="1" i="1" dirty="0">
                <a:solidFill>
                  <a:srgbClr val="0000FF"/>
                </a:solidFill>
                <a:effectLst/>
                <a:latin typeface="Verdana" panose="020B0604030504040204" pitchFamily="34" charset="0"/>
              </a:rPr>
              <a:t>has been broken</a:t>
            </a:r>
            <a:r>
              <a:rPr lang="en-US" b="1" i="1" dirty="0">
                <a:solidFill>
                  <a:srgbClr val="222222"/>
                </a:solidFill>
                <a:effectLst/>
                <a:latin typeface="Verdana" panose="020B0604030504040204" pitchFamily="34" charset="0"/>
              </a:rPr>
              <a:t>!</a:t>
            </a:r>
          </a:p>
          <a:p>
            <a:pPr marL="514350" indent="-514350">
              <a:buFont typeface="+mj-lt"/>
              <a:buAutoNum type="arabicPeriod"/>
            </a:pPr>
            <a:endParaRPr lang="en-US" b="1" i="1" dirty="0">
              <a:solidFill>
                <a:srgbClr val="222222"/>
              </a:solidFill>
              <a:latin typeface="Verdana" panose="020B0604030504040204" pitchFamily="34" charset="0"/>
            </a:endParaRPr>
          </a:p>
          <a:p>
            <a:pPr marL="514350" indent="-514350">
              <a:buFont typeface="+mj-lt"/>
              <a:buAutoNum type="arabicPeriod"/>
            </a:pPr>
            <a:endParaRPr lang="en-US" b="1" i="1" dirty="0">
              <a:solidFill>
                <a:srgbClr val="222222"/>
              </a:solidFill>
              <a:effectLst/>
              <a:latin typeface="Verdana" panose="020B0604030504040204" pitchFamily="34" charset="0"/>
            </a:endParaRPr>
          </a:p>
          <a:p>
            <a:pPr marL="514350" indent="-514350">
              <a:buFont typeface="+mj-lt"/>
              <a:buAutoNum type="arabicPeriod"/>
            </a:pPr>
            <a:r>
              <a:rPr lang="en-US" dirty="0"/>
              <a:t>You said you were going to sign the deal today.					It was understood that you were going to sign the deal today.</a:t>
            </a:r>
          </a:p>
          <a:p>
            <a:pPr marL="514350" indent="-514350">
              <a:buFont typeface="+mj-lt"/>
              <a:buAutoNum type="arabicPeriod"/>
            </a:pPr>
            <a:endParaRPr lang="en-US" dirty="0"/>
          </a:p>
          <a:p>
            <a:pPr marL="514350" indent="-514350">
              <a:buFont typeface="+mj-lt"/>
              <a:buAutoNum type="arabicPeriod"/>
            </a:pPr>
            <a:r>
              <a:rPr lang="en-US" dirty="0"/>
              <a:t>You agreed to lower your fees.							It was agreed that you were going to lower your fees.</a:t>
            </a:r>
            <a:endParaRPr lang="en-IN"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3"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Use of active voice and passive voice</a:t>
            </a:r>
            <a:endParaRPr lang="en-IN" dirty="0">
              <a:latin typeface="Times New Roman" panose="02020603050405020304" pitchFamily="18" charset="0"/>
              <a:cs typeface="Times New Roman" panose="02020603050405020304" pitchFamily="18" charset="0"/>
            </a:endParaRPr>
          </a:p>
        </p:txBody>
      </p:sp>
      <p:sp>
        <p:nvSpPr>
          <p:cNvPr id="1048644" name="Content Placeholder 2"/>
          <p:cNvSpPr>
            <a:spLocks noGrp="1"/>
          </p:cNvSpPr>
          <p:nvPr>
            <p:ph idx="1"/>
          </p:nvPr>
        </p:nvSpPr>
        <p:spPr/>
        <p:txBody>
          <a:bodyPr>
            <a:normAutofit fontScale="70714" lnSpcReduction="20000"/>
          </a:bodyPr>
          <a:lstStyle/>
          <a:p>
            <a:pPr marL="0" indent="0">
              <a:buNone/>
            </a:pPr>
            <a:r>
              <a:rPr lang="en-US" dirty="0"/>
              <a:t>1.	Our implementation of the new procedure is required by the board of directors.</a:t>
            </a:r>
          </a:p>
          <a:p>
            <a:r>
              <a:rPr lang="en-US" dirty="0"/>
              <a:t>The board of directors requires us to implement this new procedure.</a:t>
            </a:r>
          </a:p>
          <a:p>
            <a:endParaRPr lang="en-US" dirty="0"/>
          </a:p>
          <a:p>
            <a:pPr marL="0" indent="0">
              <a:buNone/>
            </a:pPr>
            <a:r>
              <a:rPr lang="en-US" dirty="0"/>
              <a:t>2.	My first visit to your organization will always be remembered.</a:t>
            </a:r>
          </a:p>
          <a:p>
            <a:r>
              <a:rPr lang="en-US" dirty="0"/>
              <a:t>I will always remember my first visit to your organization.</a:t>
            </a:r>
          </a:p>
          <a:p>
            <a:endParaRPr lang="en-US" dirty="0"/>
          </a:p>
          <a:p>
            <a:pPr marL="0" indent="0">
              <a:buNone/>
            </a:pPr>
            <a:r>
              <a:rPr lang="en-US" dirty="0"/>
              <a:t>3.	From these findings, it is indicated that none of you has notified me.</a:t>
            </a:r>
          </a:p>
          <a:p>
            <a:r>
              <a:rPr lang="en-US" dirty="0"/>
              <a:t>These findings indicate that none of you has yet notified me.</a:t>
            </a:r>
          </a:p>
          <a:p>
            <a:endParaRPr lang="en-US" dirty="0"/>
          </a:p>
          <a:p>
            <a:pPr marL="0" indent="0">
              <a:buNone/>
            </a:pPr>
            <a:r>
              <a:rPr lang="en-US" dirty="0"/>
              <a:t>4.	A weekly meeting is recommended as a way to reduce problems generated within the Training Division.</a:t>
            </a:r>
          </a:p>
          <a:p>
            <a:r>
              <a:rPr lang="en-US" dirty="0"/>
              <a:t>We recommend a weekly meeting as a way to reduce problems generated within the Training Division.</a:t>
            </a:r>
          </a:p>
          <a:p>
            <a:endParaRPr lang="en-IN"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5" name="Title 1"/>
          <p:cNvSpPr>
            <a:spLocks noGrp="1"/>
          </p:cNvSpPr>
          <p:nvPr>
            <p:ph type="title"/>
          </p:nvPr>
        </p:nvSpPr>
        <p:spPr/>
        <p:txBody>
          <a:bodyPr/>
          <a:lstStyle/>
          <a:p>
            <a:pPr algn="ctr"/>
            <a:r>
              <a:rPr lang="en-IN" dirty="0"/>
              <a:t>Use Gender Neutral language</a:t>
            </a:r>
          </a:p>
        </p:txBody>
      </p:sp>
      <p:sp>
        <p:nvSpPr>
          <p:cNvPr id="1048646" name="Content Placeholder 2"/>
          <p:cNvSpPr>
            <a:spLocks noGrp="1"/>
          </p:cNvSpPr>
          <p:nvPr>
            <p:ph idx="1"/>
          </p:nvPr>
        </p:nvSpPr>
        <p:spPr/>
        <p:txBody>
          <a:bodyPr/>
          <a:lstStyle/>
          <a:p>
            <a:pPr marL="0" indent="0">
              <a:buNone/>
            </a:pPr>
            <a:r>
              <a:rPr lang="en-IN" dirty="0"/>
              <a:t>1. Salutation: </a:t>
            </a:r>
          </a:p>
          <a:p>
            <a:pPr>
              <a:buFont typeface="Wingdings" panose="05000000000000000000" pitchFamily="2" charset="2"/>
              <a:buChar char="q"/>
            </a:pPr>
            <a:r>
              <a:rPr lang="en-IN" dirty="0"/>
              <a:t>Dear Sir/mam</a:t>
            </a:r>
          </a:p>
          <a:p>
            <a:pPr marL="0" indent="0">
              <a:buNone/>
            </a:pPr>
            <a:r>
              <a:rPr lang="en-IN" dirty="0"/>
              <a:t>2. Job Title:</a:t>
            </a:r>
          </a:p>
          <a:p>
            <a:pPr>
              <a:buFont typeface="Wingdings" panose="05000000000000000000" pitchFamily="2" charset="2"/>
              <a:buChar char="q"/>
            </a:pPr>
            <a:r>
              <a:rPr lang="en-IN" dirty="0"/>
              <a:t> Chairman/ Chairwoman/ Chairperson</a:t>
            </a:r>
          </a:p>
          <a:p>
            <a:pPr marL="0" indent="0">
              <a:buNone/>
            </a:pPr>
            <a:r>
              <a:rPr lang="en-IN" dirty="0"/>
              <a:t>3. Phrases that imply gender:</a:t>
            </a:r>
          </a:p>
          <a:p>
            <a:pPr>
              <a:buFont typeface="Wingdings" panose="05000000000000000000" pitchFamily="2" charset="2"/>
              <a:buChar char="q"/>
            </a:pPr>
            <a:r>
              <a:rPr lang="en-IN" dirty="0"/>
              <a:t> Executives and their spouses</a:t>
            </a:r>
          </a:p>
          <a:p>
            <a:pPr marL="0" indent="0">
              <a:buNone/>
            </a:pPr>
            <a:r>
              <a:rPr lang="en-IN" dirty="0"/>
              <a:t>4. Masculine pronouns: </a:t>
            </a:r>
          </a:p>
          <a:p>
            <a:pPr>
              <a:buFont typeface="Wingdings" panose="05000000000000000000" pitchFamily="2" charset="2"/>
              <a:buChar char="q"/>
            </a:pPr>
            <a:r>
              <a:rPr lang="en-IN" dirty="0"/>
              <a:t>Each student must provide his/her lab jacket.</a:t>
            </a:r>
          </a:p>
          <a:p>
            <a:endParaRPr lang="en-IN"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Title 1"/>
          <p:cNvSpPr>
            <a:spLocks noGrp="1"/>
          </p:cNvSpPr>
          <p:nvPr>
            <p:ph type="title"/>
          </p:nvPr>
        </p:nvSpPr>
        <p:spPr/>
        <p:txBody>
          <a:bodyPr/>
          <a:lstStyle/>
          <a:p>
            <a:pPr algn="ctr"/>
            <a:r>
              <a:rPr lang="en-US" dirty="0"/>
              <a:t>Points to remember </a:t>
            </a:r>
            <a:endParaRPr lang="en-IN" dirty="0"/>
          </a:p>
        </p:txBody>
      </p:sp>
      <p:sp>
        <p:nvSpPr>
          <p:cNvPr id="1048652" name="Content Placeholder 2"/>
          <p:cNvSpPr>
            <a:spLocks noGrp="1"/>
          </p:cNvSpPr>
          <p:nvPr>
            <p:ph idx="1"/>
          </p:nvPr>
        </p:nvSpPr>
        <p:spPr/>
        <p:txBody>
          <a:bodyPr>
            <a:normAutofit fontScale="93214"/>
          </a:bodyPr>
          <a:lstStyle/>
          <a:p>
            <a:pPr marL="0" indent="0">
              <a:buNone/>
            </a:pPr>
            <a:r>
              <a:rPr lang="en-US" dirty="0">
                <a:latin typeface="Times New Roman" panose="02020603050405020304" pitchFamily="18" charset="0"/>
                <a:cs typeface="Times New Roman" panose="02020603050405020304" pitchFamily="18" charset="0"/>
              </a:rPr>
              <a:t>1. Try to remain as professional and conversational as possible. </a:t>
            </a:r>
          </a:p>
          <a:p>
            <a:pPr marL="0" indent="0">
              <a:buNone/>
            </a:pPr>
            <a:r>
              <a:rPr lang="en-US" dirty="0">
                <a:latin typeface="Times New Roman" panose="02020603050405020304" pitchFamily="18" charset="0"/>
                <a:cs typeface="Times New Roman" panose="02020603050405020304" pitchFamily="18" charset="0"/>
              </a:rPr>
              <a:t>2. Active voice makes one’s writing direct, forceful and accurate whereas passive voice makes it lengthy and vague.</a:t>
            </a:r>
          </a:p>
          <a:p>
            <a:pPr marL="0" indent="0">
              <a:buNone/>
            </a:pPr>
            <a:r>
              <a:rPr lang="en-US" dirty="0">
                <a:latin typeface="Times New Roman" panose="02020603050405020304" pitchFamily="18" charset="0"/>
                <a:cs typeface="Times New Roman" panose="02020603050405020304" pitchFamily="18" charset="0"/>
              </a:rPr>
              <a:t>3. To make the writing livelier and direct, avoid passive voice.</a:t>
            </a:r>
          </a:p>
          <a:p>
            <a:pPr marL="0" indent="0">
              <a:buNone/>
            </a:pPr>
            <a:r>
              <a:rPr lang="en-US" dirty="0">
                <a:latin typeface="Times New Roman" panose="02020603050405020304" pitchFamily="18" charset="0"/>
                <a:cs typeface="Times New Roman" panose="02020603050405020304" pitchFamily="18" charset="0"/>
              </a:rPr>
              <a:t>4. Avoid using text message language such as ASAP,  LOL, etc. </a:t>
            </a:r>
          </a:p>
          <a:p>
            <a:pPr marL="0" indent="0">
              <a:buNone/>
            </a:pPr>
            <a:r>
              <a:rPr lang="en-US" dirty="0">
                <a:latin typeface="Times New Roman" panose="02020603050405020304" pitchFamily="18" charset="0"/>
                <a:cs typeface="Times New Roman" panose="02020603050405020304" pitchFamily="18" charset="0"/>
              </a:rPr>
              <a:t>5. Avoid the use of contractions such as don’t, ma’am, won’t etc.</a:t>
            </a:r>
          </a:p>
          <a:p>
            <a:endParaRPr lang="en-I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Title 1"/>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Which is a persuasive statement?</a:t>
            </a:r>
          </a:p>
        </p:txBody>
      </p:sp>
      <p:sp>
        <p:nvSpPr>
          <p:cNvPr id="1048648" name="Content Placeholder 2"/>
          <p:cNvSpPr>
            <a:spLocks noGrp="1"/>
          </p:cNvSpPr>
          <p:nvPr>
            <p:ph idx="1"/>
          </p:nvPr>
        </p:nvSpPr>
        <p:spPr/>
        <p:txBody>
          <a:bodyPr>
            <a:normAutofit fontScale="92500" lnSpcReduction="10000"/>
          </a:bodyPr>
          <a:lstStyle/>
          <a:p>
            <a:pPr marL="0" indent="0">
              <a:buNone/>
            </a:pPr>
            <a:r>
              <a:rPr lang="en-IN" dirty="0"/>
              <a:t>1.</a:t>
            </a:r>
          </a:p>
          <a:p>
            <a:pPr marL="0" indent="0">
              <a:buNone/>
            </a:pPr>
            <a:r>
              <a:rPr lang="en-IN" dirty="0"/>
              <a:t>a. You </a:t>
            </a:r>
            <a:r>
              <a:rPr lang="en-IN" dirty="0">
                <a:solidFill>
                  <a:srgbClr val="FF0000"/>
                </a:solidFill>
              </a:rPr>
              <a:t>must </a:t>
            </a:r>
            <a:r>
              <a:rPr lang="en-IN" dirty="0"/>
              <a:t>agree that I am qualified for the position.</a:t>
            </a:r>
          </a:p>
          <a:p>
            <a:pPr marL="0" indent="0">
              <a:buNone/>
            </a:pPr>
            <a:r>
              <a:rPr lang="en-IN" dirty="0"/>
              <a:t>b. My qualifications make me suitable for this job.</a:t>
            </a:r>
          </a:p>
          <a:p>
            <a:pPr marL="0" indent="0">
              <a:buNone/>
            </a:pPr>
            <a:r>
              <a:rPr lang="en-IN" dirty="0"/>
              <a:t>c. My qualifications in the field of electrical engineering meet your job requirements.</a:t>
            </a:r>
          </a:p>
          <a:p>
            <a:pPr marL="0" indent="0">
              <a:buNone/>
            </a:pPr>
            <a:r>
              <a:rPr lang="en-IN" dirty="0"/>
              <a:t>2. </a:t>
            </a:r>
          </a:p>
          <a:p>
            <a:pPr marL="0" indent="0">
              <a:buNone/>
            </a:pPr>
            <a:r>
              <a:rPr lang="en-IN" dirty="0"/>
              <a:t>a. I think I can handle the position of responsibility.</a:t>
            </a:r>
          </a:p>
          <a:p>
            <a:pPr marL="0" indent="0">
              <a:buNone/>
            </a:pPr>
            <a:r>
              <a:rPr lang="en-IN" dirty="0"/>
              <a:t>b. In the past, I have held the position of responsibility so I believe I would be able to.</a:t>
            </a:r>
          </a:p>
          <a:p>
            <a:pPr marL="0" indent="0">
              <a:buNone/>
            </a:pPr>
            <a:r>
              <a:rPr lang="en-IN" dirty="0"/>
              <a:t>c. In my college’s cultural fest, I was the cultural secretary.</a:t>
            </a:r>
          </a:p>
          <a:p>
            <a:endParaRPr lang="en-IN" dirty="0"/>
          </a:p>
          <a:p>
            <a:endParaRPr lang="en-IN" dirty="0"/>
          </a:p>
          <a:p>
            <a:endParaRPr lang="en-IN"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1"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Exercises</a:t>
            </a:r>
            <a:endParaRPr lang="en-IN" dirty="0">
              <a:latin typeface="Times New Roman" panose="02020603050405020304" pitchFamily="18" charset="0"/>
              <a:cs typeface="Times New Roman" panose="02020603050405020304" pitchFamily="18" charset="0"/>
            </a:endParaRPr>
          </a:p>
        </p:txBody>
      </p:sp>
      <p:sp>
        <p:nvSpPr>
          <p:cNvPr id="1048702" name="Content Placeholder 2"/>
          <p:cNvSpPr>
            <a:spLocks noGrp="1"/>
          </p:cNvSpPr>
          <p:nvPr>
            <p:ph idx="1"/>
          </p:nvPr>
        </p:nvSpPr>
        <p:spPr/>
        <p:txBody>
          <a:bodyPr>
            <a:normAutofit fontScale="89286" lnSpcReduction="10000"/>
          </a:bodyPr>
          <a:lstStyle/>
          <a:p>
            <a:pPr marL="0" indent="0">
              <a:buNone/>
            </a:pPr>
            <a:r>
              <a:rPr lang="en-US" dirty="0"/>
              <a:t>Considering the aspects of  style and tone in business messages, rewrite the following sentences:</a:t>
            </a:r>
          </a:p>
          <a:p>
            <a:pPr marL="514350" indent="-514350">
              <a:buAutoNum type="arabicPeriod"/>
            </a:pPr>
            <a:r>
              <a:rPr lang="en-US" dirty="0"/>
              <a:t>You cannot explain the situation well.</a:t>
            </a:r>
          </a:p>
          <a:p>
            <a:pPr marL="514350" indent="-514350">
              <a:buAutoNum type="arabicPeriod"/>
            </a:pPr>
            <a:r>
              <a:rPr lang="en-US" dirty="0"/>
              <a:t>I cannot help you.</a:t>
            </a:r>
          </a:p>
          <a:p>
            <a:pPr marL="514350" indent="-514350">
              <a:buAutoNum type="arabicPeriod"/>
            </a:pPr>
            <a:r>
              <a:rPr lang="en-US" dirty="0"/>
              <a:t>You have mishandled the product so we cannot do anything about it.</a:t>
            </a:r>
          </a:p>
          <a:p>
            <a:pPr marL="514350" indent="-514350">
              <a:buAutoNum type="arabicPeriod"/>
            </a:pPr>
            <a:r>
              <a:rPr lang="en-US" dirty="0"/>
              <a:t>We cannot hire you.</a:t>
            </a:r>
          </a:p>
          <a:p>
            <a:pPr marL="0" indent="0">
              <a:buNone/>
            </a:pPr>
            <a:r>
              <a:rPr lang="en-US" dirty="0"/>
              <a:t>6. The pizza Radha burnt</a:t>
            </a:r>
          </a:p>
          <a:p>
            <a:pPr marL="0" indent="0">
              <a:buNone/>
            </a:pPr>
            <a:r>
              <a:rPr lang="en-US" dirty="0"/>
              <a:t>7. To the Mughlai restaurant we had to go for the dinner.</a:t>
            </a:r>
          </a:p>
          <a:p>
            <a:pPr marL="0" indent="0">
              <a:buNone/>
            </a:pPr>
            <a:r>
              <a:rPr lang="en-US" dirty="0"/>
              <a:t>8. You have the report?</a:t>
            </a:r>
          </a:p>
          <a:p>
            <a:pPr marL="0" indent="0">
              <a:buNone/>
            </a:pPr>
            <a:r>
              <a:rPr lang="en-US" dirty="0"/>
              <a:t>9. The presentation was good.</a:t>
            </a:r>
          </a:p>
          <a:p>
            <a:pPr marL="0" indent="0">
              <a:buNone/>
            </a:pPr>
            <a:endParaRPr lang="en-US" dirty="0"/>
          </a:p>
          <a:p>
            <a:pPr marL="0" indent="0">
              <a:buNone/>
            </a:pPr>
            <a:endParaRPr lang="en-US" dirty="0"/>
          </a:p>
          <a:p>
            <a:pPr marL="514350" indent="-514350">
              <a:buAutoNum type="arabicPeriod"/>
            </a:pPr>
            <a:endParaRPr lang="en-IN"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3" name="Title 1"/>
          <p:cNvSpPr>
            <a:spLocks noGrp="1"/>
          </p:cNvSpPr>
          <p:nvPr>
            <p:ph type="title"/>
          </p:nvPr>
        </p:nvSpPr>
        <p:spPr>
          <a:xfrm rot="10800000" flipV="1">
            <a:off x="838200" y="110067"/>
            <a:ext cx="10185400" cy="440266"/>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Answers</a:t>
            </a:r>
            <a:endParaRPr lang="en-IN" dirty="0">
              <a:latin typeface="Times New Roman" panose="02020603050405020304" pitchFamily="18" charset="0"/>
              <a:cs typeface="Times New Roman" panose="02020603050405020304" pitchFamily="18" charset="0"/>
            </a:endParaRPr>
          </a:p>
        </p:txBody>
      </p:sp>
      <p:sp>
        <p:nvSpPr>
          <p:cNvPr id="1048704" name="Content Placeholder 2"/>
          <p:cNvSpPr>
            <a:spLocks noGrp="1"/>
          </p:cNvSpPr>
          <p:nvPr>
            <p:ph idx="1"/>
          </p:nvPr>
        </p:nvSpPr>
        <p:spPr>
          <a:xfrm>
            <a:off x="838200" y="728133"/>
            <a:ext cx="10515600" cy="6129867"/>
          </a:xfrm>
        </p:spPr>
        <p:txBody>
          <a:bodyPr>
            <a:normAutofit fontScale="77500" lnSpcReduction="20000"/>
          </a:bodyPr>
          <a:lstStyle/>
          <a:p>
            <a:pPr marL="0" indent="0">
              <a:lnSpc>
                <a:spcPct val="90000"/>
              </a:lnSpc>
              <a:spcAft>
                <a:spcPts val="800"/>
              </a:spcAft>
              <a:buNone/>
            </a:pPr>
            <a:r>
              <a:rPr lang="en-US" sz="2800" kern="1200" dirty="0">
                <a:solidFill>
                  <a:srgbClr val="000000"/>
                </a:solidFill>
                <a:effectLst/>
                <a:latin typeface="Times New Roman" panose="02020603050405020304" pitchFamily="18" charset="0"/>
                <a:ea typeface="+mn-ea"/>
                <a:cs typeface="Times New Roman" panose="02020603050405020304" pitchFamily="18" charset="0"/>
              </a:rPr>
              <a:t>1. You cannot explain the situation well. </a:t>
            </a:r>
            <a:r>
              <a:rPr lang="en-US" sz="2800" b="1" kern="1200" dirty="0">
                <a:solidFill>
                  <a:srgbClr val="000000"/>
                </a:solidFill>
                <a:effectLst/>
                <a:latin typeface="Times New Roman" panose="02020603050405020304" pitchFamily="18" charset="0"/>
                <a:ea typeface="+mn-ea"/>
                <a:cs typeface="Times New Roman" panose="02020603050405020304" pitchFamily="18" charset="0"/>
              </a:rPr>
              <a:t>(</a:t>
            </a:r>
            <a:r>
              <a:rPr lang="en-US" b="1" dirty="0">
                <a:solidFill>
                  <a:srgbClr val="000000"/>
                </a:solidFill>
                <a:latin typeface="Times New Roman" panose="02020603050405020304" pitchFamily="18" charset="0"/>
                <a:cs typeface="Times New Roman" panose="02020603050405020304" pitchFamily="18" charset="0"/>
              </a:rPr>
              <a:t> The second person “you”</a:t>
            </a:r>
            <a:r>
              <a:rPr lang="en-US" sz="2800" b="1" kern="1200" dirty="0">
                <a:solidFill>
                  <a:srgbClr val="000000"/>
                </a:solidFill>
                <a:effectLst/>
                <a:latin typeface="Times New Roman" panose="02020603050405020304" pitchFamily="18" charset="0"/>
                <a:ea typeface="+mn-ea"/>
                <a:cs typeface="Times New Roman" panose="02020603050405020304" pitchFamily="18" charset="0"/>
              </a:rPr>
              <a:t> sounds harsh and rude at the beginning of a sentence)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90000"/>
              </a:lnSpc>
              <a:spcBef>
                <a:spcPts val="1000"/>
              </a:spcBef>
              <a:buNone/>
            </a:pPr>
            <a:r>
              <a:rPr lang="en-US" sz="2800" kern="1200" dirty="0">
                <a:solidFill>
                  <a:srgbClr val="000000"/>
                </a:solidFill>
                <a:effectLst/>
                <a:latin typeface="Times New Roman" panose="02020603050405020304" pitchFamily="18" charset="0"/>
                <a:ea typeface="+mn-ea"/>
              </a:rPr>
              <a:t>1. The situation is not explained well. </a:t>
            </a:r>
            <a:r>
              <a:rPr lang="en-US" sz="2800" b="1" kern="1200" dirty="0">
                <a:solidFill>
                  <a:srgbClr val="000000"/>
                </a:solidFill>
                <a:effectLst/>
                <a:latin typeface="Times New Roman" panose="02020603050405020304" pitchFamily="18" charset="0"/>
                <a:ea typeface="+mn-ea"/>
              </a:rPr>
              <a:t>(changed </a:t>
            </a:r>
            <a:r>
              <a:rPr lang="en-US" b="1" dirty="0">
                <a:solidFill>
                  <a:srgbClr val="000000"/>
                </a:solidFill>
                <a:latin typeface="Times New Roman" panose="02020603050405020304" pitchFamily="18" charset="0"/>
              </a:rPr>
              <a:t>the emphasis from the subject to the action: </a:t>
            </a:r>
            <a:r>
              <a:rPr lang="en-US" sz="2800" b="1" kern="1200" dirty="0">
                <a:solidFill>
                  <a:srgbClr val="000000"/>
                </a:solidFill>
                <a:effectLst/>
                <a:latin typeface="Times New Roman" panose="02020603050405020304" pitchFamily="18" charset="0"/>
                <a:ea typeface="+mn-ea"/>
              </a:rPr>
              <a:t>passive voice)</a:t>
            </a:r>
            <a:endParaRPr lang="en-IN" sz="2800" dirty="0">
              <a:effectLst/>
              <a:latin typeface="Times New Roman" panose="02020603050405020304" pitchFamily="18" charset="0"/>
              <a:ea typeface="Times New Roman" panose="02020603050405020304" pitchFamily="18" charset="0"/>
            </a:endParaRPr>
          </a:p>
          <a:p>
            <a:pPr marL="0" indent="0">
              <a:lnSpc>
                <a:spcPct val="90000"/>
              </a:lnSpc>
              <a:spcBef>
                <a:spcPts val="1000"/>
              </a:spcBef>
              <a:buNone/>
            </a:pPr>
            <a:r>
              <a:rPr lang="en-US" sz="2800" kern="1200" dirty="0">
                <a:solidFill>
                  <a:srgbClr val="000000"/>
                </a:solidFill>
                <a:effectLst/>
                <a:latin typeface="Times New Roman" panose="02020603050405020304" pitchFamily="18" charset="0"/>
                <a:ea typeface="+mn-ea"/>
              </a:rPr>
              <a:t>2. I cannot help you. </a:t>
            </a:r>
            <a:r>
              <a:rPr lang="en-US" sz="2800" b="1" kern="1200" dirty="0">
                <a:solidFill>
                  <a:srgbClr val="000000"/>
                </a:solidFill>
                <a:effectLst/>
                <a:latin typeface="Times New Roman" panose="02020603050405020304" pitchFamily="18" charset="0"/>
                <a:ea typeface="+mn-ea"/>
              </a:rPr>
              <a:t>(The personal pronoun sounds blunt and direct without a buffer statement)</a:t>
            </a:r>
            <a:endParaRPr lang="en-IN" sz="2800" dirty="0">
              <a:effectLst/>
              <a:latin typeface="Times New Roman" panose="02020603050405020304" pitchFamily="18" charset="0"/>
              <a:ea typeface="Times New Roman" panose="02020603050405020304" pitchFamily="18" charset="0"/>
            </a:endParaRPr>
          </a:p>
          <a:p>
            <a:pPr marL="0" indent="0">
              <a:lnSpc>
                <a:spcPct val="90000"/>
              </a:lnSpc>
              <a:spcBef>
                <a:spcPts val="1000"/>
              </a:spcBef>
              <a:buNone/>
            </a:pPr>
            <a:r>
              <a:rPr lang="en-US" sz="2800" kern="1200" dirty="0">
                <a:solidFill>
                  <a:srgbClr val="000000"/>
                </a:solidFill>
                <a:effectLst/>
                <a:latin typeface="Times New Roman" panose="02020603050405020304" pitchFamily="18" charset="0"/>
                <a:ea typeface="+mn-ea"/>
              </a:rPr>
              <a:t>2. I am afraid, I don’t know about this. Or, As I have to complete this assignment</a:t>
            </a:r>
            <a:r>
              <a:rPr lang="en-US" dirty="0">
                <a:solidFill>
                  <a:srgbClr val="000000"/>
                </a:solidFill>
                <a:latin typeface="Times New Roman" panose="02020603050405020304" pitchFamily="18" charset="0"/>
              </a:rPr>
              <a:t>, i</a:t>
            </a:r>
            <a:r>
              <a:rPr lang="en-US" sz="2800" kern="1200" dirty="0">
                <a:solidFill>
                  <a:srgbClr val="000000"/>
                </a:solidFill>
                <a:effectLst/>
                <a:latin typeface="Times New Roman" panose="02020603050405020304" pitchFamily="18" charset="0"/>
                <a:ea typeface="+mn-ea"/>
              </a:rPr>
              <a:t>f it’s okay with you, I can help you after a while. </a:t>
            </a:r>
            <a:r>
              <a:rPr lang="en-US" sz="2800" b="1" kern="1200" dirty="0">
                <a:solidFill>
                  <a:srgbClr val="000000"/>
                </a:solidFill>
                <a:effectLst/>
                <a:latin typeface="Times New Roman" panose="02020603050405020304" pitchFamily="18" charset="0"/>
                <a:ea typeface="+mn-ea"/>
              </a:rPr>
              <a:t>(be indirect)</a:t>
            </a:r>
            <a:endParaRPr lang="en-IN" sz="2800" dirty="0">
              <a:effectLst/>
              <a:latin typeface="Times New Roman" panose="02020603050405020304" pitchFamily="18" charset="0"/>
              <a:ea typeface="Times New Roman" panose="02020603050405020304" pitchFamily="18" charset="0"/>
            </a:endParaRPr>
          </a:p>
          <a:p>
            <a:pPr marL="0" indent="0">
              <a:lnSpc>
                <a:spcPct val="90000"/>
              </a:lnSpc>
              <a:spcBef>
                <a:spcPts val="1000"/>
              </a:spcBef>
              <a:buNone/>
            </a:pPr>
            <a:r>
              <a:rPr lang="en-US" sz="2800" kern="1200" dirty="0">
                <a:solidFill>
                  <a:srgbClr val="000000"/>
                </a:solidFill>
                <a:effectLst/>
                <a:latin typeface="Times New Roman" panose="02020603050405020304" pitchFamily="18" charset="0"/>
                <a:ea typeface="+mn-ea"/>
              </a:rPr>
              <a:t>3. You have mishandled the product so we cannot do anything about it</a:t>
            </a:r>
            <a:r>
              <a:rPr lang="en-US" sz="2800" b="1" kern="1200" dirty="0">
                <a:solidFill>
                  <a:srgbClr val="000000"/>
                </a:solidFill>
                <a:effectLst/>
                <a:latin typeface="Times New Roman" panose="02020603050405020304" pitchFamily="18" charset="0"/>
                <a:ea typeface="+mn-ea"/>
              </a:rPr>
              <a:t>. (</a:t>
            </a:r>
            <a:r>
              <a:rPr lang="en-US" b="1" dirty="0">
                <a:solidFill>
                  <a:srgbClr val="000000"/>
                </a:solidFill>
                <a:latin typeface="Times New Roman" panose="02020603050405020304" pitchFamily="18" charset="0"/>
                <a:cs typeface="Times New Roman" panose="02020603050405020304" pitchFamily="18" charset="0"/>
              </a:rPr>
              <a:t>The second person “you”</a:t>
            </a:r>
            <a:r>
              <a:rPr lang="en-US" sz="2800" b="1" kern="1200" dirty="0">
                <a:solidFill>
                  <a:srgbClr val="000000"/>
                </a:solidFill>
                <a:effectLst/>
                <a:latin typeface="Times New Roman" panose="02020603050405020304" pitchFamily="18" charset="0"/>
                <a:ea typeface="+mn-ea"/>
                <a:cs typeface="Times New Roman" panose="02020603050405020304" pitchFamily="18" charset="0"/>
              </a:rPr>
              <a:t> sounds</a:t>
            </a:r>
            <a:r>
              <a:rPr lang="en-US" sz="2800" b="1" kern="1200" dirty="0">
                <a:solidFill>
                  <a:srgbClr val="000000"/>
                </a:solidFill>
                <a:effectLst/>
                <a:latin typeface="Times New Roman" panose="02020603050405020304" pitchFamily="18" charset="0"/>
                <a:ea typeface="+mn-ea"/>
              </a:rPr>
              <a:t> blaming)</a:t>
            </a:r>
            <a:endParaRPr lang="en-IN" sz="2800" dirty="0">
              <a:effectLst/>
              <a:latin typeface="Times New Roman" panose="02020603050405020304" pitchFamily="18" charset="0"/>
              <a:ea typeface="Times New Roman" panose="02020603050405020304" pitchFamily="18" charset="0"/>
            </a:endParaRPr>
          </a:p>
          <a:p>
            <a:pPr marL="0" indent="0">
              <a:lnSpc>
                <a:spcPct val="90000"/>
              </a:lnSpc>
              <a:spcBef>
                <a:spcPts val="1000"/>
              </a:spcBef>
              <a:buNone/>
            </a:pPr>
            <a:r>
              <a:rPr lang="en-US" sz="2800" kern="1200" dirty="0">
                <a:solidFill>
                  <a:srgbClr val="000000"/>
                </a:solidFill>
                <a:effectLst/>
                <a:latin typeface="Times New Roman" panose="02020603050405020304" pitchFamily="18" charset="0"/>
                <a:ea typeface="+mn-ea"/>
              </a:rPr>
              <a:t>3. According to the company’s policy, we don’t replace damaged goods</a:t>
            </a:r>
            <a:r>
              <a:rPr lang="en-US" sz="2800" b="1" kern="1200" dirty="0">
                <a:solidFill>
                  <a:srgbClr val="000000"/>
                </a:solidFill>
                <a:effectLst/>
                <a:latin typeface="Times New Roman" panose="02020603050405020304" pitchFamily="18" charset="0"/>
                <a:ea typeface="+mn-ea"/>
              </a:rPr>
              <a:t>. (be polite in negative situations)</a:t>
            </a:r>
            <a:endParaRPr lang="en-IN" sz="2800" dirty="0">
              <a:effectLst/>
              <a:latin typeface="Times New Roman" panose="02020603050405020304" pitchFamily="18" charset="0"/>
              <a:ea typeface="Times New Roman" panose="02020603050405020304" pitchFamily="18" charset="0"/>
            </a:endParaRPr>
          </a:p>
          <a:p>
            <a:pPr marL="0" indent="0">
              <a:lnSpc>
                <a:spcPct val="90000"/>
              </a:lnSpc>
              <a:spcBef>
                <a:spcPts val="1000"/>
              </a:spcBef>
              <a:buNone/>
            </a:pPr>
            <a:r>
              <a:rPr lang="en-US" sz="2800" kern="1200" dirty="0">
                <a:solidFill>
                  <a:srgbClr val="000000"/>
                </a:solidFill>
                <a:effectLst/>
                <a:latin typeface="Times New Roman" panose="02020603050405020304" pitchFamily="18" charset="0"/>
                <a:ea typeface="+mn-ea"/>
              </a:rPr>
              <a:t>4. We cannot hire you. </a:t>
            </a:r>
            <a:r>
              <a:rPr lang="en-US" sz="2800" b="1" kern="1200" dirty="0">
                <a:solidFill>
                  <a:srgbClr val="000000"/>
                </a:solidFill>
                <a:effectLst/>
                <a:latin typeface="Times New Roman" panose="02020603050405020304" pitchFamily="18" charset="0"/>
                <a:ea typeface="+mn-ea"/>
              </a:rPr>
              <a:t>(it sounds rude to be direct in negative messages)</a:t>
            </a:r>
            <a:endParaRPr lang="en-IN" sz="2800" dirty="0">
              <a:effectLst/>
              <a:latin typeface="Times New Roman" panose="02020603050405020304" pitchFamily="18" charset="0"/>
              <a:ea typeface="Times New Roman" panose="02020603050405020304" pitchFamily="18" charset="0"/>
            </a:endParaRPr>
          </a:p>
          <a:p>
            <a:pPr marL="0" indent="0">
              <a:lnSpc>
                <a:spcPct val="90000"/>
              </a:lnSpc>
              <a:spcBef>
                <a:spcPts val="1000"/>
              </a:spcBef>
              <a:buNone/>
            </a:pPr>
            <a:r>
              <a:rPr lang="en-US" sz="2800" kern="1200" dirty="0">
                <a:solidFill>
                  <a:srgbClr val="000000"/>
                </a:solidFill>
                <a:effectLst/>
                <a:latin typeface="Times New Roman" panose="02020603050405020304" pitchFamily="18" charset="0"/>
                <a:ea typeface="+mn-ea"/>
              </a:rPr>
              <a:t>4. We have recruited, but we have kept your resume for consideration in future. </a:t>
            </a:r>
            <a:r>
              <a:rPr lang="en-US" sz="2800" b="1" kern="1200" dirty="0">
                <a:solidFill>
                  <a:srgbClr val="000000"/>
                </a:solidFill>
                <a:effectLst/>
                <a:latin typeface="Times New Roman" panose="02020603050405020304" pitchFamily="18" charset="0"/>
                <a:ea typeface="+mn-ea"/>
              </a:rPr>
              <a:t>(be indirect)</a:t>
            </a:r>
            <a:endParaRPr lang="en-IN" sz="2800" dirty="0">
              <a:effectLst/>
              <a:latin typeface="Times New Roman" panose="02020603050405020304" pitchFamily="18" charset="0"/>
              <a:ea typeface="Times New Roman" panose="02020603050405020304" pitchFamily="18" charset="0"/>
            </a:endParaRPr>
          </a:p>
          <a:p>
            <a:pPr marL="0" indent="0">
              <a:lnSpc>
                <a:spcPct val="90000"/>
              </a:lnSpc>
              <a:spcBef>
                <a:spcPts val="1000"/>
              </a:spcBef>
              <a:buNone/>
            </a:pPr>
            <a:r>
              <a:rPr lang="en-US" sz="2800" kern="1200" dirty="0">
                <a:solidFill>
                  <a:srgbClr val="000000"/>
                </a:solidFill>
                <a:effectLst/>
                <a:latin typeface="Times New Roman" panose="02020603050405020304" pitchFamily="18" charset="0"/>
                <a:ea typeface="+mn-ea"/>
              </a:rPr>
              <a:t>5. My motivation helped you to get a job. </a:t>
            </a:r>
            <a:r>
              <a:rPr lang="en-US" sz="2800" b="1" kern="1200" dirty="0">
                <a:solidFill>
                  <a:srgbClr val="000000"/>
                </a:solidFill>
                <a:effectLst/>
                <a:latin typeface="Times New Roman" panose="02020603050405020304" pitchFamily="18" charset="0"/>
                <a:ea typeface="+mn-ea"/>
              </a:rPr>
              <a:t>(The possessive pronoun sounds arrogant and insincere)</a:t>
            </a:r>
            <a:endParaRPr lang="en-IN" b="1" dirty="0">
              <a:latin typeface="Times New Roman" panose="02020603050405020304" pitchFamily="18" charset="0"/>
            </a:endParaRPr>
          </a:p>
          <a:p>
            <a:pPr marL="0" indent="0">
              <a:lnSpc>
                <a:spcPct val="90000"/>
              </a:lnSpc>
              <a:spcBef>
                <a:spcPts val="1000"/>
              </a:spcBef>
              <a:buNone/>
            </a:pPr>
            <a:r>
              <a:rPr lang="en-US" sz="2800" kern="1200" dirty="0">
                <a:solidFill>
                  <a:srgbClr val="000000"/>
                </a:solidFill>
                <a:effectLst/>
                <a:latin typeface="Times New Roman" panose="02020603050405020304" pitchFamily="18" charset="0"/>
                <a:ea typeface="+mn-ea"/>
              </a:rPr>
              <a:t>5. You have been motivated to achieve your goal since the beginning of your college years</a:t>
            </a:r>
            <a:r>
              <a:rPr lang="en-US" sz="2800" b="1" kern="1200" dirty="0">
                <a:solidFill>
                  <a:srgbClr val="000000"/>
                </a:solidFill>
                <a:effectLst/>
                <a:latin typeface="Times New Roman" panose="02020603050405020304" pitchFamily="18" charset="0"/>
                <a:ea typeface="+mn-ea"/>
              </a:rPr>
              <a:t>. (</a:t>
            </a:r>
            <a:r>
              <a:rPr lang="en-US" b="1" dirty="0">
                <a:solidFill>
                  <a:srgbClr val="000000"/>
                </a:solidFill>
                <a:latin typeface="Times New Roman" panose="02020603050405020304" pitchFamily="18" charset="0"/>
                <a:cs typeface="Times New Roman" panose="02020603050405020304" pitchFamily="18" charset="0"/>
              </a:rPr>
              <a:t>The second person “you”</a:t>
            </a:r>
            <a:r>
              <a:rPr lang="en-US" sz="2800" b="1" kern="1200" dirty="0">
                <a:solidFill>
                  <a:srgbClr val="000000"/>
                </a:solidFill>
                <a:effectLst/>
                <a:latin typeface="Times New Roman" panose="02020603050405020304" pitchFamily="18" charset="0"/>
                <a:ea typeface="+mn-ea"/>
              </a:rPr>
              <a:t> sounds sincere and celebratory)</a:t>
            </a:r>
            <a:endParaRPr lang="en-IN" sz="280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5" name="Title 1"/>
          <p:cNvSpPr>
            <a:spLocks noGrp="1"/>
          </p:cNvSpPr>
          <p:nvPr>
            <p:ph type="title"/>
          </p:nvPr>
        </p:nvSpPr>
        <p:spPr>
          <a:xfrm>
            <a:off x="838200" y="0"/>
            <a:ext cx="10515600" cy="397933"/>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Answers</a:t>
            </a:r>
            <a:endParaRPr lang="en-IN" dirty="0"/>
          </a:p>
        </p:txBody>
      </p:sp>
      <p:sp>
        <p:nvSpPr>
          <p:cNvPr id="1048706" name="Content Placeholder 2"/>
          <p:cNvSpPr>
            <a:spLocks noGrp="1"/>
          </p:cNvSpPr>
          <p:nvPr>
            <p:ph idx="1"/>
          </p:nvPr>
        </p:nvSpPr>
        <p:spPr>
          <a:xfrm>
            <a:off x="838200" y="465667"/>
            <a:ext cx="10515600" cy="6527800"/>
          </a:xfrm>
        </p:spPr>
        <p:txBody>
          <a:bodyPr>
            <a:normAutofit fontScale="96667"/>
          </a:bodyPr>
          <a:lstStyle/>
          <a:p>
            <a:pPr marL="0" indent="0">
              <a:buNone/>
            </a:pPr>
            <a:r>
              <a:rPr lang="en-US" sz="2800" dirty="0">
                <a:effectLst/>
                <a:latin typeface="Times New Roman" panose="02020603050405020304" pitchFamily="18" charset="0"/>
                <a:ea typeface="Times New Roman" panose="02020603050405020304" pitchFamily="18" charset="0"/>
              </a:rPr>
              <a:t>6. The pizza Radha burnt </a:t>
            </a:r>
            <a:r>
              <a:rPr lang="en-US" sz="2800" b="1" dirty="0">
                <a:effectLst/>
                <a:latin typeface="Times New Roman" panose="02020603050405020304" pitchFamily="18" charset="0"/>
                <a:ea typeface="Times New Roman" panose="02020603050405020304" pitchFamily="18" charset="0"/>
              </a:rPr>
              <a:t>(follow subject verb object word order)</a:t>
            </a:r>
            <a:endParaRPr lang="en-IN" sz="2800" dirty="0">
              <a:effectLst/>
              <a:latin typeface="Times New Roman" panose="02020603050405020304" pitchFamily="18" charset="0"/>
              <a:ea typeface="Times New Roman" panose="02020603050405020304" pitchFamily="18" charset="0"/>
            </a:endParaRPr>
          </a:p>
          <a:p>
            <a:pPr marL="0" indent="0">
              <a:buNone/>
            </a:pPr>
            <a:r>
              <a:rPr lang="en-US" sz="2800" dirty="0">
                <a:effectLst/>
                <a:latin typeface="Times New Roman" panose="02020603050405020304" pitchFamily="18" charset="0"/>
                <a:ea typeface="Times New Roman" panose="02020603050405020304" pitchFamily="18" charset="0"/>
              </a:rPr>
              <a:t>6. Radha burnt the pizza.</a:t>
            </a:r>
            <a:endParaRPr lang="en-US" sz="2800" b="1" dirty="0">
              <a:effectLst/>
              <a:latin typeface="Times New Roman" panose="02020603050405020304" pitchFamily="18" charset="0"/>
              <a:ea typeface="Times New Roman" panose="02020603050405020304" pitchFamily="18" charset="0"/>
            </a:endParaRPr>
          </a:p>
          <a:p>
            <a:pPr marL="0" indent="0">
              <a:buNone/>
            </a:pPr>
            <a:r>
              <a:rPr lang="en-US" sz="2800" dirty="0">
                <a:effectLst/>
                <a:latin typeface="Times New Roman" panose="02020603050405020304" pitchFamily="18" charset="0"/>
                <a:ea typeface="Times New Roman" panose="02020603050405020304" pitchFamily="18" charset="0"/>
              </a:rPr>
              <a:t>7. The girl was walking the dog on the phone. </a:t>
            </a:r>
            <a:r>
              <a:rPr lang="en-US" sz="2800" b="1" dirty="0">
                <a:effectLst/>
                <a:latin typeface="Times New Roman" panose="02020603050405020304" pitchFamily="18" charset="0"/>
                <a:ea typeface="Times New Roman" panose="02020603050405020304" pitchFamily="18" charset="0"/>
              </a:rPr>
              <a:t>(The order of words is incorrect )</a:t>
            </a:r>
            <a:endParaRPr lang="en-IN" sz="2800" dirty="0">
              <a:effectLst/>
              <a:latin typeface="Times New Roman" panose="02020603050405020304" pitchFamily="18" charset="0"/>
              <a:ea typeface="Times New Roman" panose="02020603050405020304" pitchFamily="18" charset="0"/>
            </a:endParaRPr>
          </a:p>
          <a:p>
            <a:pPr marL="0" indent="0">
              <a:buNone/>
            </a:pPr>
            <a:r>
              <a:rPr lang="en-US" sz="2800" dirty="0">
                <a:effectLst/>
                <a:latin typeface="Times New Roman" panose="02020603050405020304" pitchFamily="18" charset="0"/>
                <a:ea typeface="Times New Roman" panose="02020603050405020304" pitchFamily="18" charset="0"/>
              </a:rPr>
              <a:t>7. The girl on the phone was walking the dog. </a:t>
            </a:r>
            <a:endParaRPr lang="en-IN" sz="2800" dirty="0">
              <a:effectLst/>
              <a:latin typeface="Times New Roman" panose="02020603050405020304" pitchFamily="18" charset="0"/>
              <a:ea typeface="Times New Roman" panose="02020603050405020304" pitchFamily="18" charset="0"/>
            </a:endParaRPr>
          </a:p>
          <a:p>
            <a:pPr marL="0" indent="0">
              <a:buNone/>
            </a:pPr>
            <a:r>
              <a:rPr lang="en-US" sz="2800" dirty="0">
                <a:effectLst/>
                <a:latin typeface="Times New Roman" panose="02020603050405020304" pitchFamily="18" charset="0"/>
                <a:ea typeface="Times New Roman" panose="02020603050405020304" pitchFamily="18" charset="0"/>
              </a:rPr>
              <a:t>8. To the Mughlai restaurant, we had to go for the dinner.</a:t>
            </a:r>
            <a:r>
              <a:rPr lang="en-US" sz="2800" b="1" dirty="0">
                <a:effectLst/>
                <a:latin typeface="Times New Roman" panose="02020603050405020304" pitchFamily="18" charset="0"/>
                <a:ea typeface="Times New Roman" panose="02020603050405020304" pitchFamily="18" charset="0"/>
              </a:rPr>
              <a:t> (The order of words is incorrect)</a:t>
            </a:r>
            <a:endParaRPr lang="en-IN" sz="2800" dirty="0">
              <a:effectLst/>
              <a:latin typeface="Times New Roman" panose="02020603050405020304" pitchFamily="18" charset="0"/>
              <a:ea typeface="Times New Roman" panose="02020603050405020304" pitchFamily="18" charset="0"/>
            </a:endParaRPr>
          </a:p>
          <a:p>
            <a:pPr marL="0" indent="0">
              <a:buNone/>
            </a:pPr>
            <a:r>
              <a:rPr lang="en-US" sz="2800" dirty="0">
                <a:effectLst/>
                <a:latin typeface="Times New Roman" panose="02020603050405020304" pitchFamily="18" charset="0"/>
                <a:ea typeface="Times New Roman" panose="02020603050405020304" pitchFamily="18" charset="0"/>
              </a:rPr>
              <a:t>8. We had to go to the Mughlai restaurant for the dinner.</a:t>
            </a:r>
            <a:endParaRPr lang="en-IN" sz="2800" dirty="0">
              <a:effectLst/>
              <a:latin typeface="Times New Roman" panose="02020603050405020304" pitchFamily="18" charset="0"/>
              <a:ea typeface="Times New Roman" panose="02020603050405020304" pitchFamily="18" charset="0"/>
            </a:endParaRPr>
          </a:p>
          <a:p>
            <a:pPr marL="0" indent="0">
              <a:buNone/>
            </a:pPr>
            <a:r>
              <a:rPr lang="en-US" sz="2800" dirty="0">
                <a:effectLst/>
                <a:latin typeface="Times New Roman" panose="02020603050405020304" pitchFamily="18" charset="0"/>
                <a:ea typeface="Times New Roman" panose="02020603050405020304" pitchFamily="18" charset="0"/>
              </a:rPr>
              <a:t>9. You have the report? </a:t>
            </a:r>
            <a:r>
              <a:rPr lang="en-US" sz="2800" b="1" dirty="0">
                <a:effectLst/>
                <a:latin typeface="Times New Roman" panose="02020603050405020304" pitchFamily="18" charset="0"/>
                <a:ea typeface="Times New Roman" panose="02020603050405020304" pitchFamily="18" charset="0"/>
              </a:rPr>
              <a:t>(incorrect use of punctuation)</a:t>
            </a:r>
            <a:endParaRPr lang="en-IN" sz="2800" dirty="0">
              <a:effectLst/>
              <a:latin typeface="Times New Roman" panose="02020603050405020304" pitchFamily="18" charset="0"/>
              <a:ea typeface="Times New Roman" panose="02020603050405020304" pitchFamily="18" charset="0"/>
            </a:endParaRPr>
          </a:p>
          <a:p>
            <a:pPr marL="0" indent="0">
              <a:buNone/>
            </a:pPr>
            <a:r>
              <a:rPr lang="en-US" sz="2800" dirty="0">
                <a:effectLst/>
                <a:latin typeface="Times New Roman" panose="02020603050405020304" pitchFamily="18" charset="0"/>
                <a:ea typeface="Times New Roman" panose="02020603050405020304" pitchFamily="18" charset="0"/>
              </a:rPr>
              <a:t>9. Do you have the report? </a:t>
            </a:r>
            <a:r>
              <a:rPr lang="en-US" sz="2800" b="1" dirty="0">
                <a:effectLst/>
                <a:latin typeface="Times New Roman" panose="02020603050405020304" pitchFamily="18" charset="0"/>
                <a:ea typeface="Times New Roman" panose="02020603050405020304" pitchFamily="18" charset="0"/>
              </a:rPr>
              <a:t>(</a:t>
            </a:r>
            <a:r>
              <a:rPr lang="en-US" b="1" dirty="0">
                <a:latin typeface="Times New Roman" panose="02020603050405020304" pitchFamily="18" charset="0"/>
                <a:ea typeface="Times New Roman" panose="02020603050405020304" pitchFamily="18" charset="0"/>
              </a:rPr>
              <a:t>formed an </a:t>
            </a:r>
            <a:r>
              <a:rPr lang="en-US" sz="2800" b="1" dirty="0">
                <a:effectLst/>
                <a:latin typeface="Times New Roman" panose="02020603050405020304" pitchFamily="18" charset="0"/>
                <a:ea typeface="Times New Roman" panose="02020603050405020304" pitchFamily="18" charset="0"/>
              </a:rPr>
              <a:t>interrogative sentence)</a:t>
            </a:r>
            <a:endParaRPr lang="en-IN" sz="2800" dirty="0">
              <a:effectLst/>
              <a:latin typeface="Times New Roman" panose="02020603050405020304" pitchFamily="18" charset="0"/>
              <a:ea typeface="Times New Roman" panose="02020603050405020304" pitchFamily="18" charset="0"/>
            </a:endParaRPr>
          </a:p>
          <a:p>
            <a:pPr marL="0" indent="0">
              <a:buNone/>
            </a:pPr>
            <a:r>
              <a:rPr lang="en-US" sz="2800" dirty="0">
                <a:effectLst/>
                <a:latin typeface="Times New Roman" panose="02020603050405020304" pitchFamily="18" charset="0"/>
                <a:ea typeface="Times New Roman" panose="02020603050405020304" pitchFamily="18" charset="0"/>
              </a:rPr>
              <a:t>10. The presentation was good. </a:t>
            </a:r>
            <a:r>
              <a:rPr lang="en-US" sz="2800" b="1" dirty="0">
                <a:effectLst/>
                <a:latin typeface="Times New Roman" panose="02020603050405020304" pitchFamily="18" charset="0"/>
                <a:ea typeface="Times New Roman" panose="02020603050405020304" pitchFamily="18" charset="0"/>
              </a:rPr>
              <a:t>(</a:t>
            </a:r>
            <a:r>
              <a:rPr lang="en-US" b="1" dirty="0">
                <a:latin typeface="Times New Roman" panose="02020603050405020304" pitchFamily="18" charset="0"/>
                <a:ea typeface="Times New Roman" panose="02020603050405020304" pitchFamily="18" charset="0"/>
              </a:rPr>
              <a:t>description is vague</a:t>
            </a:r>
            <a:r>
              <a:rPr lang="en-US" sz="2800" b="1" dirty="0">
                <a:effectLst/>
                <a:latin typeface="Times New Roman" panose="02020603050405020304" pitchFamily="18" charset="0"/>
                <a:ea typeface="Times New Roman" panose="02020603050405020304" pitchFamily="18" charset="0"/>
              </a:rPr>
              <a:t>)</a:t>
            </a:r>
            <a:endParaRPr lang="en-IN" sz="2800" dirty="0">
              <a:effectLst/>
              <a:latin typeface="Times New Roman" panose="02020603050405020304" pitchFamily="18" charset="0"/>
              <a:ea typeface="Times New Roman" panose="02020603050405020304" pitchFamily="18" charset="0"/>
            </a:endParaRPr>
          </a:p>
          <a:p>
            <a:pPr marL="0" indent="0">
              <a:buNone/>
            </a:pPr>
            <a:r>
              <a:rPr lang="en-US" sz="2800" dirty="0">
                <a:effectLst/>
                <a:latin typeface="Times New Roman" panose="02020603050405020304" pitchFamily="18" charset="0"/>
                <a:ea typeface="Times New Roman" panose="02020603050405020304" pitchFamily="18" charset="0"/>
              </a:rPr>
              <a:t>10. The presentation was descriptive/engaging. </a:t>
            </a:r>
            <a:r>
              <a:rPr lang="en-US" sz="2800" b="1" dirty="0">
                <a:effectLst/>
                <a:latin typeface="Times New Roman" panose="02020603050405020304" pitchFamily="18" charset="0"/>
                <a:ea typeface="Times New Roman" panose="02020603050405020304" pitchFamily="18" charset="0"/>
              </a:rPr>
              <a:t>(description </a:t>
            </a:r>
            <a:r>
              <a:rPr lang="en-US" sz="2800" b="1">
                <a:effectLst/>
                <a:latin typeface="Times New Roman" panose="02020603050405020304" pitchFamily="18" charset="0"/>
                <a:ea typeface="Times New Roman" panose="02020603050405020304" pitchFamily="18" charset="0"/>
              </a:rPr>
              <a:t>is specific)</a:t>
            </a:r>
            <a:endParaRPr lang="en-IN" sz="2800" dirty="0">
              <a:effectLst/>
              <a:latin typeface="Times New Roman" panose="02020603050405020304" pitchFamily="18" charset="0"/>
              <a:ea typeface="Times New Roman" panose="02020603050405020304" pitchFamily="18" charset="0"/>
            </a:endParaRPr>
          </a:p>
          <a:p>
            <a:pPr marL="0" indent="0">
              <a:lnSpc>
                <a:spcPct val="90000"/>
              </a:lnSpc>
              <a:spcBef>
                <a:spcPts val="1000"/>
              </a:spcBef>
              <a:buNone/>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1795</TotalTime>
  <Words>4198</Words>
  <Application>Microsoft Office PowerPoint</Application>
  <PresentationFormat>Custom</PresentationFormat>
  <Paragraphs>629</Paragraphs>
  <Slides>67</Slides>
  <Notes>0</Notes>
  <HiddenSlides>0</HiddenSlides>
  <MMClips>0</MMClips>
  <ScaleCrop>false</ScaleCrop>
  <HeadingPairs>
    <vt:vector size="4" baseType="variant">
      <vt:variant>
        <vt:lpstr>Theme</vt:lpstr>
      </vt:variant>
      <vt:variant>
        <vt:i4>1</vt:i4>
      </vt:variant>
      <vt:variant>
        <vt:lpstr>Slide Titles</vt:lpstr>
      </vt:variant>
      <vt:variant>
        <vt:i4>67</vt:i4>
      </vt:variant>
    </vt:vector>
  </HeadingPairs>
  <TitlesOfParts>
    <vt:vector size="68" baseType="lpstr">
      <vt:lpstr>Office Theme</vt:lpstr>
      <vt:lpstr>Style and Tone of Business Messages and Documents</vt:lpstr>
      <vt:lpstr>Objectives </vt:lpstr>
      <vt:lpstr>Go through the following sentences</vt:lpstr>
      <vt:lpstr>Go through the following sentences</vt:lpstr>
      <vt:lpstr>How will you feel if the sender conveys in professional space like in the given messages?</vt:lpstr>
      <vt:lpstr>How will you feel if the sender conveys in professional space like in the given messages?</vt:lpstr>
      <vt:lpstr>Reframed statements</vt:lpstr>
      <vt:lpstr>Reframed statements</vt:lpstr>
      <vt:lpstr>Business Messages </vt:lpstr>
      <vt:lpstr>Business messages: Style</vt:lpstr>
      <vt:lpstr>Business Messages: Tone </vt:lpstr>
      <vt:lpstr>Situation-1</vt:lpstr>
      <vt:lpstr>Situation -1</vt:lpstr>
      <vt:lpstr>Revised Version</vt:lpstr>
      <vt:lpstr>Revised Version</vt:lpstr>
      <vt:lpstr>Business Messages: 7 Cs </vt:lpstr>
      <vt:lpstr>Be Clear</vt:lpstr>
      <vt:lpstr>Be Clear</vt:lpstr>
      <vt:lpstr>Use simple words</vt:lpstr>
      <vt:lpstr>Use Simple Words</vt:lpstr>
      <vt:lpstr>Avoid Using Commonly Confused Words </vt:lpstr>
      <vt:lpstr>Avoid using ambiguous words</vt:lpstr>
      <vt:lpstr>Avoid Ambiguity</vt:lpstr>
      <vt:lpstr>Syntactical Word Order</vt:lpstr>
      <vt:lpstr>Construct Grammatically Correct Sentences</vt:lpstr>
      <vt:lpstr>Construct Grammatically Correct Sentences</vt:lpstr>
      <vt:lpstr>Dangling Modifiers</vt:lpstr>
      <vt:lpstr>Dangling Modifiers</vt:lpstr>
      <vt:lpstr>Be Clear</vt:lpstr>
      <vt:lpstr>Eliminating Clichés and Euphemisms</vt:lpstr>
      <vt:lpstr>Substitute Clichés</vt:lpstr>
      <vt:lpstr>Substitute Cliches </vt:lpstr>
      <vt:lpstr>Substitute Cliches</vt:lpstr>
      <vt:lpstr>Substitute Cliches</vt:lpstr>
      <vt:lpstr>Substitute Cliches</vt:lpstr>
      <vt:lpstr>Eliminating Euphemisms</vt:lpstr>
      <vt:lpstr> Be Concise</vt:lpstr>
      <vt:lpstr>Phrases You Can Omit</vt:lpstr>
      <vt:lpstr> Be Concise</vt:lpstr>
      <vt:lpstr>Redundancies</vt:lpstr>
      <vt:lpstr>Redundancies</vt:lpstr>
      <vt:lpstr>Reducing Clauses to Phrases, Phrases to Single Words</vt:lpstr>
      <vt:lpstr>Intensifiers that Don't Intensify</vt:lpstr>
      <vt:lpstr>Intensifiers that Don't Intensify</vt:lpstr>
      <vt:lpstr>Avoiding Expletive Constructions</vt:lpstr>
      <vt:lpstr>Be economical with words</vt:lpstr>
      <vt:lpstr>Be economical with words</vt:lpstr>
      <vt:lpstr>Be Concrete</vt:lpstr>
      <vt:lpstr>Be Concrete</vt:lpstr>
      <vt:lpstr>Be Concrete</vt:lpstr>
      <vt:lpstr>Be Considerate </vt:lpstr>
      <vt:lpstr>Be Considerate </vt:lpstr>
      <vt:lpstr>Be Considerate</vt:lpstr>
      <vt:lpstr>Be Considerate</vt:lpstr>
      <vt:lpstr>Use Acronyms and Abbreviations sparingly</vt:lpstr>
      <vt:lpstr>Using Abbreviations Effectively</vt:lpstr>
      <vt:lpstr>Business Tone</vt:lpstr>
      <vt:lpstr> The Judicious use of  “ You” </vt:lpstr>
      <vt:lpstr>   Avoid the use of the “You” pronoun in Negative situations</vt:lpstr>
      <vt:lpstr>Avoid the use of the “You” pronoun in Negative situations</vt:lpstr>
      <vt:lpstr>Use of active voice and passive voice</vt:lpstr>
      <vt:lpstr>Use Gender Neutral language</vt:lpstr>
      <vt:lpstr>Points to remember </vt:lpstr>
      <vt:lpstr>Which is a persuasive statement?</vt:lpstr>
      <vt:lpstr>Exercises</vt:lpstr>
      <vt:lpstr>Answers</vt:lpstr>
      <vt:lpstr>Answers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Style and Tone for Writing Business Messages and Documents</dc:title>
  <dc:creator>akshat agarwal</dc:creator>
  <cp:lastModifiedBy>Saksham Nigam</cp:lastModifiedBy>
  <cp:revision>46</cp:revision>
  <dcterms:created xsi:type="dcterms:W3CDTF">2020-08-30T21:02:54Z</dcterms:created>
  <dcterms:modified xsi:type="dcterms:W3CDTF">2025-09-24T13:52:13Z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da0d789697a04159b7cf71387736d53b</vt:lpwstr>
  </property>
</Properties>
</file>