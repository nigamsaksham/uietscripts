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67" r:id="rId24"/>
    <p:sldId id="281" r:id="rId25"/>
    <p:sldId id="282" r:id="rId26"/>
    <p:sldId id="283" r:id="rId27"/>
    <p:sldId id="284" r:id="rId28"/>
    <p:sldId id="285" r:id="rId29"/>
    <p:sldId id="268" r:id="rId30"/>
    <p:sldId id="286" r:id="rId31"/>
    <p:sldId id="27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025" autoAdjust="0"/>
    <p:restoredTop sz="94660"/>
  </p:normalViewPr>
  <p:slideViewPr>
    <p:cSldViewPr snapToGrid="0">
      <p:cViewPr varScale="1">
        <p:scale>
          <a:sx n="68" d="100"/>
          <a:sy n="68" d="100"/>
        </p:scale>
        <p:origin x="-68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18673D-B65C-44CA-805A-D1367CF93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208D197-BE0E-4974-8832-CA118125E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E6A671-FE4B-4842-B87E-6263C5814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F527-276E-4E77-B7CA-434B8CB42410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0A9FF7E-9922-4A94-AE6E-B1D47F4C6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23AF0A-9FD2-48AC-845B-6C63E771B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9CD64-9BDA-4E0D-903B-A3E0AEA3B9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5999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04F52B-A6C0-4637-BC66-08D88341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3387AD-F3EE-473B-99E8-19014673E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18D3D7-D53D-44C1-8028-298B52996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F527-276E-4E77-B7CA-434B8CB42410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CB560E0-A0CC-40D6-8D2C-F8833ABC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679338-DED7-47EB-9C9E-1580935F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9CD64-9BDA-4E0D-903B-A3E0AEA3B9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23691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93DAB1-4099-4AF9-8A6F-6CFF18A4B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0E6386C-591B-4B46-A112-F659C60ED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D723EB-A669-498F-9A7E-03968578B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F527-276E-4E77-B7CA-434B8CB42410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3F75A50-74BC-4747-ACAB-8FA63BA94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BA1CB5C-BBD5-4203-BEEC-0023075A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9CD64-9BDA-4E0D-903B-A3E0AEA3B9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88466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082136-BF10-4495-B204-B5237BA14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C92FC4-C915-44BA-8140-1A4DF0E4A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03958D9-C304-4B35-B2CC-60741B683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63EE923-CBE9-49B2-8C5D-9C13EB60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F527-276E-4E77-B7CA-434B8CB42410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0DDB266-AC26-4A46-909A-39A41DDF1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FF8566B-69D1-46E2-9E24-8DA6AF11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9CD64-9BDA-4E0D-903B-A3E0AEA3B9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23653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122D2C-45F2-4D86-8797-A3061579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EAC33C-C5F3-46C2-BCF3-84AB17CE6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5EEBA00-21A5-4EE7-81D2-BB81CFAFA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F6C68C5-907E-4990-9807-8FAC9C665E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531A5CB-0B46-4D9C-BA06-D93AE483C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4E71353-3743-4B21-8853-DB4B1910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F527-276E-4E77-B7CA-434B8CB42410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F5A70E5-E5BB-4FF5-BDC7-B74306F7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85552A8-2D0F-473F-8ECF-72365C7D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9CD64-9BDA-4E0D-903B-A3E0AEA3B9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5969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26D69A-7AF1-4CE8-8BBE-61A683F8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B0EAE43-463E-423E-8E11-07DCC139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F527-276E-4E77-B7CA-434B8CB42410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D5CE948-BE04-42A0-84B7-6C3C8C5C0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4E3F1B-D34B-4DBD-A2FD-67775CE6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9CD64-9BDA-4E0D-903B-A3E0AEA3B9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8086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53E32C8-37B4-4C42-A24D-0BDD06105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F527-276E-4E77-B7CA-434B8CB42410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AFEA921-7D41-4EB8-BFF1-2DBAFA305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E236D59-E03B-4A4A-93F1-BA25299E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9CD64-9BDA-4E0D-903B-A3E0AEA3B9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94704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5154AC-5FBC-4579-877F-4E1D465F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7F8377-61D8-4AAA-B574-1B56D451B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133084A-6AF4-4B2E-9EFA-2B6A200EE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D816E3-8D96-49EA-98E4-BD02E2F4F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F527-276E-4E77-B7CA-434B8CB42410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CD3CAE0-0D66-4F40-80B1-5FEFE50F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6123FA8-2D80-427C-B3F3-F3722CC70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9CD64-9BDA-4E0D-903B-A3E0AEA3B9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2586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308773-93F6-4BC0-B5B5-A70BABDF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F974708-AB28-4B3A-B34B-08E14DEC8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35291E7-F387-4387-AD55-365F6BD8B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3B88926-1680-44B9-AD11-A5D9F4A2E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F527-276E-4E77-B7CA-434B8CB42410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3A5C72C-5ECE-4BFF-878E-3767E07D3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A363817-DA41-4364-93BD-E00D5F3C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9CD64-9BDA-4E0D-903B-A3E0AEA3B9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41332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AE21F2-46BF-4DE0-8134-C6DA915D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F6A3C18-D5A9-48CD-93A9-15C0D660B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1F6EED-21F3-43DA-ADDE-7A5154B6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F527-276E-4E77-B7CA-434B8CB42410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D23EC99-54F4-46FD-967E-52EC8C2C0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E7947BC-686C-42C4-A2A7-97DE1C678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9CD64-9BDA-4E0D-903B-A3E0AEA3B9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911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6DB0B13-5982-40BE-A29E-FE2CA5BCCC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EF3E67B-A865-40EA-8181-326CF97A5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20064E-8013-414C-9FBF-6E91DC7B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9F527-276E-4E77-B7CA-434B8CB42410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20ED311-E055-4806-8F11-AE089D65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8A66350-304E-4E3B-8C98-24A6B12E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9CD64-9BDA-4E0D-903B-A3E0AEA3B9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54464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CBF726E-AD43-4F0C-91DA-D0D570833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CB8B68A-256B-4B98-8570-223F44228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42ADF6F-288D-49D8-BC80-41AFE3B00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9F527-276E-4E77-B7CA-434B8CB42410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EC40E59-096C-4154-A515-636E531FCF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B6CDE8E-BB8A-4D40-B517-05769114D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9CD64-9BDA-4E0D-903B-A3E0AEA3B9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721919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8nuhw_O8BH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kcW4ABcY3zI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KY00EsewiU" TargetMode="External"/><Relationship Id="rId2" Type="http://schemas.openxmlformats.org/officeDocument/2006/relationships/hyperlink" Target="https://youtu.be/4-mvb-8FHPo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hashtag/speakf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68F612-F5D4-4D40-8661-93598FCFE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Paralinguistic Features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97B17ED-EB23-4DE1-BD1D-79C0DA4331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Lab Activity 2</a:t>
            </a:r>
          </a:p>
        </p:txBody>
      </p:sp>
    </p:spTree>
    <p:extLst>
      <p:ext uri="{BB962C8B-B14F-4D97-AF65-F5344CB8AC3E}">
        <p14:creationId xmlns:p14="http://schemas.microsoft.com/office/powerpoint/2010/main" xmlns="" val="245658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3B3384-6FF2-4D52-A945-835003AA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Paralinguistic/ Human voice 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385ECB-8D8F-4BFD-9F0D-29FF4D2C1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refers to the study of human voice and how words are spoken</a:t>
            </a: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features are non-verbal cues that help us to provide firmness to our voice. </a:t>
            </a: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includes— </a:t>
            </a:r>
            <a:r>
              <a:rPr lang="en-IN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quality, volume, rate, pitch, articulation, pronunciation, and pauses.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8125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F51147-6C60-4A56-A916-5AFD136AB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Quality</a:t>
            </a:r>
            <a:b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13F32A-AED9-4987-A649-6B145D59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Normal Voice: </a:t>
            </a: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Breathy Voice: Words accompanied with air; Soft and alluring, Hoarse and husky</a:t>
            </a: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Creaky Voice: Short high pitch sound; Harsh and irritating</a:t>
            </a:r>
          </a:p>
          <a:p>
            <a:r>
              <a:rPr lang="en-IN" dirty="0"/>
              <a:t>Falsetto: Very high Sound</a:t>
            </a:r>
          </a:p>
          <a:p>
            <a:r>
              <a:rPr lang="en-IN" dirty="0"/>
              <a:t>Full voice/ Loud Voice: Close to shouting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ich and resonant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hin and nasal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63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2BDC3F-047F-42AA-B0A0-FC0020372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Volume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9A155E-C3C7-43C7-BE09-02DF83950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refers to the loudness or softness of a sound</a:t>
            </a:r>
          </a:p>
          <a:p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Projection of Voice</a:t>
            </a:r>
          </a:p>
          <a:p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Be Heard: Audible/ Inaudible</a:t>
            </a:r>
          </a:p>
          <a:p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Vary your Volume: To avoid audience from sleeping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4557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CA87CE-7546-4002-B909-B6C7C66C4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Pace/ Rate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184C85-B8FA-4640-8F5B-B909355F2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Speed</a:t>
            </a: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refers to the number of words one speaks in a minute.</a:t>
            </a: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normal  rate is 120-150 words per minute</a:t>
            </a:r>
          </a:p>
          <a:p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Aim for a comfortable rate of speech</a:t>
            </a:r>
          </a:p>
          <a:p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Avoid speaking too fast or too slow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1511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E2D0C5-F0C7-4155-8B9C-60C21D195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Pitch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CED3A2-C498-462C-91D3-C73E48484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refers to the number of vibrations of our voice per second.</a:t>
            </a: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rise and fall of your voice ( conveys emotions).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well-balanced pitch results in a clear and effective tone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6461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3B8CCC-A5FB-4F67-88D7-CFC5F9F58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Articulation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1DEEFB-7AE7-4EF8-A14B-6CE9EB2D9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Speaker should be careful not to slop, slur, chop, truncate or omit sounds between words or sentences.</a:t>
            </a:r>
          </a:p>
          <a:p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 dude, 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whaddaya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gonna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 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tday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18699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D8EAD8-0DC1-47FE-918B-8E3D50CCC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Pronunciation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288CC9-C0F4-49EF-ABFD-2ECEDE198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speak out sounds in a way that is generally accepted.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follow British Received Pronunciation.</a:t>
            </a: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produce individual sounds along with word stress according to the set norms.</a:t>
            </a: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learn correct pronunciation of a word, refer to a dictionary or to auditory pronunciation.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watch these videos: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https://youtu.be/8nuhw_O8BHM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https://youtu.be/R00PtiARUSg</a:t>
            </a:r>
          </a:p>
        </p:txBody>
      </p:sp>
    </p:spTree>
    <p:extLst>
      <p:ext uri="{BB962C8B-B14F-4D97-AF65-F5344CB8AC3E}">
        <p14:creationId xmlns:p14="http://schemas.microsoft.com/office/powerpoint/2010/main" xmlns="" val="374400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7D90F2-99E5-4421-8098-BC3B8B0A9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B5B99A-112E-450B-8E90-F18128287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Word 				Common error 		Correct 										pronunciation</a:t>
            </a: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Arctic 				art-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ic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IN" sz="28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-tic</a:t>
            </a: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Gesture				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ges-ture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IN" sz="28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es-ture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tier				3-tyre				3-t</a:t>
            </a:r>
            <a:r>
              <a:rPr lang="en-IN" sz="2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</a:p>
          <a:p>
            <a:pPr indent="457200"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Gigantic			jai-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jan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-tik			jai-</a:t>
            </a:r>
            <a:r>
              <a:rPr lang="en-IN" sz="28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IN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-tik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4109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6E3C35-23E1-4D66-BDAD-75C94907A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to pronounce correctly?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D0DC64-606D-4958-91F6-47B620E17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understood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clear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 the listeners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elegant image </a:t>
            </a:r>
          </a:p>
        </p:txBody>
      </p:sp>
    </p:spTree>
    <p:extLst>
      <p:ext uri="{BB962C8B-B14F-4D97-AF65-F5344CB8AC3E}">
        <p14:creationId xmlns:p14="http://schemas.microsoft.com/office/powerpoint/2010/main" xmlns="" val="278065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CC2C56-A034-4E1A-8D2E-2C0876321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Voice Modulation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07AB60-4A8F-4095-BE6A-65F343B0A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Modulation refers to the way we regulate, vary, or adjust the tone, pitch, and volume of the sound or speaking voice.</a:t>
            </a:r>
          </a:p>
          <a:p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</a:p>
          <a:p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</a:t>
            </a:r>
            <a:r>
              <a:rPr lang="en-IN" sz="2800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company</a:t>
            </a: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produces fifty 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cars</a:t>
            </a: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every day.</a:t>
            </a:r>
          </a:p>
          <a:p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company produces </a:t>
            </a:r>
            <a:r>
              <a:rPr lang="en-IN" sz="2800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fifty </a:t>
            </a:r>
            <a:r>
              <a:rPr lang="en-IN" sz="2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cars</a:t>
            </a:r>
            <a:r>
              <a:rPr lang="en-IN" sz="2800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 day.</a:t>
            </a:r>
          </a:p>
          <a:p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company produces fifty 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cars</a:t>
            </a: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 day.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xmlns="" val="348685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D1E564-749C-417C-B509-41CE856F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Pauses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129E5A-AD3D-4C8B-ACB6-2E87EC103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Pause is a short silence flanked by words.</a:t>
            </a:r>
          </a:p>
          <a:p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Allow yourself time to breathe</a:t>
            </a:r>
          </a:p>
          <a:p>
            <a:r>
              <a:rPr lang="en-IN" dirty="0">
                <a:latin typeface="Calibri" panose="020F0502020204030204" pitchFamily="34" charset="0"/>
                <a:cs typeface="Times New Roman" panose="02020603050405020304" pitchFamily="18" charset="0"/>
              </a:rPr>
              <a:t>Allow the audience to absorb </a:t>
            </a: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Vocalized pauses/Filler words: Avoid these sorts of utterances: uh, ah, hmm, a, aah this should be substituted by silent pauses.</a:t>
            </a:r>
          </a:p>
          <a:p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 repetitive phrases such as actually, I know, I mean, well, ok, got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3201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AD8673-8F88-B4AA-3B49-C542B9626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Intonation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802BC1-61FF-CD22-38E8-A4856C583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Intonation is the ‘music’ of language, and is perhaps the most important element of a correct accent.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Intonation refers to the rise and fall of pitch when speaking. It’s a key aspect of spoken language that conveys meaning, attitude, and emotion beyond the literal words.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8129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82FC21-7FE2-9484-978F-FE1888D1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8D7D46-D719-2AC9-BED2-5AB01EDCE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Patterns of Intonation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CD4CB5-FC3F-69E0-A147-4DD256C4C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Broadly speaking variation in tone may be of four types: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Falling Tone: Pitch changes from a higher level to a low level.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Rising Tone : Pitch changes from a low level to a high level.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Falling-Rising Tone: Pitch falls and rises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Rising-Falling Tone: Pitch rises and falls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9759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B4281E-C5C4-AFA4-56C2-310DF5D6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Falling Tone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9D68E2-49F1-AA44-951A-C05CFE3C0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It conveys the mood of casualness, aloofness, lack of interest, and indifference. Sentences which are uttered in this tone are: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Definite and complete statements:						I  	I don’t feel like doing it.								The book is not interesting.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Wh</a:t>
            </a:r>
            <a:r>
              <a:rPr lang="en-US" dirty="0"/>
              <a:t>-questions asked casually:</a:t>
            </a:r>
          </a:p>
          <a:p>
            <a:pPr marL="0" indent="0">
              <a:buNone/>
            </a:pPr>
            <a:r>
              <a:rPr lang="en-US" dirty="0"/>
              <a:t>	When did you do it?								Why are you calling him?</a:t>
            </a:r>
          </a:p>
          <a:p>
            <a:pPr marL="0" indent="0">
              <a:buNone/>
            </a:pPr>
            <a:r>
              <a:rPr lang="en-US" dirty="0"/>
              <a:t>3. Commands:										Shut the door.									Don’t forget to take it from him.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24041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2CDA60-DCD8-502D-7658-72A565F49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BB8D7E-583D-1452-4B9B-9DB0E216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Falling Tone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5F5F545-83AC-BB1D-4EB1-FD3124501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4. Invitations:										Come over for a cup of coffee.							Why don’t you come and stay with us?				</a:t>
            </a:r>
          </a:p>
          <a:p>
            <a:pPr marL="0" indent="0">
              <a:buNone/>
            </a:pPr>
            <a:r>
              <a:rPr lang="en-US" dirty="0"/>
              <a:t>5. Exclamations:										What a beautiful scene!</a:t>
            </a:r>
          </a:p>
          <a:p>
            <a:pPr marL="0" indent="0">
              <a:buNone/>
            </a:pPr>
            <a:r>
              <a:rPr lang="en-US" dirty="0"/>
              <a:t>	How nice of you!</a:t>
            </a:r>
          </a:p>
          <a:p>
            <a:pPr marL="0" indent="0">
              <a:buNone/>
            </a:pPr>
            <a:r>
              <a:rPr lang="en-US" dirty="0"/>
              <a:t>6. All question tags forcing the listener to agree:					You’ll do it, won’t you?								It isn’t wrong, is it?</a:t>
            </a:r>
          </a:p>
          <a:p>
            <a:pPr marL="0" indent="0">
              <a:buNone/>
            </a:pPr>
            <a:r>
              <a:rPr lang="en-US" dirty="0"/>
              <a:t>7. Greetings (cheerful and hearty)							</a:t>
            </a:r>
          </a:p>
          <a:p>
            <a:pPr marL="0" indent="0">
              <a:buNone/>
            </a:pPr>
            <a:r>
              <a:rPr lang="en-US" dirty="0"/>
              <a:t>	Good morning									Good day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5780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563E58-8575-BF32-1CC3-0F04F8B8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Rising Tone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22C40F-E173-6BFE-8A94-18FD6D5BF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rising tone conveys interest, concern, politeness, courtesy, surprise, and encouragement. The following tone groups are generally used in rising tone: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2139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8B7E16-767C-9E3D-5379-B4F4A72D8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377751-70D8-F7FC-87E7-97661C7E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Rising Tone</a:t>
            </a:r>
            <a:endParaRPr lang="en-IN" dirty="0"/>
          </a:p>
        </p:txBody>
      </p:sp>
      <p:pic>
        <p:nvPicPr>
          <p:cNvPr id="1026" name="Picture 2" descr="Intonation of yes/no questions ...">
            <a:extLst>
              <a:ext uri="{FF2B5EF4-FFF2-40B4-BE49-F238E27FC236}">
                <a16:creationId xmlns:a16="http://schemas.microsoft.com/office/drawing/2014/main" xmlns="" id="{ABE5A2D2-0E54-22B0-AD76-27E3BE5DE0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237874"/>
            <a:ext cx="2857500" cy="256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84380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239644-AF1E-6B38-A402-51AC0CE1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Rising Tone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05B9E8-9BCB-C484-9EDC-3E8AE8F43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Polite requests:</a:t>
            </a:r>
            <a:r>
              <a:rPr lang="en-IN" dirty="0"/>
              <a:t>										Pass me the book, please.							Please come and help me.						 3. Commands which should sound like requests:					Close the door.									DO come in and sit down.							Don’t call me at late hours.						</a:t>
            </a:r>
          </a:p>
          <a:p>
            <a:pPr marL="0" indent="0">
              <a:buNone/>
            </a:pPr>
            <a:r>
              <a:rPr lang="en-IN" dirty="0"/>
              <a:t>4. </a:t>
            </a:r>
            <a:r>
              <a:rPr lang="en-IN" dirty="0" err="1"/>
              <a:t>Wh</a:t>
            </a:r>
            <a:r>
              <a:rPr lang="en-IN" dirty="0"/>
              <a:t>-Questions asked to show concern or friendliness?				How is your son?									What will you do now?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0815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E093BFA-5A42-F0CE-D180-AB9DF472A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8A9F65-23C8-CADF-B3BB-AADF6DEB1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Rising Tone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02F9CB-0894-373E-E942-601810761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5. To show courtesy									After you madam.									Do come in Sir.								</a:t>
            </a:r>
          </a:p>
          <a:p>
            <a:pPr marL="0" indent="0">
              <a:buNone/>
            </a:pPr>
            <a:r>
              <a:rPr lang="en-US" dirty="0"/>
              <a:t>6. To encourage someone								That’s Ok										Don’t lose heart.									</a:t>
            </a:r>
          </a:p>
          <a:p>
            <a:pPr marL="0" indent="0">
              <a:buNone/>
            </a:pPr>
            <a:r>
              <a:rPr lang="en-US" dirty="0"/>
              <a:t>7. Question tags seeking listener’s confirmation.</a:t>
            </a:r>
          </a:p>
          <a:p>
            <a:pPr marL="0" indent="0">
              <a:buNone/>
            </a:pPr>
            <a:r>
              <a:rPr lang="en-US" dirty="0"/>
              <a:t>	You are coming with me. Aren’t you?						He’ll finish it today. Won’t he?</a:t>
            </a:r>
          </a:p>
          <a:p>
            <a:pPr marL="0" indent="0">
              <a:buNone/>
            </a:pPr>
            <a:r>
              <a:rPr lang="en-US" dirty="0"/>
              <a:t>8. Greetings ( Done as a duty)								Good evening.									Good bye.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75652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6A3986-DD1A-0F10-75BA-61246205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Falling and Rising Tone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51770BB-794C-B6D3-6914-CB6CCDA68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falling and rising tone conveys doubt and reservation, on the part of the speaker and the polite inquiries.</a:t>
            </a:r>
          </a:p>
          <a:p>
            <a:pPr marL="514350" indent="-514350">
              <a:buAutoNum type="arabicPeriod"/>
            </a:pPr>
            <a:r>
              <a:rPr lang="en-US" dirty="0"/>
              <a:t>Incomplete statements:								If you don’t finish it . . .								If he doesn’t behave . . .								</a:t>
            </a:r>
          </a:p>
          <a:p>
            <a:pPr marL="514350" indent="-514350">
              <a:buAutoNum type="arabicPeriod"/>
            </a:pPr>
            <a:r>
              <a:rPr lang="en-US" dirty="0"/>
              <a:t>Statements expressing warning, reproach or concern:				Careful										You should have shared it with your brother.					</a:t>
            </a:r>
          </a:p>
          <a:p>
            <a:pPr marL="514350" indent="-514350">
              <a:buAutoNum type="arabicPeriod"/>
            </a:pPr>
            <a:r>
              <a:rPr lang="en-US" dirty="0"/>
              <a:t>Statements showing a kind of reservation on the part of the speaker.		He is good.(but no one likes him)							I’ll do it tomorrow. ( not today)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8311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EBE361-50C5-9D14-5C28-2F6F9292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607237-5BE2-916B-D87C-04D9FE76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Rising and Falling Tone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F3CB2D-8DC3-9C1E-3367-D09B8DA6E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rising and falling tone conveys enthusiastic agreement, wonder, appreciation or sarcasm.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Statements showing enthusiastic agreement:							It was terrific.										Of course.								</a:t>
            </a:r>
          </a:p>
          <a:p>
            <a:pPr marL="514350" indent="-514350">
              <a:buAutoNum type="arabicPeriod"/>
            </a:pPr>
            <a:r>
              <a:rPr lang="en-US" dirty="0"/>
              <a:t>Questions showing indignation, suspicion or mockery:					Will you be able to do it?								What is he doing?															</a:t>
            </a:r>
          </a:p>
          <a:p>
            <a:pPr marL="514350" indent="-514350">
              <a:buAutoNum type="arabicPeriod"/>
            </a:pPr>
            <a:r>
              <a:rPr lang="en-US" dirty="0"/>
              <a:t>Exclamations showing sarcasm or irony:						How clever of you!									Oh, really.										Good morning	</a:t>
            </a:r>
          </a:p>
          <a:p>
            <a:pPr marL="514350" indent="-514350">
              <a:buAutoNum type="arabicPeriod"/>
            </a:pPr>
            <a:r>
              <a:rPr lang="en-US" dirty="0"/>
              <a:t>Imperatives expressing haughtiness:							Go and break your head									Come and see </a:t>
            </a:r>
            <a:r>
              <a:rPr lang="en-US"/>
              <a:t>the result.</a:t>
            </a:r>
            <a:r>
              <a:rPr lang="en-US" dirty="0"/>
              <a:t>								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8534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3DB522-7246-4E05-860E-B39AB9E0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B3E740-8A94-4F36-8C40-A5235F79A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express </a:t>
            </a:r>
            <a:r>
              <a:rPr lang="en-US"/>
              <a:t>ideas either </a:t>
            </a:r>
            <a:r>
              <a:rPr lang="en-US" dirty="0"/>
              <a:t>in favor or in against.</a:t>
            </a:r>
          </a:p>
          <a:p>
            <a:r>
              <a:rPr lang="en-US" dirty="0"/>
              <a:t>To maintain ground whether in favor or in against.</a:t>
            </a:r>
          </a:p>
          <a:p>
            <a:r>
              <a:rPr lang="en-US" dirty="0"/>
              <a:t>To provide logical argument.</a:t>
            </a:r>
          </a:p>
          <a:p>
            <a:r>
              <a:rPr lang="en-US" dirty="0"/>
              <a:t>To avoid lose sentences.</a:t>
            </a:r>
          </a:p>
          <a:p>
            <a:r>
              <a:rPr lang="en-US" dirty="0"/>
              <a:t>To be prepared for rebuttal round.</a:t>
            </a:r>
          </a:p>
          <a:p>
            <a:r>
              <a:rPr lang="en-US" dirty="0"/>
              <a:t>To avoid hostility. </a:t>
            </a:r>
          </a:p>
          <a:p>
            <a:r>
              <a:rPr lang="en-US" dirty="0"/>
              <a:t>To avoid speaking provoking remarks or 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32434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6DF243-2F17-6F8A-CC08-5F8EBC82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EB2B04-1A51-A053-3348-247083338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Should the attendance requirement be 75% for B. Tech. students?</a:t>
            </a:r>
          </a:p>
        </p:txBody>
      </p:sp>
    </p:spTree>
    <p:extLst>
      <p:ext uri="{BB962C8B-B14F-4D97-AF65-F5344CB8AC3E}">
        <p14:creationId xmlns:p14="http://schemas.microsoft.com/office/powerpoint/2010/main" xmlns="" val="4014739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991FB2-A41C-6979-39D2-E4951720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03A1B0-F48A-93BF-FB69-3333FAED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811218-535C-9776-1B37-4677DF09A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Topic: Should the attendance requirement be 75% for B. Tech. students?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Teams- Team A (In </a:t>
            </a:r>
            <a:r>
              <a:rPr lang="en-US" dirty="0" err="1"/>
              <a:t>favour</a:t>
            </a:r>
            <a:r>
              <a:rPr lang="en-US" dirty="0"/>
              <a:t> of 75% attendance): 3 students approx.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Team B (Against the 75% attendance requirement): 3 students approx.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2869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8595D63-FC28-8DFF-5342-F7F47D3C2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E52417-9DB5-78A9-FFDE-98ADA8293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Topic: Should the attendance requirement be 75% for B. Tech. students?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BC53FF-F025-07C5-16C2-4C777DECB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Debate Flow:</a:t>
            </a:r>
          </a:p>
          <a:p>
            <a:pPr marL="514350" indent="-514350">
              <a:buAutoNum type="arabicPeriod"/>
            </a:pPr>
            <a:r>
              <a:rPr lang="en-US" dirty="0"/>
              <a:t>Opening arguments:  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- Team A: "A 75% attendance requirement prepares students for professional </a:t>
            </a:r>
            <a:r>
              <a:rPr lang="en-US" dirty="0" err="1"/>
              <a:t>rigour</a:t>
            </a:r>
            <a:r>
              <a:rPr lang="en-US" dirty="0"/>
              <a:t> and ensures engagement." 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- Team B: "A strict 75% bar restricts flexibility and limits development of varied skills outside classes."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552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D7AACC-5F3A-6F4A-8306-8E527DB2E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5F0E8-D32E-A769-720D-33DAF3B33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Topic: Should the attendance requirement be 75% for B. Tech. students?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0B11EC-EEB5-E092-1DAB-17D6ABDAE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Debate Flow:</a:t>
            </a:r>
          </a:p>
          <a:p>
            <a:pPr marL="0" indent="0">
              <a:buNone/>
            </a:pPr>
            <a:r>
              <a:rPr lang="en-US" dirty="0"/>
              <a:t>2. Rebuttals:   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Team A responds to Team B's points on flexibility. 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Team B counters Team A's points on professional preparation.</a:t>
            </a:r>
          </a:p>
        </p:txBody>
      </p:sp>
    </p:spTree>
    <p:extLst>
      <p:ext uri="{BB962C8B-B14F-4D97-AF65-F5344CB8AC3E}">
        <p14:creationId xmlns:p14="http://schemas.microsoft.com/office/powerpoint/2010/main" xmlns="" val="69283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D574615-1CAE-0142-46BB-AB46271B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59655-CDF3-D2B3-F117-99AA0D578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Topic: Should the attendance requirement be 75% for B. Tech. students?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3D0C2B-FD86-EB6B-0D93-F2B269477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Debate Flow:</a:t>
            </a:r>
          </a:p>
          <a:p>
            <a:pPr marL="0" indent="0">
              <a:buNone/>
            </a:pPr>
            <a:r>
              <a:rPr lang="en-US" dirty="0"/>
              <a:t>3. Closing statements:  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- Teams </a:t>
            </a:r>
            <a:r>
              <a:rPr lang="en-US" dirty="0" err="1"/>
              <a:t>summarise</a:t>
            </a:r>
            <a:r>
              <a:rPr lang="en-US" dirty="0"/>
              <a:t> their positions.</a:t>
            </a:r>
          </a:p>
        </p:txBody>
      </p:sp>
    </p:spTree>
    <p:extLst>
      <p:ext uri="{BB962C8B-B14F-4D97-AF65-F5344CB8AC3E}">
        <p14:creationId xmlns:p14="http://schemas.microsoft.com/office/powerpoint/2010/main" xmlns="" val="32530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211431-E7F8-48A4-AA88-3CE4B6864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Mock Session: Debate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11FF03-FE17-4D9A-9AEF-E4D725A5D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Select a topic  of your choice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09948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4C2033-1777-DE2B-D234-AC4652EB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5C7955-476D-2AC1-08F8-C4AFCAC5A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Enhance Knowledge before Debating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DD0A36-4820-3DD1-2851-20098331C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Roboto"/>
              </a:rPr>
              <a:t>A well-educated mind vs a well-formed mind: Dr. Shashi Tharoor at </a:t>
            </a:r>
            <a:r>
              <a:rPr lang="en-US" dirty="0" err="1">
                <a:latin typeface="Roboto"/>
              </a:rPr>
              <a:t>TEDxGateway</a:t>
            </a:r>
            <a:r>
              <a:rPr lang="en-US" dirty="0">
                <a:latin typeface="Roboto"/>
              </a:rPr>
              <a:t> 2013</a:t>
            </a:r>
          </a:p>
          <a:p>
            <a:r>
              <a:rPr lang="en-IN" dirty="0">
                <a:hlinkClick r:id="rId2"/>
              </a:rPr>
              <a:t>https://youtu.be/kcW4ABcY3zI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5746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A80DBB-CF3A-41FF-9A2D-9AA02BE67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Watch and learn Participation Techniques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34B114-84EC-4B8C-A7DA-7B0F6A567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effectLst/>
                <a:latin typeface="Roboto"/>
              </a:rPr>
              <a:t>The big debate: Education in India vs education in abroad</a:t>
            </a:r>
          </a:p>
          <a:p>
            <a:r>
              <a:rPr lang="en-IN" dirty="0">
                <a:hlinkClick r:id="rId2"/>
              </a:rPr>
              <a:t>https://youtu.be/4-mvb-8FHPo</a:t>
            </a:r>
            <a:endParaRPr lang="en-IN" dirty="0"/>
          </a:p>
          <a:p>
            <a:endParaRPr lang="en-IN" dirty="0"/>
          </a:p>
          <a:p>
            <a:r>
              <a:rPr lang="en-US" b="0" i="0" dirty="0">
                <a:effectLst/>
                <a:latin typeface="Roboto"/>
              </a:rPr>
              <a:t>Can online learning replace traditional universities?</a:t>
            </a:r>
          </a:p>
          <a:p>
            <a:r>
              <a:rPr lang="en-IN" dirty="0">
                <a:hlinkClick r:id="rId3"/>
              </a:rPr>
              <a:t>https://youtu.be/rKY00EsewiU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b="0" i="0" dirty="0">
                <a:effectLst/>
                <a:latin typeface="Roboto"/>
              </a:rPr>
              <a:t>Debate </a:t>
            </a:r>
            <a:r>
              <a:rPr lang="en-US" b="0" i="0" dirty="0">
                <a:effectLst/>
                <a:latin typeface="Roboto"/>
                <a:hlinkClick r:id="rId4"/>
              </a:rPr>
              <a:t>#SpeakFY</a:t>
            </a:r>
            <a:r>
              <a:rPr lang="en-US" b="0" i="0" dirty="0">
                <a:effectLst/>
                <a:latin typeface="Roboto"/>
              </a:rPr>
              <a:t>:"Should animal testing be banned?" 2 of 4</a:t>
            </a:r>
          </a:p>
          <a:p>
            <a:r>
              <a:rPr lang="en-IN" dirty="0"/>
              <a:t>https://youtu.be/LvQgK88N9h8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99245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7491</TotalTime>
  <Words>1003</Words>
  <Application>Microsoft Office PowerPoint</Application>
  <PresentationFormat>Custom</PresentationFormat>
  <Paragraphs>162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Paralinguistic Features</vt:lpstr>
      <vt:lpstr>Paralinguistic/ Human voice Features</vt:lpstr>
      <vt:lpstr>Quality </vt:lpstr>
      <vt:lpstr>Volume</vt:lpstr>
      <vt:lpstr>Pace/ Rate</vt:lpstr>
      <vt:lpstr>Pitch</vt:lpstr>
      <vt:lpstr>Articulation</vt:lpstr>
      <vt:lpstr>Pronunciation</vt:lpstr>
      <vt:lpstr>Slide 9</vt:lpstr>
      <vt:lpstr>Why to pronounce correctly?</vt:lpstr>
      <vt:lpstr>Voice Modulation</vt:lpstr>
      <vt:lpstr>Pauses</vt:lpstr>
      <vt:lpstr>Intonation</vt:lpstr>
      <vt:lpstr>Patterns of Intonation</vt:lpstr>
      <vt:lpstr>Falling Tone</vt:lpstr>
      <vt:lpstr>Falling Tone</vt:lpstr>
      <vt:lpstr>Rising Tone</vt:lpstr>
      <vt:lpstr>Rising Tone</vt:lpstr>
      <vt:lpstr>Rising Tone</vt:lpstr>
      <vt:lpstr>Rising Tone</vt:lpstr>
      <vt:lpstr>Falling and Rising Tone</vt:lpstr>
      <vt:lpstr>Rising and Falling Tone</vt:lpstr>
      <vt:lpstr>Debate</vt:lpstr>
      <vt:lpstr>Example</vt:lpstr>
      <vt:lpstr>Example</vt:lpstr>
      <vt:lpstr>Topic: Should the attendance requirement be 75% for B. Tech. students?</vt:lpstr>
      <vt:lpstr>Topic: Should the attendance requirement be 75% for B. Tech. students?</vt:lpstr>
      <vt:lpstr>Topic: Should the attendance requirement be 75% for B. Tech. students?</vt:lpstr>
      <vt:lpstr>Mock Session: Debate</vt:lpstr>
      <vt:lpstr>Enhance Knowledge before Debating</vt:lpstr>
      <vt:lpstr>Watch and learn Participation Techniques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akshat agarwal</dc:creator>
  <cp:lastModifiedBy>Saksham Nigam</cp:lastModifiedBy>
  <cp:revision>27</cp:revision>
  <dcterms:created xsi:type="dcterms:W3CDTF">2020-09-06T12:55:37Z</dcterms:created>
  <dcterms:modified xsi:type="dcterms:W3CDTF">2025-09-24T14:51:27Z</dcterms:modified>
</cp:coreProperties>
</file>