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7" r:id="rId5"/>
    <p:sldId id="260" r:id="rId6"/>
    <p:sldId id="259" r:id="rId7"/>
    <p:sldId id="287" r:id="rId8"/>
    <p:sldId id="263" r:id="rId9"/>
    <p:sldId id="264" r:id="rId10"/>
    <p:sldId id="265" r:id="rId11"/>
    <p:sldId id="288" r:id="rId12"/>
    <p:sldId id="266" r:id="rId13"/>
    <p:sldId id="267" r:id="rId14"/>
    <p:sldId id="268" r:id="rId15"/>
    <p:sldId id="269" r:id="rId16"/>
    <p:sldId id="276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80" r:id="rId25"/>
    <p:sldId id="279" r:id="rId26"/>
    <p:sldId id="278" r:id="rId27"/>
    <p:sldId id="283" r:id="rId28"/>
    <p:sldId id="284" r:id="rId29"/>
    <p:sldId id="286" r:id="rId30"/>
    <p:sldId id="289" r:id="rId31"/>
    <p:sldId id="290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19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0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EC976C7-C3D6-4355-8FCC-320155CB7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0999883-E32E-44B3-87B2-07213E0CF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A702EAF-E267-433E-A08D-AB091F572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0E1262-719F-4D93-9714-7C4FF00C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2EB16A-096B-46DC-B7EC-5891AB1B1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2068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0220F0-5936-4B2A-B943-974B7D7D2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48FAA6-D319-4308-93B7-1F4E49713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798ABBF-9D0D-4CBE-A6B4-70E98AB8B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0FD0833-74E2-4BA9-8822-7C3964658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AD8B72-7F32-4BAB-8892-85920851F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83859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16386B-9B38-44CB-811A-8B8C50A8D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8F0B055-B435-40C4-A1C7-56C430367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4D0CE9-7865-4C18-B588-8362C5C1C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DB2D09-8CA3-4C3A-9793-7E0F894B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E841C-72EE-4F13-AEA7-4CA9CF95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08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509D1D-2F86-4CAC-B18A-2BF44E04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9D02B6-32A3-426C-92C0-19D1E0D9DE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7B6AEF7-4116-46F1-92F5-38C89022A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6D74BA8-D933-42DB-8EEF-E4022A596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1918C92-D97D-4484-9B42-72770351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99AD2E8-0B3C-4199-9F42-E5D43DF6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4270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A3ACD0-2FD7-4BC6-B92E-F91F85A4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3FA527-48D5-4C90-8FDA-2BF799C42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DD04E2-9CAD-4F77-B766-8487A3944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B0C0E8F-FBFC-47F2-BDD8-EE9ABFCA8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5AE0B3D-89F7-4600-A0F3-885F4EDE5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85E258B-21D5-40A5-8827-72158005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7F557C8-B700-49CB-9F76-71CE113A5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3E6303-1D53-45AE-98CE-9B81BABB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214239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F1B9F2-7F5F-4926-8D0A-01FFACBFE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05B34373-B285-49CD-A55F-CD896BED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A5DEE7E-2E8B-4453-84B9-71C026DC7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A94E1F5-D6A3-4323-8555-9E11C3F36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302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C3B2BF2-60A5-4722-8276-3E9C78589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08D8169-5612-4FAF-A76F-6062D0B5A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3AF841E-BDBD-4686-8B65-75B718DB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2634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158585-9A40-45AF-B5CF-992D1976F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438B3E-4E01-4255-9B9F-A6EC89947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3273417-8AA5-4630-B94E-9A65DA88D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768D2B8-7E21-4872-A398-363134D7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4DC19AA-0DEF-4601-ADAB-2C0B33B6C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38CAE2-A09B-4C96-9CC9-F25674CB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6007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397ED4-4A2A-4567-9C1A-512B9AF9F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4CF566E-5716-4E50-8466-6E9EADE7E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AD0A0CC-C37B-4446-9E2E-235FF4B56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81CDDB3-0E2C-4DC4-B45C-310788568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1494451-4CC3-49E2-8983-8196D4FD2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B20CA93-7133-4A2B-B505-3DD93617D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1422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AA8C24-5727-4CAA-B1CF-ACEA15F3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1A3263F-7F1D-4FE0-9851-3270D76F5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CB34999-98BD-4BD1-A39E-BC8E6CBF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B02B469-7718-416F-82EC-6EB04C7B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EF83DF-60B4-4CC7-A775-D68A4E7F9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6266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6640992-D622-428E-B84A-38E3DBAAF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3F0FCB1-5C8C-44AA-A63A-30DFE9555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A464FD7-9A0C-4228-9D0F-A86B1627D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818848-7561-488E-864D-72F996A9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B4CB7AB-2C72-42DF-A782-5883B2E3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122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44EE5BB-D647-4E37-9253-6E3894CE9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8FB3F44-C766-4BCC-B4EC-4DEF80029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7D83DB-CCB5-4A4A-9F57-C0F1187CB6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99556-9139-4EC0-A787-14DFA83E6131}" type="datetimeFigureOut">
              <a:rPr lang="en-IN" smtClean="0"/>
              <a:pPr/>
              <a:t>24-09-2025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23A84E-F055-45C3-8FDE-F1D8036EB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72414D-E600-4F4B-9596-311530472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54624-9EF1-4D03-92D3-A9F4355C35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60318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6378D2-AE73-4203-89A1-6C2C7DE3A0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Phonetics of English: An Introduction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0B41090-1162-44EF-9704-5A1376511C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Understanding the Sounds of English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92409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5256A7-28FA-4EC8-9809-36699CD26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Pronounce these 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B5DC79-5C7A-43CC-91E7-0ABDF7BE1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00"/>
                </a:highlight>
              </a:rPr>
              <a:t>C</a:t>
            </a:r>
            <a:r>
              <a:rPr lang="en-US" dirty="0"/>
              <a:t>at 				</a:t>
            </a:r>
            <a:r>
              <a:rPr lang="en-US" dirty="0">
                <a:highlight>
                  <a:srgbClr val="00FF00"/>
                </a:highlight>
              </a:rPr>
              <a:t>K</a:t>
            </a:r>
            <a:r>
              <a:rPr lang="en-US" dirty="0"/>
              <a:t>een					O</a:t>
            </a:r>
            <a:r>
              <a:rPr lang="en-US" dirty="0">
                <a:highlight>
                  <a:srgbClr val="00FF00"/>
                </a:highlight>
              </a:rPr>
              <a:t>cc</a:t>
            </a:r>
            <a:r>
              <a:rPr lang="en-US" dirty="0"/>
              <a:t>asion	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highlight>
                  <a:srgbClr val="00FF00"/>
                </a:highlight>
              </a:rPr>
              <a:t>Ch</a:t>
            </a:r>
            <a:r>
              <a:rPr lang="en-US" dirty="0"/>
              <a:t>emistry			</a:t>
            </a:r>
            <a:r>
              <a:rPr lang="en-US" dirty="0">
                <a:highlight>
                  <a:srgbClr val="00FF00"/>
                </a:highlight>
              </a:rPr>
              <a:t>Ch</a:t>
            </a:r>
            <a:r>
              <a:rPr lang="en-US" dirty="0"/>
              <a:t>emist 				</a:t>
            </a:r>
            <a:r>
              <a:rPr lang="en-US" dirty="0">
                <a:highlight>
                  <a:srgbClr val="00FF00"/>
                </a:highlight>
              </a:rPr>
              <a:t>Ch</a:t>
            </a:r>
            <a:r>
              <a:rPr lang="en-US" dirty="0"/>
              <a:t>aracter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highlight>
                  <a:srgbClr val="00FF00"/>
                </a:highlight>
              </a:rPr>
              <a:t>Ch</a:t>
            </a:r>
            <a:r>
              <a:rPr lang="en-US" dirty="0"/>
              <a:t>est			</a:t>
            </a:r>
            <a:r>
              <a:rPr lang="en-US" dirty="0">
                <a:highlight>
                  <a:srgbClr val="00FF00"/>
                </a:highlight>
              </a:rPr>
              <a:t>Ch</a:t>
            </a:r>
            <a:r>
              <a:rPr lang="en-US" dirty="0"/>
              <a:t>eese 		    </a:t>
            </a:r>
            <a:r>
              <a:rPr lang="en-IN" dirty="0"/>
              <a:t>Enou</a:t>
            </a:r>
            <a:r>
              <a:rPr lang="en-IN" dirty="0">
                <a:highlight>
                  <a:srgbClr val="00FF00"/>
                </a:highlight>
              </a:rPr>
              <a:t>gh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Rou</a:t>
            </a:r>
            <a:r>
              <a:rPr lang="en-IN" dirty="0">
                <a:highlight>
                  <a:srgbClr val="00FF00"/>
                </a:highlight>
              </a:rPr>
              <a:t>gh</a:t>
            </a:r>
            <a:r>
              <a:rPr lang="en-IN" dirty="0"/>
              <a:t>										</a:t>
            </a:r>
            <a:r>
              <a:rPr lang="en-IN" dirty="0">
                <a:highlight>
                  <a:srgbClr val="00FF00"/>
                </a:highlight>
              </a:rPr>
              <a:t>C</a:t>
            </a:r>
            <a:r>
              <a:rPr lang="en-IN" dirty="0"/>
              <a:t>ity</a:t>
            </a:r>
          </a:p>
          <a:p>
            <a:pPr marL="0" indent="0">
              <a:buNone/>
            </a:pPr>
            <a:r>
              <a:rPr lang="en-IN" dirty="0">
                <a:highlight>
                  <a:srgbClr val="00FF00"/>
                </a:highlight>
              </a:rPr>
              <a:t>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Ma</a:t>
            </a:r>
            <a:r>
              <a:rPr lang="en-IN" dirty="0">
                <a:highlight>
                  <a:srgbClr val="00FF00"/>
                </a:highlight>
              </a:rPr>
              <a:t>ch</a:t>
            </a:r>
            <a:r>
              <a:rPr lang="en-IN" dirty="0"/>
              <a:t>ine						Atta</a:t>
            </a:r>
            <a:r>
              <a:rPr lang="en-IN" dirty="0">
                <a:highlight>
                  <a:srgbClr val="00FF00"/>
                </a:highlight>
              </a:rPr>
              <a:t>ch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4177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E00AC8-190F-4CEE-9F21-993136BF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Pronounce these words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AE2B1FF-4F4E-462A-836C-7BA14978A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dirty="0"/>
              <a:t>Silent Sounds</a:t>
            </a:r>
          </a:p>
          <a:p>
            <a:pPr marL="0" indent="0">
              <a:buNone/>
            </a:pPr>
            <a:r>
              <a:rPr lang="en-IN" dirty="0"/>
              <a:t>Mine					Listen				Psychology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				Hour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00995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26512F8-8692-4A57-B422-BF8CF529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Phonetics?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006992-FE40-4F93-A351-6DFC1CA33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522"/>
            <a:ext cx="10515600" cy="4351338"/>
          </a:xfrm>
        </p:spPr>
        <p:txBody>
          <a:bodyPr/>
          <a:lstStyle/>
          <a:p>
            <a:r>
              <a:rPr lang="en-US" dirty="0"/>
              <a:t>Phonetics is the branch of linguistics that deals with the sounds of speech and their production, combination, description, and representation by symbols.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55013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49BF06-6BC6-40FA-9601-CC27B7004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is Standard English Pronunciation?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F9B152-DE0D-4D1B-BF0D-1BE03476D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Standard English pronunciation refers to the widely accepted way of pronouncing words in English, often considered the norm for formal communication, education, and media.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There are two main standards: </a:t>
            </a:r>
          </a:p>
          <a:p>
            <a:pPr marL="514350" indent="-514350">
              <a:buAutoNum type="arabicPeriod"/>
            </a:pPr>
            <a:r>
              <a:rPr lang="en-US" dirty="0"/>
              <a:t>Received Pronunciation (RP): Also known as the “Queen's English,” RP is the standard pronunciation of England, often used by the BBC and in formal situations.</a:t>
            </a:r>
          </a:p>
          <a:p>
            <a:pPr marL="514350" indent="-514350">
              <a:buAutoNum type="arabicPeriod"/>
            </a:pPr>
            <a:r>
              <a:rPr lang="en-US" dirty="0"/>
              <a:t> General American: This is the standard pronunciation used in the United States, often considered neutral and widely understood.</a:t>
            </a:r>
          </a:p>
          <a:p>
            <a:pPr marL="0" indent="0">
              <a:buNone/>
            </a:pPr>
            <a:r>
              <a:rPr lang="en-US" dirty="0"/>
              <a:t>Standard English pronunciation typically involves: </a:t>
            </a:r>
          </a:p>
          <a:p>
            <a:pPr marL="0" indent="0">
              <a:buNone/>
            </a:pPr>
            <a:r>
              <a:rPr lang="en-US" dirty="0"/>
              <a:t>	-Clear articulation of vowels and consonants</a:t>
            </a:r>
          </a:p>
          <a:p>
            <a:pPr marL="0" indent="0">
              <a:buNone/>
            </a:pPr>
            <a:r>
              <a:rPr lang="en-US" dirty="0"/>
              <a:t>	- Correct stress patterns and intonation</a:t>
            </a:r>
          </a:p>
          <a:p>
            <a:pPr marL="0" indent="0">
              <a:buNone/>
            </a:pPr>
            <a:r>
              <a:rPr lang="en-US" dirty="0"/>
              <a:t>	- Neutral accent, avoiding regional or cultural biases</a:t>
            </a:r>
          </a:p>
          <a:p>
            <a:pPr marL="0" indent="0">
              <a:buNone/>
            </a:pPr>
            <a:r>
              <a:rPr lang="en-US" dirty="0"/>
              <a:t>Standard symbols are called- </a:t>
            </a:r>
            <a:r>
              <a:rPr lang="en-US" i="1" dirty="0"/>
              <a:t>International Phonetic Alphabet </a:t>
            </a:r>
            <a:r>
              <a:rPr lang="en-US" dirty="0"/>
              <a:t>( IPA for short)</a:t>
            </a:r>
          </a:p>
          <a:p>
            <a:pPr marL="0" indent="0">
              <a:buNone/>
            </a:pPr>
            <a:r>
              <a:rPr lang="en-US" dirty="0"/>
              <a:t>To depict the correct pronunciation in dictionaries, the use of a standard symbol for standard sound, i.e. </a:t>
            </a:r>
            <a:r>
              <a:rPr lang="en-US" i="1" dirty="0"/>
              <a:t>transcription,</a:t>
            </a:r>
            <a:r>
              <a:rPr lang="en-US" dirty="0"/>
              <a:t> is given.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2103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74301-4505-4403-A3CF-176ED7F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should you know about the sounds of English?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5D7A112-FBDF-4289-991A-EB20F698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improve your pronunciation</a:t>
            </a:r>
          </a:p>
          <a:p>
            <a:r>
              <a:rPr lang="en-US" dirty="0"/>
              <a:t>To make your communication effective and impressive</a:t>
            </a:r>
          </a:p>
          <a:p>
            <a:r>
              <a:rPr lang="en-US" dirty="0"/>
              <a:t>To build your soulful image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74568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55B71D-E1CF-8995-7C80-1AA26B6CD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Human Vocal Tract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C2C0E65-7032-0F20-682E-0AA1AAB8E2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57222" y="1825625"/>
            <a:ext cx="6222568" cy="4351338"/>
          </a:xfrm>
        </p:spPr>
      </p:pic>
    </p:spTree>
    <p:extLst>
      <p:ext uri="{BB962C8B-B14F-4D97-AF65-F5344CB8AC3E}">
        <p14:creationId xmlns:p14="http://schemas.microsoft.com/office/powerpoint/2010/main" xmlns="" val="285919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A9FFFA-77CA-46DC-923B-79FF0039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Classification of 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02492C-D6E4-4A8A-9B7A-2D2D853D0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Oral and nasal: Sounds produced with the help of human speech organs by forcing the air stream out of the lungs either through the mouth or the nose.</a:t>
            </a:r>
          </a:p>
          <a:p>
            <a:r>
              <a:rPr lang="en-IN" dirty="0"/>
              <a:t>Oral sounds: Air is released through the mouth</a:t>
            </a:r>
          </a:p>
          <a:p>
            <a:r>
              <a:rPr lang="en-IN" dirty="0"/>
              <a:t>Nasal sounds: Air is released either fully or partially through the nose</a:t>
            </a:r>
          </a:p>
          <a:p>
            <a:r>
              <a:rPr lang="en-IN" dirty="0"/>
              <a:t>Voiced:  Sounds produced by vibration of vocal cords.</a:t>
            </a:r>
          </a:p>
          <a:p>
            <a:r>
              <a:rPr lang="en-IN" dirty="0"/>
              <a:t>For example vowels, diphthongs (combination of two vowel sounds or two vowel letters), and consonants such as /b/, /d/, and /m/.</a:t>
            </a:r>
          </a:p>
          <a:p>
            <a:r>
              <a:rPr lang="en-IN" dirty="0"/>
              <a:t>Unvoiced sounds: Vocal cords do not vibrate and air passes through the wide-open glottis.</a:t>
            </a:r>
          </a:p>
        </p:txBody>
      </p:sp>
    </p:spTree>
    <p:extLst>
      <p:ext uri="{BB962C8B-B14F-4D97-AF65-F5344CB8AC3E}">
        <p14:creationId xmlns:p14="http://schemas.microsoft.com/office/powerpoint/2010/main" xmlns="" val="1668462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D113ED8-BC38-4A09-9B32-9A6F56A8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Classification of 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FBF861-43A4-4A03-B3E4-5D094D260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Vowels: All vowels are oral and voiced. (a, e, i, o, u)</a:t>
            </a:r>
          </a:p>
          <a:p>
            <a:r>
              <a:rPr lang="en-IN" dirty="0"/>
              <a:t>Consonants: Only three are nasal ( /m/, /n/, and /</a:t>
            </a:r>
            <a:r>
              <a:rPr lang="en-IN" sz="3200" dirty="0"/>
              <a:t>ᵑ</a:t>
            </a:r>
            <a:r>
              <a:rPr lang="en-IN" dirty="0"/>
              <a:t>/ ( as in sing), several oral consonants are unvoiced)</a:t>
            </a:r>
          </a:p>
          <a:p>
            <a:r>
              <a:rPr lang="en-IN" dirty="0"/>
              <a:t>Consonants are distinguished from vowels by their manner of production.</a:t>
            </a:r>
          </a:p>
        </p:txBody>
      </p:sp>
    </p:spTree>
    <p:extLst>
      <p:ext uri="{BB962C8B-B14F-4D97-AF65-F5344CB8AC3E}">
        <p14:creationId xmlns:p14="http://schemas.microsoft.com/office/powerpoint/2010/main" xmlns="" val="281179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D16028-2FB7-4BFA-BC4D-FD347806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Vowels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FB31A3-4C06-440C-BE1D-588394EDA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Twenty vowel sounds in English.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These twenty vowel sounds are further classified as pure vowel sounds (12) and diphthongs (8).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Pure Vowel sound: Its quality does not change during production.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54077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09284B-043B-B0AE-BAAF-3AF67B0C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Vowel Chart: </a:t>
            </a:r>
            <a:r>
              <a:rPr lang="en-US" dirty="0"/>
              <a:t>Tongue Position and Lip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B0B933D-F3E4-F7F6-376E-9C8BDD83D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921000" y="1969294"/>
            <a:ext cx="6350000" cy="4064000"/>
          </a:xfrm>
        </p:spPr>
      </p:pic>
    </p:spTree>
    <p:extLst>
      <p:ext uri="{BB962C8B-B14F-4D97-AF65-F5344CB8AC3E}">
        <p14:creationId xmlns:p14="http://schemas.microsoft.com/office/powerpoint/2010/main" xmlns="" val="297192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847624-0FC5-4E54-BD71-BC2099F59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Vowels in English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EC21940E-278C-4678-AA66-C396DF5537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618227297"/>
              </p:ext>
            </p:extLst>
          </p:nvPr>
        </p:nvGraphicFramePr>
        <p:xfrm>
          <a:off x="3444950" y="1825625"/>
          <a:ext cx="7240772" cy="4648475"/>
        </p:xfrm>
        <a:graphic>
          <a:graphicData uri="http://schemas.openxmlformats.org/drawingml/2006/table">
            <a:tbl>
              <a:tblPr/>
              <a:tblGrid>
                <a:gridCol w="2379165">
                  <a:extLst>
                    <a:ext uri="{9D8B030D-6E8A-4147-A177-3AD203B41FA5}">
                      <a16:colId xmlns:a16="http://schemas.microsoft.com/office/drawing/2014/main" xmlns="" val="695945701"/>
                    </a:ext>
                  </a:extLst>
                </a:gridCol>
                <a:gridCol w="4861607">
                  <a:extLst>
                    <a:ext uri="{9D8B030D-6E8A-4147-A177-3AD203B41FA5}">
                      <a16:colId xmlns:a16="http://schemas.microsoft.com/office/drawing/2014/main" xmlns="" val="2623351396"/>
                    </a:ext>
                  </a:extLst>
                </a:gridCol>
              </a:tblGrid>
              <a:tr h="162663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>
                          <a:effectLst/>
                        </a:rPr>
                        <a:t>Vowel Sound</a:t>
                      </a: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00D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D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dirty="0">
                          <a:effectLst/>
                        </a:rPr>
                        <a:t>Example Words</a:t>
                      </a: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F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9616097"/>
                  </a:ext>
                </a:extLst>
              </a:tr>
              <a:tr h="1463947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dirty="0">
                          <a:effectLst/>
                        </a:rPr>
                        <a:t>/i:/ </a:t>
                      </a:r>
                      <a:r>
                        <a:rPr lang="hi-IN" sz="2000" dirty="0"/>
                        <a:t>ई</a:t>
                      </a:r>
                      <a:endParaRPr lang="en-IN" sz="2000" dirty="0">
                        <a:effectLst/>
                      </a:endParaRP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B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dirty="0">
                          <a:effectLst/>
                        </a:rPr>
                        <a:t>Me, these, need, be, keep, deep, sheep, Jeep, beep, eat, feel, see, meet, deal, read, beat, peak, seek, heap, leap, feet, seat, heel, keen, seen, teen, leave</a:t>
                      </a: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8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E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38139302"/>
                  </a:ext>
                </a:extLst>
              </a:tr>
              <a:tr h="1307716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dirty="0">
                          <a:effectLst/>
                        </a:rPr>
                        <a:t>/ɪ/ </a:t>
                      </a:r>
                      <a:r>
                        <a:rPr lang="en-IN" sz="2000" dirty="0"/>
                        <a:t>| </a:t>
                      </a:r>
                      <a:r>
                        <a:rPr lang="hi-IN" sz="2000" dirty="0"/>
                        <a:t>इ</a:t>
                      </a:r>
                      <a:endParaRPr lang="en-IN" sz="2000" dirty="0">
                        <a:effectLst/>
                      </a:endParaRP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3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With, this, if, think, link, wink, rink, sink, big, six, live, since, miss, wrist, lift, pit, sit, pick, bill, fill, till, him, pin, tin, win, bid, did</a:t>
                      </a: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4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E7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1380048"/>
                  </a:ext>
                </a:extLst>
              </a:tr>
              <a:tr h="1151484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dirty="0">
                          <a:effectLst/>
                        </a:rPr>
                        <a:t>/ʊ/ </a:t>
                      </a:r>
                      <a:r>
                        <a:rPr lang="hi-IN" sz="2000" dirty="0"/>
                        <a:t>उ</a:t>
                      </a:r>
                      <a:endParaRPr lang="en-IN" sz="2000" dirty="0">
                        <a:effectLst/>
                      </a:endParaRP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70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F3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E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>
                          <a:effectLst/>
                        </a:rPr>
                        <a:t>Put, Would, Look, Woman, Hook, Nook, Food, Fool, Cool, Hue, Ooze, Moose, Boot, Cook, Rook, Took, Good</a:t>
                      </a: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90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68249393"/>
                  </a:ext>
                </a:extLst>
              </a:tr>
              <a:tr h="214095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dirty="0">
                          <a:effectLst/>
                        </a:rPr>
                        <a:t>/u:/ </a:t>
                      </a:r>
                      <a:r>
                        <a:rPr lang="hi-IN" sz="2000" dirty="0"/>
                        <a:t>ऊ</a:t>
                      </a:r>
                      <a:endParaRPr lang="en-IN" sz="2000" dirty="0">
                        <a:effectLst/>
                      </a:endParaRP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C0E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E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EB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000" dirty="0">
                          <a:effectLst/>
                        </a:rPr>
                        <a:t>To, You, New, Who</a:t>
                      </a:r>
                    </a:p>
                  </a:txBody>
                  <a:tcPr marL="28932" marR="28932" marT="28932" marB="28932" anchor="ctr">
                    <a:lnL w="12700" cap="flat" cmpd="sng" algn="ctr">
                      <a:solidFill>
                        <a:srgbClr val="80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E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01778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14746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804471-328F-42F6-8869-30273E711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Vowels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289296-35B7-4BBA-B0CE-B9C4882F7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/e/ </a:t>
            </a:r>
            <a:r>
              <a:rPr lang="hi-IN" dirty="0"/>
              <a:t>ए </a:t>
            </a:r>
            <a:r>
              <a:rPr lang="en-IN" dirty="0"/>
              <a:t>	Get, When, Well, Very, Bed, Said, Leg, Hell, Hem, Ben, Pen, Den, Ten, Men, Bend, Lend, Send, Bet, Met, Pet, Set, Mess, Wreck, Peck, Letter, Better</a:t>
            </a:r>
          </a:p>
          <a:p>
            <a:r>
              <a:rPr lang="en-IN" dirty="0"/>
              <a:t>/ə/	The, About, Could, Us</a:t>
            </a:r>
          </a:p>
          <a:p>
            <a:r>
              <a:rPr lang="en-IN" dirty="0"/>
              <a:t>/ɜ:/	Her, Work, Learn, Word, Burn, Turn, Firm, Bird, Curd, Curse, Curt, Shirt, Turk, Curl, Hurl, Earl, Pearl, Sir, Worm, worth, Fir, Stir, Sir, Occur, Purr</a:t>
            </a:r>
          </a:p>
          <a:p>
            <a:r>
              <a:rPr lang="en-IN" dirty="0"/>
              <a:t>/ɔ:/ </a:t>
            </a:r>
            <a:r>
              <a:rPr lang="hi-IN" dirty="0"/>
              <a:t>ओो </a:t>
            </a:r>
            <a:r>
              <a:rPr lang="en-IN" dirty="0"/>
              <a:t>	Or, Also, More, Call, All, Mall, Hall, Fall, Tall, Wall, Paul, War, Ward, Warm, Reward, Walk, Wart</a:t>
            </a:r>
          </a:p>
        </p:txBody>
      </p:sp>
    </p:spTree>
    <p:extLst>
      <p:ext uri="{BB962C8B-B14F-4D97-AF65-F5344CB8AC3E}">
        <p14:creationId xmlns:p14="http://schemas.microsoft.com/office/powerpoint/2010/main" xmlns="" val="4123444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7E1AAF-8290-4051-B460-40D6F2A1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Vowels in English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D5DDB629-5A04-49C8-B1C9-9CE28CD690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33396949"/>
              </p:ext>
            </p:extLst>
          </p:nvPr>
        </p:nvGraphicFramePr>
        <p:xfrm>
          <a:off x="3967767" y="1888487"/>
          <a:ext cx="3831164" cy="4246880"/>
        </p:xfrm>
        <a:graphic>
          <a:graphicData uri="http://schemas.openxmlformats.org/drawingml/2006/table">
            <a:tbl>
              <a:tblPr/>
              <a:tblGrid>
                <a:gridCol w="1915582">
                  <a:extLst>
                    <a:ext uri="{9D8B030D-6E8A-4147-A177-3AD203B41FA5}">
                      <a16:colId xmlns:a16="http://schemas.microsoft.com/office/drawing/2014/main" xmlns="" val="1412720556"/>
                    </a:ext>
                  </a:extLst>
                </a:gridCol>
                <a:gridCol w="1915582">
                  <a:extLst>
                    <a:ext uri="{9D8B030D-6E8A-4147-A177-3AD203B41FA5}">
                      <a16:colId xmlns:a16="http://schemas.microsoft.com/office/drawing/2014/main" xmlns="" val="804664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/æ/ </a:t>
                      </a:r>
                      <a:r>
                        <a:rPr lang="hi-IN" sz="1800" dirty="0">
                          <a:effectLst/>
                        </a:rPr>
                        <a:t>ऐ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0E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6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Have, That, As, Can, Sad, bad, Bag, Lag, Hal, Ham, Ban, Pan, Dan, Tan, Man, Band, Land, Sand, Bat, Mat, Pat, Sat, Mass, Rack, Pack, Latter, Batter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6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F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6144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/ʌ/ </a:t>
                      </a:r>
                      <a:r>
                        <a:rPr lang="hi-IN" sz="1800" dirty="0">
                          <a:effectLst/>
                        </a:rPr>
                        <a:t>अ 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F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0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5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But, Up, One, Much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F0F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F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F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90782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/ɑ:/ </a:t>
                      </a:r>
                      <a:r>
                        <a:rPr lang="hi-IN" sz="1800" dirty="0">
                          <a:effectLst/>
                        </a:rPr>
                        <a:t>आ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05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5D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Start, Ask, Large, After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0D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3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08265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/ɒ/ </a:t>
                      </a:r>
                      <a:r>
                        <a:rPr lang="hi-IN" sz="1800" dirty="0">
                          <a:effectLst/>
                        </a:rPr>
                        <a:t>ओ</a:t>
                      </a:r>
                      <a:endParaRPr lang="en-IN" sz="1800" dirty="0">
                        <a:effectLst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00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3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800" dirty="0">
                          <a:effectLst/>
                        </a:rPr>
                        <a:t>Of, On, From, Not</a:t>
                      </a: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903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3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3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34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4108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230810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D44C5D-63DB-42C4-ACFA-8CA6688A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DF6D56-7A72-409D-B761-EDE225917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 the production of a diphthong, one sound position glides to another.</a:t>
            </a:r>
          </a:p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Open Sans"/>
              </a:rPr>
              <a:t>aɪ</a:t>
            </a:r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Cry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		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Open Sans"/>
              </a:rPr>
              <a:t>r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aɪ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My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		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aɪ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	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Like		/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Open Sans"/>
              </a:rPr>
              <a:t>l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aɪk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Bright	/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Open Sans"/>
              </a:rPr>
              <a:t>br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aɪt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Lime	/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Open Sans"/>
              </a:rPr>
              <a:t>l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aɪm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31263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15DA3A-9297-4C9B-934C-BF0FDB8D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CF4DD0-E378-492C-8B77-569F046F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  <a:r>
              <a:rPr lang="en-US" b="1" dirty="0" err="1">
                <a:solidFill>
                  <a:srgbClr val="111111"/>
                </a:solidFill>
                <a:effectLst/>
              </a:rPr>
              <a:t>eɪ</a:t>
            </a:r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</a:p>
          <a:p>
            <a:r>
              <a:rPr lang="en-US" dirty="0">
                <a:solidFill>
                  <a:srgbClr val="333333"/>
                </a:solidFill>
                <a:effectLst/>
              </a:rPr>
              <a:t>Bake	/b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eɪk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Rain		/r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eɪn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Lay</a:t>
            </a:r>
            <a:r>
              <a:rPr lang="en-US" dirty="0">
                <a:solidFill>
                  <a:srgbClr val="333333"/>
                </a:solidFill>
              </a:rPr>
              <a:t>		/l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eɪ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Eight	/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eɪt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Break	/</a:t>
            </a:r>
            <a:r>
              <a:rPr lang="en-US" dirty="0" err="1">
                <a:solidFill>
                  <a:srgbClr val="333333"/>
                </a:solidFill>
                <a:effectLst/>
              </a:rPr>
              <a:t>br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eɪk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20751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00E9E-1804-4B86-AAE2-F189AE84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C184D8-865A-48C9-B382-2DDC44C0B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Open Sans"/>
              </a:rPr>
              <a:t>əʊ</a:t>
            </a:r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Go		/g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 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əʊ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Oh		/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 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əʊ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Slow	/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Open Sans"/>
              </a:rPr>
              <a:t>sl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 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əʊ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Open Sans"/>
              </a:rPr>
              <a:t>Loan	/l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 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əʊn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b="0" i="0" dirty="0">
              <a:solidFill>
                <a:srgbClr val="333333"/>
              </a:solidFill>
              <a:effectLst/>
              <a:latin typeface="Open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5403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0DFDED-55AB-4A98-8F2C-FDF53F2F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D6E707-F6C8-40C9-8920-C88B0C057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  <a:r>
              <a:rPr lang="en-US" b="1" dirty="0" err="1">
                <a:solidFill>
                  <a:srgbClr val="111111"/>
                </a:solidFill>
                <a:effectLst/>
              </a:rPr>
              <a:t>aʊ</a:t>
            </a:r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</a:p>
          <a:p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Bound		/b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aʊnd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House		/h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aʊs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Brown		/</a:t>
            </a:r>
            <a:r>
              <a:rPr lang="en-US" dirty="0" err="1">
                <a:solidFill>
                  <a:srgbClr val="333333"/>
                </a:solidFill>
                <a:effectLst/>
              </a:rPr>
              <a:t>br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aʊn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How			/h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aʊ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Now			/n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aʊ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33254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CFCF3A-8719-428B-8265-FAE4186C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D1D375-4C2C-4926-B6CB-018E3BE26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  <a:r>
              <a:rPr lang="en-US" b="1" dirty="0" err="1">
                <a:solidFill>
                  <a:srgbClr val="111111"/>
                </a:solidFill>
                <a:effectLst/>
              </a:rPr>
              <a:t>eə</a:t>
            </a:r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</a:p>
          <a:p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Pair		/p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eə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Lair		/l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eə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Stare	/</a:t>
            </a:r>
            <a:r>
              <a:rPr lang="en-US" dirty="0" err="1">
                <a:solidFill>
                  <a:srgbClr val="333333"/>
                </a:solidFill>
                <a:effectLst/>
              </a:rPr>
              <a:t>st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eər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Care		/k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eər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Bear		/b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eə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566802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5712F1-B265-4C0B-A9EB-077CDFD7E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F11F861-F2E6-4422-8CA0-65AF9ABAC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Open Sans"/>
              </a:rPr>
              <a:t>ɪə</a:t>
            </a:r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1. Career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kəˈrɪə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2. Here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hɪə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3. Near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nɪə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4. Year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jɪə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5. Pier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pɪə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80689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0447EF-583C-4A03-B631-8E1F973A8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D71A2C-7F5C-4C87-A378-7F3D9B99A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  <a:r>
              <a:rPr lang="en-US" b="1" dirty="0" err="1">
                <a:solidFill>
                  <a:srgbClr val="111111"/>
                </a:solidFill>
                <a:effectLst/>
              </a:rPr>
              <a:t>ɔɪ</a:t>
            </a:r>
            <a:r>
              <a:rPr lang="en-US" b="1" dirty="0">
                <a:solidFill>
                  <a:srgbClr val="111111"/>
                </a:solidFill>
                <a:effectLst/>
              </a:rPr>
              <a:t>/</a:t>
            </a:r>
          </a:p>
          <a:p>
            <a:r>
              <a:rPr lang="en-US" dirty="0">
                <a:solidFill>
                  <a:srgbClr val="333333"/>
                </a:solidFill>
                <a:effectLst/>
              </a:rPr>
              <a:t>Boy		/b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ɔɪ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Coy		/k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ɔɪ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Toy		/t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ɔɪ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Foil		/f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ɔɪl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r>
              <a:rPr lang="en-US" dirty="0">
                <a:solidFill>
                  <a:srgbClr val="333333"/>
                </a:solidFill>
                <a:effectLst/>
              </a:rPr>
              <a:t>Coin		/k</a:t>
            </a:r>
            <a:r>
              <a:rPr lang="en-US" b="1" dirty="0">
                <a:solidFill>
                  <a:srgbClr val="111111"/>
                </a:solidFill>
              </a:rPr>
              <a:t> </a:t>
            </a:r>
            <a:r>
              <a:rPr lang="en-US" b="1" dirty="0" err="1">
                <a:solidFill>
                  <a:srgbClr val="111111"/>
                </a:solidFill>
              </a:rPr>
              <a:t>ɔɪn</a:t>
            </a:r>
            <a:r>
              <a:rPr lang="en-US" b="1" dirty="0">
                <a:solidFill>
                  <a:srgbClr val="111111"/>
                </a:solidFill>
              </a:rPr>
              <a:t>/</a:t>
            </a:r>
            <a:endParaRPr lang="en-US" dirty="0">
              <a:solidFill>
                <a:srgbClr val="333333"/>
              </a:solidFill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/>
            </a:r>
            <a:br>
              <a:rPr lang="en-US" dirty="0">
                <a:effectLst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395026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441ACA-553A-4B00-9DC4-37A5C5A9C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Diphthongs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7A41B-D627-4D50-9FF2-0C588E273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Open Sans"/>
              </a:rPr>
              <a:t>ʊə</a:t>
            </a:r>
            <a:r>
              <a:rPr lang="en-US" b="1" i="0" dirty="0">
                <a:solidFill>
                  <a:srgbClr val="111111"/>
                </a:solidFill>
                <a:effectLst/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1. Sure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ʃʊə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2. Lure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lʊə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3. Pure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pjʊə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</a:p>
          <a:p>
            <a:pPr marL="0" indent="0">
              <a:buNone/>
            </a:pPr>
            <a:r>
              <a:rPr lang="en-US" dirty="0">
                <a:solidFill>
                  <a:srgbClr val="333333"/>
                </a:solidFill>
                <a:latin typeface="Open Sans"/>
              </a:rPr>
              <a:t>4. Manure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mənʊə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 or /</a:t>
            </a:r>
            <a:r>
              <a:rPr lang="en-US" dirty="0" err="1">
                <a:solidFill>
                  <a:srgbClr val="333333"/>
                </a:solidFill>
                <a:latin typeface="Open Sans"/>
              </a:rPr>
              <a:t>mænjʊə</a:t>
            </a:r>
            <a:r>
              <a:rPr lang="en-US" dirty="0">
                <a:solidFill>
                  <a:srgbClr val="333333"/>
                </a:solidFill>
                <a:latin typeface="Open Sans"/>
              </a:rPr>
              <a:t>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90347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BE6D8E5-5F91-4F0C-902D-3672201E1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Consonants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58478C-F363-44C4-B26A-0F99A490A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Consonants</a:t>
            </a:r>
          </a:p>
          <a:p>
            <a:pPr marL="0" indent="0">
              <a:buNone/>
            </a:pPr>
            <a:r>
              <a:rPr lang="en-US" dirty="0"/>
              <a:t>There are 24 consonant sounds in most English accents, conveyed by 21 letters of the regular English alphabet (sometimes in combination, e.g., </a:t>
            </a:r>
            <a:r>
              <a:rPr lang="en-US" dirty="0" err="1"/>
              <a:t>ch</a:t>
            </a:r>
            <a:r>
              <a:rPr lang="en-US" dirty="0"/>
              <a:t> and </a:t>
            </a:r>
            <a:r>
              <a:rPr lang="en-US" dirty="0" err="1"/>
              <a:t>th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THE CONSONANTS OF ENGLISH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26290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18285A-78F4-4F91-B140-1826118A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Consonants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107CAE-5BDF-4DCA-A346-A0C8C7F40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/s/</a:t>
            </a:r>
            <a:r>
              <a:rPr lang="hi-IN" dirty="0"/>
              <a:t> </a:t>
            </a:r>
            <a:r>
              <a:rPr lang="en-US" dirty="0"/>
              <a:t>(</a:t>
            </a:r>
            <a:r>
              <a:rPr lang="hi-IN" dirty="0"/>
              <a:t>स</a:t>
            </a:r>
            <a:r>
              <a:rPr lang="en-US" dirty="0"/>
              <a:t>) 	saw /s</a:t>
            </a:r>
            <a:r>
              <a:rPr lang="en-IN" dirty="0"/>
              <a:t> ɔ:/</a:t>
            </a:r>
            <a:r>
              <a:rPr lang="en-US" dirty="0"/>
              <a:t> 				house /</a:t>
            </a:r>
            <a:r>
              <a:rPr lang="en-US" dirty="0" err="1"/>
              <a:t>haʊs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/>
              <a:t>/z/		zap /z</a:t>
            </a:r>
            <a:r>
              <a:rPr lang="en-IN" dirty="0"/>
              <a:t> æ </a:t>
            </a:r>
            <a:r>
              <a:rPr lang="en-US" dirty="0"/>
              <a:t>p/ 				goes /g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 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əʊ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 </a:t>
            </a:r>
            <a:r>
              <a:rPr lang="en-US" dirty="0"/>
              <a:t>z/</a:t>
            </a:r>
          </a:p>
          <a:p>
            <a:pPr marL="0" indent="0">
              <a:buNone/>
            </a:pPr>
            <a:r>
              <a:rPr lang="en-US" dirty="0"/>
              <a:t>/ʃ/ (</a:t>
            </a:r>
            <a:r>
              <a:rPr lang="hi-IN" dirty="0"/>
              <a:t>श</a:t>
            </a:r>
            <a:r>
              <a:rPr lang="en-US" dirty="0"/>
              <a:t>) 	shape	/ ʃ </a:t>
            </a:r>
            <a:r>
              <a:rPr lang="en-US" b="1" dirty="0" err="1">
                <a:solidFill>
                  <a:srgbClr val="111111"/>
                </a:solidFill>
              </a:rPr>
              <a:t>eɪ</a:t>
            </a:r>
            <a:r>
              <a:rPr lang="en-US" b="1" dirty="0">
                <a:solidFill>
                  <a:srgbClr val="111111"/>
                </a:solidFill>
              </a:rPr>
              <a:t> /</a:t>
            </a:r>
            <a:r>
              <a:rPr lang="en-US" dirty="0"/>
              <a:t>			 push /p</a:t>
            </a:r>
            <a:r>
              <a:rPr lang="en-IN" dirty="0"/>
              <a:t> ʊ</a:t>
            </a:r>
            <a:r>
              <a:rPr lang="en-US" dirty="0"/>
              <a:t> ʃ/</a:t>
            </a:r>
          </a:p>
          <a:p>
            <a:pPr marL="0" indent="0">
              <a:buNone/>
            </a:pPr>
            <a:r>
              <a:rPr lang="en-US" dirty="0"/>
              <a:t>/ʒ/		 pleasure</a:t>
            </a:r>
            <a:r>
              <a:rPr lang="en-IN" dirty="0"/>
              <a:t>/ ˈ</a:t>
            </a:r>
            <a:r>
              <a:rPr lang="en-IN" dirty="0" err="1"/>
              <a:t>plɛʒə</a:t>
            </a:r>
            <a:r>
              <a:rPr lang="en-IN" dirty="0"/>
              <a:t>/			 beige /</a:t>
            </a:r>
            <a:r>
              <a:rPr lang="en-IN" dirty="0" err="1"/>
              <a:t>beɪʒ</a:t>
            </a:r>
            <a:r>
              <a:rPr lang="en-IN" dirty="0"/>
              <a:t>/</a:t>
            </a: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/h/ (</a:t>
            </a:r>
            <a:r>
              <a:rPr lang="hi-IN" dirty="0"/>
              <a:t>ह</a:t>
            </a:r>
            <a:r>
              <a:rPr lang="en-US" dirty="0"/>
              <a:t>) 	her /h	</a:t>
            </a:r>
            <a:r>
              <a:rPr lang="en-IN" dirty="0"/>
              <a:t> ɜ: /</a:t>
            </a:r>
            <a:r>
              <a:rPr lang="en-US" dirty="0"/>
              <a:t>				 ahead/</a:t>
            </a:r>
            <a:r>
              <a:rPr lang="en-US" b="1" dirty="0" err="1">
                <a:solidFill>
                  <a:srgbClr val="111111"/>
                </a:solidFill>
                <a:latin typeface="Open Sans"/>
              </a:rPr>
              <a:t>əhed</a:t>
            </a:r>
            <a:r>
              <a:rPr lang="en-US" b="1" dirty="0">
                <a:solidFill>
                  <a:srgbClr val="111111"/>
                </a:solidFill>
                <a:latin typeface="Open Sans"/>
              </a:rPr>
              <a:t>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/x/		 loch/l</a:t>
            </a:r>
            <a:r>
              <a:rPr lang="en-IN" dirty="0" err="1"/>
              <a:t>ɒx</a:t>
            </a:r>
            <a:r>
              <a:rPr lang="en-IN" dirty="0"/>
              <a:t>/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63608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1E3373-C578-4619-98D4-9BF7A391F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Consonants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591AFC-8D6C-42F3-B931-7E252365A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/</a:t>
            </a:r>
            <a:r>
              <a:rPr lang="en-US" dirty="0" err="1"/>
              <a:t>tʃ</a:t>
            </a:r>
            <a:r>
              <a:rPr lang="en-US" dirty="0"/>
              <a:t>/    - cherry /ˈ</a:t>
            </a:r>
            <a:r>
              <a:rPr lang="en-US" dirty="0" err="1"/>
              <a:t>tʃeri</a:t>
            </a:r>
            <a:r>
              <a:rPr lang="en-US" dirty="0"/>
              <a:t>/    			- match /</a:t>
            </a:r>
            <a:r>
              <a:rPr lang="en-US" dirty="0" err="1"/>
              <a:t>mætʃ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/ʤ/    - judge /</a:t>
            </a:r>
            <a:r>
              <a:rPr lang="en-US" dirty="0" err="1"/>
              <a:t>ʤʌʤ</a:t>
            </a:r>
            <a:r>
              <a:rPr lang="en-US" dirty="0"/>
              <a:t>/   			 - raj /</a:t>
            </a:r>
            <a:r>
              <a:rPr lang="en-US" dirty="0" err="1"/>
              <a:t>raːʤ</a:t>
            </a:r>
            <a:r>
              <a:rPr lang="en-US" dirty="0"/>
              <a:t>/. </a:t>
            </a:r>
          </a:p>
          <a:p>
            <a:pPr marL="514350" indent="-514350">
              <a:buAutoNum type="arabicPeriod"/>
            </a:pPr>
            <a:r>
              <a:rPr lang="en-US" dirty="0"/>
              <a:t>/m/    - man /</a:t>
            </a:r>
            <a:r>
              <a:rPr lang="en-US" dirty="0" err="1"/>
              <a:t>mæn</a:t>
            </a:r>
            <a:r>
              <a:rPr lang="en-US" dirty="0"/>
              <a:t>/    			- team /</a:t>
            </a:r>
            <a:r>
              <a:rPr lang="en-US" dirty="0" err="1"/>
              <a:t>tiːm</a:t>
            </a:r>
            <a:r>
              <a:rPr lang="en-US" dirty="0"/>
              <a:t>/</a:t>
            </a:r>
          </a:p>
          <a:p>
            <a:pPr marL="514350" indent="-514350">
              <a:buAutoNum type="arabicPeriod"/>
            </a:pPr>
            <a:r>
              <a:rPr lang="en-US" dirty="0"/>
              <a:t>/n/    - nail /</a:t>
            </a:r>
            <a:r>
              <a:rPr lang="en-US" dirty="0" err="1"/>
              <a:t>neɪl</a:t>
            </a:r>
            <a:r>
              <a:rPr lang="en-US" dirty="0"/>
              <a:t>/   				 - tan /</a:t>
            </a:r>
            <a:r>
              <a:rPr lang="en-US" dirty="0" err="1"/>
              <a:t>tæn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 /ŋ/    - ring /</a:t>
            </a:r>
            <a:r>
              <a:rPr lang="en-US" dirty="0" err="1"/>
              <a:t>rɪŋ</a:t>
            </a:r>
            <a:r>
              <a:rPr lang="en-US" dirty="0"/>
              <a:t>/   				 - singer /ˈ</a:t>
            </a:r>
            <a:r>
              <a:rPr lang="en-US" dirty="0" err="1"/>
              <a:t>sɪŋər</a:t>
            </a:r>
            <a:r>
              <a:rPr lang="en-US" dirty="0"/>
              <a:t>/</a:t>
            </a:r>
          </a:p>
          <a:p>
            <a:pPr marL="514350" indent="-514350">
              <a:buAutoNum type="arabicPeriod"/>
            </a:pPr>
            <a:r>
              <a:rPr lang="en-US" dirty="0"/>
              <a:t>/l/    - let /let/    				- tall /</a:t>
            </a:r>
            <a:r>
              <a:rPr lang="en-US" dirty="0" err="1"/>
              <a:t>tɔːl</a:t>
            </a:r>
            <a:r>
              <a:rPr lang="en-US" dirty="0"/>
              <a:t>/</a:t>
            </a:r>
          </a:p>
          <a:p>
            <a:pPr marL="514350" indent="-514350">
              <a:buAutoNum type="arabicPeriod"/>
            </a:pPr>
            <a:r>
              <a:rPr lang="en-US" dirty="0"/>
              <a:t>/r/    - right /</a:t>
            </a:r>
            <a:r>
              <a:rPr lang="en-US" dirty="0" err="1"/>
              <a:t>raɪt</a:t>
            </a:r>
            <a:r>
              <a:rPr lang="en-US" dirty="0"/>
              <a:t>/  				 - scary /ˈ</a:t>
            </a:r>
            <a:r>
              <a:rPr lang="en-US" dirty="0" err="1"/>
              <a:t>skɛri</a:t>
            </a:r>
            <a:r>
              <a:rPr lang="en-US" dirty="0"/>
              <a:t>/ or /ˈ</a:t>
            </a:r>
            <a:r>
              <a:rPr lang="en-US" dirty="0" err="1"/>
              <a:t>skɛəri</a:t>
            </a:r>
            <a:r>
              <a:rPr lang="en-US" dirty="0"/>
              <a:t>/</a:t>
            </a:r>
          </a:p>
          <a:p>
            <a:pPr marL="514350" indent="-514350">
              <a:buAutoNum type="arabicPeriod"/>
            </a:pPr>
            <a:r>
              <a:rPr lang="en-US" dirty="0"/>
              <a:t>/w/    - wet /wet/  				  - away /</a:t>
            </a:r>
            <a:r>
              <a:rPr lang="en-US" dirty="0" err="1"/>
              <a:t>əˈweɪ</a:t>
            </a:r>
            <a:r>
              <a:rPr lang="en-US" dirty="0"/>
              <a:t>/</a:t>
            </a:r>
          </a:p>
          <a:p>
            <a:pPr marL="514350" indent="-514350">
              <a:buAutoNum type="arabicPeriod"/>
            </a:pPr>
            <a:r>
              <a:rPr lang="en-US" dirty="0"/>
              <a:t>/j/    - you /</a:t>
            </a:r>
            <a:r>
              <a:rPr lang="en-US" dirty="0" err="1"/>
              <a:t>ju</a:t>
            </a:r>
            <a:r>
              <a:rPr lang="en-US" dirty="0"/>
              <a:t>ː/  			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3980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D987B0-4475-4D8F-AC5F-1075FF33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Consonants in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5B6547-6FFA-493D-8F68-9F4F7898D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Sound Examples</a:t>
            </a:r>
          </a:p>
          <a:p>
            <a:pPr marL="0" indent="0">
              <a:buNone/>
            </a:pPr>
            <a:r>
              <a:rPr lang="en-US" dirty="0"/>
              <a:t>/p/ (</a:t>
            </a:r>
            <a:r>
              <a:rPr lang="hi-IN" dirty="0"/>
              <a:t>प</a:t>
            </a:r>
            <a:r>
              <a:rPr lang="en-US" dirty="0"/>
              <a:t>) pair, cup</a:t>
            </a:r>
          </a:p>
          <a:p>
            <a:pPr marL="0" indent="0">
              <a:buNone/>
            </a:pPr>
            <a:r>
              <a:rPr lang="en-US" dirty="0"/>
              <a:t>/b/ (</a:t>
            </a:r>
            <a:r>
              <a:rPr lang="hi-IN" dirty="0"/>
              <a:t>ब</a:t>
            </a:r>
            <a:r>
              <a:rPr lang="en-US" dirty="0"/>
              <a:t>) bad, crab</a:t>
            </a:r>
          </a:p>
          <a:p>
            <a:pPr marL="0" indent="0">
              <a:buNone/>
            </a:pPr>
            <a:r>
              <a:rPr lang="en-US" dirty="0"/>
              <a:t>/t/ (</a:t>
            </a:r>
            <a:r>
              <a:rPr lang="hi-IN" dirty="0"/>
              <a:t>ट</a:t>
            </a:r>
            <a:r>
              <a:rPr lang="en-US" dirty="0"/>
              <a:t>) tall, hit</a:t>
            </a:r>
          </a:p>
          <a:p>
            <a:pPr marL="0" indent="0">
              <a:buNone/>
            </a:pPr>
            <a:r>
              <a:rPr lang="en-US" dirty="0"/>
              <a:t>/d/ (</a:t>
            </a:r>
            <a:r>
              <a:rPr lang="hi-IN" dirty="0"/>
              <a:t>ड </a:t>
            </a:r>
            <a:r>
              <a:rPr lang="en-US" dirty="0"/>
              <a:t>) dark, head</a:t>
            </a:r>
          </a:p>
          <a:p>
            <a:pPr marL="0" indent="0">
              <a:buNone/>
            </a:pPr>
            <a:r>
              <a:rPr lang="en-US" dirty="0"/>
              <a:t>/k/ (</a:t>
            </a:r>
            <a:r>
              <a:rPr lang="hi-IN" dirty="0"/>
              <a:t>क </a:t>
            </a:r>
            <a:r>
              <a:rPr lang="en-US" dirty="0"/>
              <a:t>) cab, lack</a:t>
            </a:r>
          </a:p>
          <a:p>
            <a:pPr marL="0" indent="0">
              <a:buNone/>
            </a:pPr>
            <a:r>
              <a:rPr lang="en-US" dirty="0"/>
              <a:t>/g/ (</a:t>
            </a:r>
            <a:r>
              <a:rPr lang="hi-IN" dirty="0"/>
              <a:t>ग </a:t>
            </a:r>
            <a:r>
              <a:rPr lang="en-US" dirty="0"/>
              <a:t>) good, tag</a:t>
            </a:r>
          </a:p>
          <a:p>
            <a:pPr marL="0" indent="0">
              <a:buNone/>
            </a:pPr>
            <a:r>
              <a:rPr lang="en-US" dirty="0"/>
              <a:t>/f/ (</a:t>
            </a:r>
            <a:r>
              <a:rPr lang="hi-IN" dirty="0"/>
              <a:t>फ</a:t>
            </a:r>
            <a:r>
              <a:rPr lang="en-US" dirty="0"/>
              <a:t>) fine, wife</a:t>
            </a:r>
          </a:p>
          <a:p>
            <a:pPr marL="0" indent="0">
              <a:buNone/>
            </a:pPr>
            <a:r>
              <a:rPr lang="en-US" dirty="0"/>
              <a:t>/v/ (</a:t>
            </a:r>
            <a:r>
              <a:rPr lang="hi-IN" dirty="0"/>
              <a:t>व</a:t>
            </a:r>
            <a:r>
              <a:rPr lang="en-US" dirty="0"/>
              <a:t>) very, above</a:t>
            </a:r>
          </a:p>
          <a:p>
            <a:pPr marL="0" indent="0">
              <a:buNone/>
            </a:pPr>
            <a:r>
              <a:rPr lang="en-US" dirty="0"/>
              <a:t>/θ/ (</a:t>
            </a:r>
            <a:r>
              <a:rPr lang="hi-IN" dirty="0"/>
              <a:t>थ </a:t>
            </a:r>
            <a:r>
              <a:rPr lang="en-US" dirty="0"/>
              <a:t>) thing, both</a:t>
            </a:r>
          </a:p>
          <a:p>
            <a:pPr marL="0" indent="0">
              <a:buNone/>
            </a:pPr>
            <a:r>
              <a:rPr lang="en-US" dirty="0"/>
              <a:t>/ð/ (</a:t>
            </a:r>
            <a:r>
              <a:rPr lang="hi-IN" dirty="0"/>
              <a:t>द</a:t>
            </a:r>
            <a:r>
              <a:rPr lang="en-US" dirty="0"/>
              <a:t>) this, father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0061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E52EF0-7DD4-43A5-8667-E212D941E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Problems of Indian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13C867-C488-40C5-A512-F3FF40215EA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4"/>
            <a:r>
              <a:rPr lang="en-IN" sz="3600" dirty="0"/>
              <a:t>/z/</a:t>
            </a:r>
          </a:p>
          <a:p>
            <a:pPr lvl="4"/>
            <a:r>
              <a:rPr lang="en-IN" sz="3600" dirty="0"/>
              <a:t>Eyes</a:t>
            </a:r>
          </a:p>
          <a:p>
            <a:pPr lvl="4"/>
            <a:r>
              <a:rPr lang="en-IN" sz="3600" dirty="0"/>
              <a:t>Falls</a:t>
            </a:r>
          </a:p>
          <a:p>
            <a:pPr lvl="4"/>
            <a:r>
              <a:rPr lang="en-IN" sz="3600" dirty="0"/>
              <a:t>Fears</a:t>
            </a:r>
          </a:p>
          <a:p>
            <a:pPr lvl="4"/>
            <a:r>
              <a:rPr lang="en-IN" sz="3600" dirty="0"/>
              <a:t>His</a:t>
            </a:r>
          </a:p>
          <a:p>
            <a:pPr lvl="4"/>
            <a:r>
              <a:rPr lang="en-IN" sz="3600" dirty="0"/>
              <a:t>Knees</a:t>
            </a:r>
          </a:p>
          <a:p>
            <a:pPr marL="1828800" lvl="4" indent="0">
              <a:buNone/>
            </a:pPr>
            <a:endParaRPr lang="en-IN" sz="3600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4BA9707-27EE-4250-8E94-05D9761AC9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IN" dirty="0"/>
              <a:t>/s/</a:t>
            </a:r>
          </a:p>
          <a:p>
            <a:pPr algn="ctr"/>
            <a:r>
              <a:rPr lang="en-IN" dirty="0"/>
              <a:t>Ice</a:t>
            </a:r>
          </a:p>
          <a:p>
            <a:pPr algn="ctr"/>
            <a:r>
              <a:rPr lang="en-IN" dirty="0"/>
              <a:t>False</a:t>
            </a:r>
          </a:p>
          <a:p>
            <a:pPr algn="ctr"/>
            <a:r>
              <a:rPr lang="en-IN" dirty="0"/>
              <a:t>Fierce</a:t>
            </a:r>
          </a:p>
          <a:p>
            <a:pPr algn="ctr"/>
            <a:r>
              <a:rPr lang="en-IN" dirty="0"/>
              <a:t>Hiss</a:t>
            </a:r>
          </a:p>
          <a:p>
            <a:pPr algn="ctr"/>
            <a:r>
              <a:rPr lang="en-IN" dirty="0"/>
              <a:t>Niece</a:t>
            </a:r>
          </a:p>
        </p:txBody>
      </p:sp>
    </p:spTree>
    <p:extLst>
      <p:ext uri="{BB962C8B-B14F-4D97-AF65-F5344CB8AC3E}">
        <p14:creationId xmlns:p14="http://schemas.microsoft.com/office/powerpoint/2010/main" xmlns="" val="1337365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53FABA4-23B8-44AF-96ED-A38ECB24B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Problems of Indian English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C148C12-8FA2-4D01-BB80-7696D089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IN" dirty="0"/>
              <a:t>/ʃ/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454F16B-649C-478B-BDF4-72DAEFAED86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IN" dirty="0"/>
              <a:t>Shave</a:t>
            </a:r>
          </a:p>
          <a:p>
            <a:pPr algn="ctr"/>
            <a:r>
              <a:rPr lang="en-IN" dirty="0"/>
              <a:t>She</a:t>
            </a:r>
          </a:p>
          <a:p>
            <a:pPr algn="ctr"/>
            <a:r>
              <a:rPr lang="en-IN" dirty="0"/>
              <a:t>Sheet</a:t>
            </a:r>
          </a:p>
          <a:p>
            <a:pPr algn="ctr"/>
            <a:r>
              <a:rPr lang="en-IN" dirty="0"/>
              <a:t>shine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CA0785E-D21B-4452-9531-612B1C77EA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IN" dirty="0"/>
              <a:t>/s/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501A83D-BE46-4D31-8F3A-7907E9A70D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algn="ctr"/>
            <a:r>
              <a:rPr lang="en-IN" dirty="0"/>
              <a:t>Save</a:t>
            </a:r>
          </a:p>
          <a:p>
            <a:pPr algn="ctr"/>
            <a:r>
              <a:rPr lang="en-IN" dirty="0"/>
              <a:t>See</a:t>
            </a:r>
          </a:p>
          <a:p>
            <a:pPr algn="ctr"/>
            <a:r>
              <a:rPr lang="en-IN" dirty="0"/>
              <a:t>Seat</a:t>
            </a:r>
          </a:p>
          <a:p>
            <a:pPr algn="ctr"/>
            <a:r>
              <a:rPr lang="en-IN" dirty="0"/>
              <a:t>Sign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75098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9DAF3F-F9ED-4099-8259-5DF5BDAB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Problems of Indian English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ADFF96-59B2-4507-AE86-44617FBB96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ctr"/>
            <a:r>
              <a:rPr lang="en-IN" dirty="0"/>
              <a:t>/w/</a:t>
            </a:r>
          </a:p>
          <a:p>
            <a:pPr algn="ctr"/>
            <a:r>
              <a:rPr lang="en-IN" dirty="0"/>
              <a:t>While</a:t>
            </a:r>
          </a:p>
          <a:p>
            <a:pPr algn="ctr"/>
            <a:r>
              <a:rPr lang="en-IN" dirty="0"/>
              <a:t>West</a:t>
            </a:r>
          </a:p>
          <a:p>
            <a:pPr algn="ctr"/>
            <a:r>
              <a:rPr lang="en-IN" dirty="0"/>
              <a:t>Why</a:t>
            </a:r>
          </a:p>
          <a:p>
            <a:pPr marL="0" indent="0" algn="ctr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46C3B99-710D-4C9B-BC42-A001372D9A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algn="ctr"/>
            <a:r>
              <a:rPr lang="en-IN" dirty="0"/>
              <a:t>/v/</a:t>
            </a:r>
          </a:p>
          <a:p>
            <a:pPr algn="ctr"/>
            <a:r>
              <a:rPr lang="en-IN" dirty="0"/>
              <a:t>Vile</a:t>
            </a:r>
          </a:p>
          <a:p>
            <a:pPr algn="ctr"/>
            <a:r>
              <a:rPr lang="en-IN" dirty="0"/>
              <a:t>Vest</a:t>
            </a:r>
          </a:p>
          <a:p>
            <a:pPr algn="ctr"/>
            <a:r>
              <a:rPr lang="en-IN" dirty="0"/>
              <a:t>Vie</a:t>
            </a:r>
          </a:p>
          <a:p>
            <a:pPr marL="0" indent="0" algn="ctr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999138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780DDC-E47A-31A0-9F65-2CB2DB49D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Place of Articulation: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F95EBB6-E4A8-8359-FC25-34E6B7FB5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ctr"/>
            <a:r>
              <a:rPr lang="en-US" b="1" dirty="0"/>
              <a:t>Bilabial:</a:t>
            </a:r>
            <a:r>
              <a:rPr lang="en-US" dirty="0"/>
              <a:t> Both lips are used to create the sound (e.g., /p/, /b/, /m/). </a:t>
            </a:r>
          </a:p>
          <a:p>
            <a:pPr fontAlgn="ctr"/>
            <a:r>
              <a:rPr lang="en-US" b="1" dirty="0"/>
              <a:t>Labiodental:</a:t>
            </a:r>
            <a:r>
              <a:rPr lang="en-US" dirty="0"/>
              <a:t> The lower lip and upper teeth are used (e.g., /f/, /v/). </a:t>
            </a:r>
          </a:p>
          <a:p>
            <a:pPr fontAlgn="ctr"/>
            <a:r>
              <a:rPr lang="en-US" b="1" dirty="0"/>
              <a:t>Dental:</a:t>
            </a:r>
            <a:r>
              <a:rPr lang="en-US" dirty="0"/>
              <a:t> The tongue tip or blade makes contact with the upper teeth (e.g., /θ/, /ð/). </a:t>
            </a:r>
          </a:p>
          <a:p>
            <a:pPr fontAlgn="ctr"/>
            <a:r>
              <a:rPr lang="en-US" b="1" dirty="0"/>
              <a:t>Alveolar:</a:t>
            </a:r>
            <a:r>
              <a:rPr lang="en-US" dirty="0"/>
              <a:t> The tongue tip or blade makes contact with the alveolar ridge (the gum ridge behind your upper teeth) (e.g., /t/, /d/, /s/, /z/, /n/, /l/). </a:t>
            </a:r>
          </a:p>
          <a:p>
            <a:pPr fontAlgn="ctr"/>
            <a:r>
              <a:rPr lang="en-US" b="1" dirty="0"/>
              <a:t>Post-alveolar:</a:t>
            </a:r>
            <a:r>
              <a:rPr lang="en-US" dirty="0"/>
              <a:t> The tongue is retracted slightly from the alveolar ridge (e.g., /r/). </a:t>
            </a:r>
          </a:p>
          <a:p>
            <a:pPr fontAlgn="ctr"/>
            <a:r>
              <a:rPr lang="en-US" b="1" dirty="0"/>
              <a:t>Palatal:</a:t>
            </a:r>
            <a:r>
              <a:rPr lang="en-US" dirty="0"/>
              <a:t> The front of the tongue is raised towards the hard palate (the roof of the mouth) (e.g., /j/). </a:t>
            </a:r>
          </a:p>
          <a:p>
            <a:pPr fontAlgn="ctr"/>
            <a:r>
              <a:rPr lang="en-US" b="1" dirty="0"/>
              <a:t>Velar:</a:t>
            </a:r>
            <a:r>
              <a:rPr lang="en-US" dirty="0"/>
              <a:t> The back of the tongue makes contact with the soft palate (velum) (e.g., /k/, /g/, /ŋ/). </a:t>
            </a:r>
          </a:p>
          <a:p>
            <a:r>
              <a:rPr lang="en-US" b="1" dirty="0"/>
              <a:t>Glottal:</a:t>
            </a:r>
            <a:r>
              <a:rPr lang="en-US" dirty="0"/>
              <a:t> The sound is produced at the glottis (e.g., /h/).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014942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253826-41C8-6BBA-2D0E-3A0B3DCB6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4BC5F-4CFA-093C-9AF7-9B731A04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Manner of Articulation: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091DEF-92E8-8700-6B16-C6B39830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ctr"/>
            <a:r>
              <a:rPr lang="en-US" b="1" dirty="0"/>
              <a:t>Stops (Plosives):</a:t>
            </a:r>
            <a:r>
              <a:rPr lang="en-US" dirty="0"/>
              <a:t> Complete closure of the vocal tract, then a release of air (e.g., /p/, /b/, /t/, /d/, /k/, /g/). </a:t>
            </a:r>
          </a:p>
          <a:p>
            <a:pPr fontAlgn="ctr"/>
            <a:r>
              <a:rPr lang="en-US" b="1" dirty="0"/>
              <a:t>Fricatives:</a:t>
            </a:r>
            <a:r>
              <a:rPr lang="en-US" dirty="0"/>
              <a:t> Close approximation of articulators, creating a turbulent airflow (e.g., /f/, /v/, /θ/, /ð/, /s/, /z/, /ʃ/, /ʒ/, /h/). </a:t>
            </a:r>
          </a:p>
          <a:p>
            <a:pPr fontAlgn="ctr"/>
            <a:r>
              <a:rPr lang="en-US" b="1" dirty="0"/>
              <a:t>Affricates:</a:t>
            </a:r>
            <a:r>
              <a:rPr lang="en-US" dirty="0"/>
              <a:t> A combination of a stop and a fricative (e.g., /</a:t>
            </a:r>
            <a:r>
              <a:rPr lang="en-US" dirty="0" err="1"/>
              <a:t>tʃ</a:t>
            </a:r>
            <a:r>
              <a:rPr lang="en-US" dirty="0"/>
              <a:t>/, /</a:t>
            </a:r>
            <a:r>
              <a:rPr lang="en-US" dirty="0" err="1"/>
              <a:t>dʒ</a:t>
            </a:r>
            <a:r>
              <a:rPr lang="en-US" dirty="0"/>
              <a:t>/). </a:t>
            </a:r>
          </a:p>
          <a:p>
            <a:pPr fontAlgn="ctr"/>
            <a:r>
              <a:rPr lang="en-US" b="1" dirty="0"/>
              <a:t>Nasals:</a:t>
            </a:r>
            <a:r>
              <a:rPr lang="en-US" dirty="0"/>
              <a:t> Airflow through the nasal cavity (e.g., /m/, /n/, /ŋ/). </a:t>
            </a:r>
          </a:p>
          <a:p>
            <a:pPr fontAlgn="ctr"/>
            <a:r>
              <a:rPr lang="en-US" b="1" dirty="0"/>
              <a:t>Approximants:</a:t>
            </a:r>
            <a:r>
              <a:rPr lang="en-US" dirty="0"/>
              <a:t> Articulators come close together, but not close enough to create significant turbulence (e.g., /w/, /j/, /l/, /r/). </a:t>
            </a:r>
          </a:p>
          <a:p>
            <a:r>
              <a:rPr lang="en-US" b="1" dirty="0"/>
              <a:t>Flaps/Trills:</a:t>
            </a:r>
            <a:r>
              <a:rPr lang="en-US" dirty="0"/>
              <a:t> Rapid, brief contacts between the tongue and another articulator.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8909557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30795C-57E7-43B7-975C-2259609AD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Practice Tongue Twisters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3E85CB-7E2E-4CE5-B47B-CCA4CE121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/>
              <a:t>Sh</a:t>
            </a:r>
            <a:r>
              <a:rPr lang="en-IN" dirty="0"/>
              <a:t>e sells sea </a:t>
            </a:r>
            <a:r>
              <a:rPr lang="en-IN" u="sng" dirty="0"/>
              <a:t>sh</a:t>
            </a:r>
            <a:r>
              <a:rPr lang="en-IN" dirty="0"/>
              <a:t>ells on the sea</a:t>
            </a:r>
            <a:r>
              <a:rPr lang="en-IN" u="sng" dirty="0"/>
              <a:t>sh</a:t>
            </a:r>
            <a:r>
              <a:rPr lang="en-IN" dirty="0"/>
              <a:t>ore.</a:t>
            </a:r>
          </a:p>
          <a:p>
            <a:r>
              <a:rPr lang="en-IN" dirty="0"/>
              <a:t>Peter Piper Picked a Peck of Pickled Peppers.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75602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1035</Words>
  <Application>Microsoft Office PowerPoint</Application>
  <PresentationFormat>Custom</PresentationFormat>
  <Paragraphs>232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Phonetics of English: An Introduction</vt:lpstr>
      <vt:lpstr>Pronounce these words</vt:lpstr>
      <vt:lpstr>Pronounce these words</vt:lpstr>
      <vt:lpstr>What is Phonetics?</vt:lpstr>
      <vt:lpstr>What is Standard English Pronunciation?</vt:lpstr>
      <vt:lpstr>Why should you know about the sounds of English?</vt:lpstr>
      <vt:lpstr>Human Vocal Tract</vt:lpstr>
      <vt:lpstr>Classification of sounds</vt:lpstr>
      <vt:lpstr>Classification of sounds</vt:lpstr>
      <vt:lpstr>Vowels in English</vt:lpstr>
      <vt:lpstr>Vowel Chart: Tongue Position and Lip</vt:lpstr>
      <vt:lpstr>Vowels in English</vt:lpstr>
      <vt:lpstr>Vowels in English</vt:lpstr>
      <vt:lpstr>Vowels in English</vt:lpstr>
      <vt:lpstr>Diphthongs in English</vt:lpstr>
      <vt:lpstr>Diphthongs in English</vt:lpstr>
      <vt:lpstr>Diphthongs in English</vt:lpstr>
      <vt:lpstr>Diphthongs in English</vt:lpstr>
      <vt:lpstr>Diphthongs in English</vt:lpstr>
      <vt:lpstr>Diphthongs in English</vt:lpstr>
      <vt:lpstr>Diphthongs in English</vt:lpstr>
      <vt:lpstr>Diphthongs in English</vt:lpstr>
      <vt:lpstr>Consonants in English</vt:lpstr>
      <vt:lpstr>Consonants in English</vt:lpstr>
      <vt:lpstr>Consonants in English</vt:lpstr>
      <vt:lpstr>Consonants in English</vt:lpstr>
      <vt:lpstr>Problems of Indian English</vt:lpstr>
      <vt:lpstr>Problems of Indian English</vt:lpstr>
      <vt:lpstr>Problems of Indian English</vt:lpstr>
      <vt:lpstr>Place of Articulation: </vt:lpstr>
      <vt:lpstr>  Manner of Articulation:  </vt:lpstr>
      <vt:lpstr>Practice Tongue Twisters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Basics of Phonetics</dc:title>
  <dc:creator>akshat agarwal</dc:creator>
  <cp:lastModifiedBy>Saksham Nigam</cp:lastModifiedBy>
  <cp:revision>30</cp:revision>
  <dcterms:created xsi:type="dcterms:W3CDTF">2020-11-01T03:28:33Z</dcterms:created>
  <dcterms:modified xsi:type="dcterms:W3CDTF">2025-09-24T15:05:21Z</dcterms:modified>
</cp:coreProperties>
</file>