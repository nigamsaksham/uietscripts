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61" r:id="rId5"/>
    <p:sldId id="262" r:id="rId6"/>
    <p:sldId id="271" r:id="rId7"/>
    <p:sldId id="263" r:id="rId8"/>
    <p:sldId id="272" r:id="rId9"/>
    <p:sldId id="264" r:id="rId10"/>
    <p:sldId id="265" r:id="rId11"/>
    <p:sldId id="275" r:id="rId12"/>
    <p:sldId id="273" r:id="rId13"/>
    <p:sldId id="260" r:id="rId14"/>
    <p:sldId id="274" r:id="rId15"/>
    <p:sldId id="267" r:id="rId16"/>
    <p:sldId id="268" r:id="rId17"/>
    <p:sldId id="269"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68" d="100"/>
          <a:sy n="68" d="100"/>
        </p:scale>
        <p:origin x="-780"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2DB358-A010-421D-AADC-0AED19BC4C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4E063EF-0C10-43BF-B023-9C94EFCAE2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3D8B3564-DF1F-4816-945E-D6833DBFA228}"/>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5" name="Footer Placeholder 4">
            <a:extLst>
              <a:ext uri="{FF2B5EF4-FFF2-40B4-BE49-F238E27FC236}">
                <a16:creationId xmlns:a16="http://schemas.microsoft.com/office/drawing/2014/main" xmlns="" id="{B1391E0B-46F2-4900-B004-2D2A5A6038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56ACA41-F8E6-409F-A3B9-F7A49313D594}"/>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2606032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56851F-0C64-4229-AAF5-081BBC1E8E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F6B8BAB-0029-4B92-96C8-48762572C7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8865AB4-58D5-4C1C-A750-2ADC240484C4}"/>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5" name="Footer Placeholder 4">
            <a:extLst>
              <a:ext uri="{FF2B5EF4-FFF2-40B4-BE49-F238E27FC236}">
                <a16:creationId xmlns:a16="http://schemas.microsoft.com/office/drawing/2014/main" xmlns="" id="{2CBCC06D-B52D-4C0B-BD5B-FE484E8639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18950C2-37C7-4F4C-B135-0EAACA4FBBB1}"/>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2235493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A56F33-D788-42C1-BC26-F887FD98F0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B995D09-145B-47CE-A18F-3FC7127B7A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9450361C-26F2-4714-A717-108C9B3EEA08}"/>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5" name="Footer Placeholder 4">
            <a:extLst>
              <a:ext uri="{FF2B5EF4-FFF2-40B4-BE49-F238E27FC236}">
                <a16:creationId xmlns:a16="http://schemas.microsoft.com/office/drawing/2014/main" xmlns="" id="{5CCE2240-8312-441E-B099-4F9013C330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E39D314-7D8C-4017-9141-CC5CAF5341C4}"/>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698350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352B5B-A19B-49BE-BDC3-89D1367B9F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1DF323A-F903-4A11-8803-A7A88F7A76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791E3EA4-D324-48AC-84C6-4083736F26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12F397A-4361-42EB-BA3D-BD8119EB3352}"/>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6" name="Footer Placeholder 5">
            <a:extLst>
              <a:ext uri="{FF2B5EF4-FFF2-40B4-BE49-F238E27FC236}">
                <a16:creationId xmlns:a16="http://schemas.microsoft.com/office/drawing/2014/main" xmlns="" id="{39632471-64C5-4167-B37E-241F8EB9CB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9F98851-212E-487A-9C0F-FE91B0BE9D6C}"/>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160383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4FF175-BEE7-4E67-BCA6-C020C3DF24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5B4D8A2-5660-4875-8A98-23149CBC2E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E2EEA1B-3486-4505-A325-E9012E98BF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BDD74C0D-EB97-4E4D-870E-DEDCFCC862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48351A8-CC07-4BAC-8FFD-251A1AC588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44EE8302-D633-44EA-987D-EE278E69C172}"/>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8" name="Footer Placeholder 7">
            <a:extLst>
              <a:ext uri="{FF2B5EF4-FFF2-40B4-BE49-F238E27FC236}">
                <a16:creationId xmlns:a16="http://schemas.microsoft.com/office/drawing/2014/main" xmlns="" id="{C8F45E48-795D-4E7C-97C8-EE7075E40B8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D2A50D52-A513-47A7-BA91-22B4C77B2196}"/>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881264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A0480C-EA80-4515-8E87-88F3D445CA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17375180-27F2-4BA4-88B1-EB4E5163730F}"/>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4" name="Footer Placeholder 3">
            <a:extLst>
              <a:ext uri="{FF2B5EF4-FFF2-40B4-BE49-F238E27FC236}">
                <a16:creationId xmlns:a16="http://schemas.microsoft.com/office/drawing/2014/main" xmlns="" id="{D684B082-F85B-4416-AA2A-4A5F91753A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5BF2A9FF-3F78-49B2-B74E-52053BDA6385}"/>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3262952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F6423A8-B8B7-4C29-BFB7-F9F78EF543D4}"/>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3" name="Footer Placeholder 2">
            <a:extLst>
              <a:ext uri="{FF2B5EF4-FFF2-40B4-BE49-F238E27FC236}">
                <a16:creationId xmlns:a16="http://schemas.microsoft.com/office/drawing/2014/main" xmlns="" id="{3F92FAEC-65E5-4C5C-8C20-66E89E8949C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A336F0DF-8D5F-4C79-A768-39C4DDE092C4}"/>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328499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5592A4-EABD-458A-8745-8531AE40AB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2646129-BE72-443B-AC9D-57B760F8A8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D5E221C4-9359-4FCB-9A2F-40E3A937E3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154EE04-6D2A-460F-949F-DABBC26B716E}"/>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6" name="Footer Placeholder 5">
            <a:extLst>
              <a:ext uri="{FF2B5EF4-FFF2-40B4-BE49-F238E27FC236}">
                <a16:creationId xmlns:a16="http://schemas.microsoft.com/office/drawing/2014/main" xmlns="" id="{8045612F-D3DE-4D9A-8E4B-5AF273DDD0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2237B83-871A-487F-ACA5-29B65F5B6D50}"/>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3735112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671C21-491E-4821-BD67-90F5C9F044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574DB07E-FA36-4A17-A3F1-6E25952C1A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EECD29E-73CE-4752-A53A-C8F275CF45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A66E61F-8AB9-4555-AAA3-E994D3ADFA77}"/>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6" name="Footer Placeholder 5">
            <a:extLst>
              <a:ext uri="{FF2B5EF4-FFF2-40B4-BE49-F238E27FC236}">
                <a16:creationId xmlns:a16="http://schemas.microsoft.com/office/drawing/2014/main" xmlns="" id="{DF6EC6B1-AA7D-4661-8325-749FA5BA32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4A850F7-1818-401F-87C2-580BF5F460B2}"/>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2859914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6B18C8-B15F-4DE8-9F15-4910633099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164A34D6-9AC9-4DF6-AF77-55CC3EF5BA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0BF1C34-638F-4F9C-A890-394464A47112}"/>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5" name="Footer Placeholder 4">
            <a:extLst>
              <a:ext uri="{FF2B5EF4-FFF2-40B4-BE49-F238E27FC236}">
                <a16:creationId xmlns:a16="http://schemas.microsoft.com/office/drawing/2014/main" xmlns="" id="{CC6A5103-6658-461B-B064-8013EADC42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CC5BF9D-3208-4B29-B2E3-563EEAE1B360}"/>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1136087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33064B9-DD58-471D-9D2E-0D63B4CA99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F30A6FD-DF61-48B5-9E51-51DD9096C4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558B4C4-A50E-4F44-A6C4-2D340D1EC4E1}"/>
              </a:ext>
            </a:extLst>
          </p:cNvPr>
          <p:cNvSpPr>
            <a:spLocks noGrp="1"/>
          </p:cNvSpPr>
          <p:nvPr>
            <p:ph type="dt" sz="half" idx="10"/>
          </p:nvPr>
        </p:nvSpPr>
        <p:spPr/>
        <p:txBody>
          <a:bodyPr/>
          <a:lstStyle/>
          <a:p>
            <a:fld id="{97314D81-5AB2-4785-9F13-D361BCE9D61A}" type="datetimeFigureOut">
              <a:rPr lang="en-IN" smtClean="0"/>
              <a:pPr/>
              <a:t>24-09-2025</a:t>
            </a:fld>
            <a:endParaRPr lang="en-IN"/>
          </a:p>
        </p:txBody>
      </p:sp>
      <p:sp>
        <p:nvSpPr>
          <p:cNvPr id="5" name="Footer Placeholder 4">
            <a:extLst>
              <a:ext uri="{FF2B5EF4-FFF2-40B4-BE49-F238E27FC236}">
                <a16:creationId xmlns:a16="http://schemas.microsoft.com/office/drawing/2014/main" xmlns="" id="{BEF067C6-1925-4D7A-A5F1-A46ACD7CA4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358FCDB-3155-44F1-A7B8-FB253DC5C980}"/>
              </a:ext>
            </a:extLst>
          </p:cNvPr>
          <p:cNvSpPr>
            <a:spLocks noGrp="1"/>
          </p:cNvSpPr>
          <p:nvPr>
            <p:ph type="sldNum" sz="quarter" idx="12"/>
          </p:nvPr>
        </p:nvSpPr>
        <p:spPr/>
        <p:txBody>
          <a:body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3300356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D2218AB-D227-43DF-867F-586B8A295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D50E600-54B1-43AB-89E7-5C4FCDC24E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EBB8C57-BA45-4DCA-863D-3E5FB2FFCF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314D81-5AB2-4785-9F13-D361BCE9D61A}" type="datetimeFigureOut">
              <a:rPr lang="en-IN" smtClean="0"/>
              <a:pPr/>
              <a:t>24-09-2025</a:t>
            </a:fld>
            <a:endParaRPr lang="en-IN"/>
          </a:p>
        </p:txBody>
      </p:sp>
      <p:sp>
        <p:nvSpPr>
          <p:cNvPr id="5" name="Footer Placeholder 4">
            <a:extLst>
              <a:ext uri="{FF2B5EF4-FFF2-40B4-BE49-F238E27FC236}">
                <a16:creationId xmlns:a16="http://schemas.microsoft.com/office/drawing/2014/main" xmlns="" id="{FFF97D3E-6F33-4763-A471-181BAAB0AE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18BB98FA-70E9-4FBA-88A6-226FE23D54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DF3D11-8B09-4C17-BFC9-124EA36997F5}" type="slidenum">
              <a:rPr lang="en-IN" smtClean="0"/>
              <a:pPr/>
              <a:t>‹#›</a:t>
            </a:fld>
            <a:endParaRPr lang="en-IN"/>
          </a:p>
        </p:txBody>
      </p:sp>
    </p:spTree>
    <p:extLst>
      <p:ext uri="{BB962C8B-B14F-4D97-AF65-F5344CB8AC3E}">
        <p14:creationId xmlns:p14="http://schemas.microsoft.com/office/powerpoint/2010/main" xmlns="" val="33928952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4CE3D6-3465-42AA-8F78-5756EACE2EBB}"/>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Communication Practicum</a:t>
            </a:r>
          </a:p>
        </p:txBody>
      </p:sp>
      <p:sp>
        <p:nvSpPr>
          <p:cNvPr id="3" name="Subtitle 2">
            <a:extLst>
              <a:ext uri="{FF2B5EF4-FFF2-40B4-BE49-F238E27FC236}">
                <a16:creationId xmlns:a16="http://schemas.microsoft.com/office/drawing/2014/main" xmlns="" id="{0F6BF88D-A30A-4D73-A140-B1EB311813B6}"/>
              </a:ext>
            </a:extLst>
          </p:cNvPr>
          <p:cNvSpPr>
            <a:spLocks noGrp="1"/>
          </p:cNvSpPr>
          <p:nvPr>
            <p:ph type="subTitle" idx="1"/>
          </p:nvPr>
        </p:nvSpPr>
        <p:spPr/>
        <p:txBody>
          <a:bodyPr/>
          <a:lstStyle/>
          <a:p>
            <a:r>
              <a:rPr lang="en-IN" dirty="0">
                <a:latin typeface="Times New Roman" panose="02020603050405020304" pitchFamily="18" charset="0"/>
                <a:cs typeface="Times New Roman" panose="02020603050405020304" pitchFamily="18" charset="0"/>
              </a:rPr>
              <a:t>Course</a:t>
            </a:r>
            <a:r>
              <a:rPr lang="en-IN" dirty="0"/>
              <a:t> Code- HSS -S301</a:t>
            </a:r>
          </a:p>
          <a:p>
            <a:r>
              <a:rPr lang="en-IN" dirty="0"/>
              <a:t>Instructor: Deepti Agarwal</a:t>
            </a:r>
          </a:p>
          <a:p>
            <a:r>
              <a:rPr lang="en-IN" sz="3200" b="1" dirty="0">
                <a:latin typeface="Times New Roman" panose="02020603050405020304" pitchFamily="18" charset="0"/>
                <a:cs typeface="Times New Roman" panose="02020603050405020304" pitchFamily="18" charset="0"/>
              </a:rPr>
              <a:t>Lab Activity 1</a:t>
            </a:r>
          </a:p>
        </p:txBody>
      </p:sp>
    </p:spTree>
    <p:extLst>
      <p:ext uri="{BB962C8B-B14F-4D97-AF65-F5344CB8AC3E}">
        <p14:creationId xmlns:p14="http://schemas.microsoft.com/office/powerpoint/2010/main" xmlns="" val="988781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1F6204-3ADF-4C25-B2FC-563B7812A865}"/>
              </a:ext>
            </a:extLst>
          </p:cNvPr>
          <p:cNvSpPr>
            <a:spLocks noGrp="1"/>
          </p:cNvSpPr>
          <p:nvPr>
            <p:ph type="title"/>
          </p:nvPr>
        </p:nvSpPr>
        <p:spPr/>
        <p:txBody>
          <a:bodyPr/>
          <a:lstStyle/>
          <a:p>
            <a:pPr algn="ctr"/>
            <a:r>
              <a:rPr lang="en-US" dirty="0"/>
              <a:t>Oral Presentations</a:t>
            </a:r>
            <a:endParaRPr lang="en-IN" dirty="0"/>
          </a:p>
        </p:txBody>
      </p:sp>
      <p:sp>
        <p:nvSpPr>
          <p:cNvPr id="3" name="Content Placeholder 2">
            <a:extLst>
              <a:ext uri="{FF2B5EF4-FFF2-40B4-BE49-F238E27FC236}">
                <a16:creationId xmlns:a16="http://schemas.microsoft.com/office/drawing/2014/main" xmlns="" id="{DE9A5CD7-E9C5-4EFF-AE9F-AE59472E5547}"/>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Verbal: Oral (content)</a:t>
            </a:r>
          </a:p>
          <a:p>
            <a:pPr marL="0" indent="0">
              <a:buNone/>
            </a:pPr>
            <a:r>
              <a:rPr lang="en-US" dirty="0">
                <a:latin typeface="Times New Roman" panose="02020603050405020304" pitchFamily="18" charset="0"/>
                <a:cs typeface="Times New Roman" panose="02020603050405020304" pitchFamily="18" charset="0"/>
              </a:rPr>
              <a:t>Nonverbal: Body language + Features of Voice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98855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AB636C-9E70-4E93-BB98-D11516D9F245}"/>
              </a:ext>
            </a:extLst>
          </p:cNvPr>
          <p:cNvSpPr>
            <a:spLocks noGrp="1"/>
          </p:cNvSpPr>
          <p:nvPr>
            <p:ph type="title"/>
          </p:nvPr>
        </p:nvSpPr>
        <p:spPr>
          <a:xfrm>
            <a:off x="838200" y="365126"/>
            <a:ext cx="10515600" cy="566208"/>
          </a:xfrm>
        </p:spPr>
        <p:txBody>
          <a:bodyPr>
            <a:normAutofit fontScale="90000"/>
          </a:bodyPr>
          <a:lstStyle/>
          <a:p>
            <a:pPr algn="ctr"/>
            <a:r>
              <a:rPr lang="en-IN" dirty="0"/>
              <a:t>Presentation Tips for Just A Minute Speech (JAM) </a:t>
            </a:r>
          </a:p>
        </p:txBody>
      </p:sp>
      <p:sp>
        <p:nvSpPr>
          <p:cNvPr id="3" name="Content Placeholder 2">
            <a:extLst>
              <a:ext uri="{FF2B5EF4-FFF2-40B4-BE49-F238E27FC236}">
                <a16:creationId xmlns:a16="http://schemas.microsoft.com/office/drawing/2014/main" xmlns="" id="{4C8F8B7E-3AEC-4016-BEE5-5A2E462D066B}"/>
              </a:ext>
            </a:extLst>
          </p:cNvPr>
          <p:cNvSpPr>
            <a:spLocks noGrp="1"/>
          </p:cNvSpPr>
          <p:nvPr>
            <p:ph idx="1"/>
          </p:nvPr>
        </p:nvSpPr>
        <p:spPr>
          <a:xfrm>
            <a:off x="76200" y="1024466"/>
            <a:ext cx="11887200" cy="5833533"/>
          </a:xfrm>
        </p:spPr>
        <p:txBody>
          <a:bodyPr>
            <a:normAutofit fontScale="92500" lnSpcReduction="10000"/>
          </a:bodyPr>
          <a:lstStyle/>
          <a:p>
            <a:r>
              <a:rPr lang="en-IN" dirty="0"/>
              <a:t>To begin by saying something interesting and arresting to capture the audience’s attention right from the </a:t>
            </a:r>
            <a:r>
              <a:rPr lang="en-IN" dirty="0" err="1"/>
              <a:t>begining</a:t>
            </a:r>
            <a:r>
              <a:rPr lang="en-IN" dirty="0"/>
              <a:t>.</a:t>
            </a:r>
          </a:p>
          <a:p>
            <a:r>
              <a:rPr lang="en-IN" dirty="0"/>
              <a:t>To come to the point immediately; avoid long introductory ideas.</a:t>
            </a:r>
          </a:p>
          <a:p>
            <a:r>
              <a:rPr lang="en-IN" dirty="0"/>
              <a:t>To stay focussed on one point; avoid digressions.</a:t>
            </a:r>
          </a:p>
          <a:p>
            <a:r>
              <a:rPr lang="en-IN" dirty="0"/>
              <a:t>To avoid examples and instances to substantiate</a:t>
            </a:r>
          </a:p>
          <a:p>
            <a:r>
              <a:rPr lang="en-IN" dirty="0"/>
              <a:t>To be clear and simple; don’t leave the audience guessing</a:t>
            </a:r>
          </a:p>
          <a:p>
            <a:r>
              <a:rPr lang="en-IN" dirty="0"/>
              <a:t>To be brief; avoid elaborate data and statistics as there is no time in JAM sessions for such substantiations.</a:t>
            </a:r>
          </a:p>
          <a:p>
            <a:r>
              <a:rPr lang="en-IN" dirty="0"/>
              <a:t>To be creative, witty and humorous.</a:t>
            </a:r>
          </a:p>
          <a:p>
            <a:r>
              <a:rPr lang="en-IN" dirty="0"/>
              <a:t>To avoid great expectations from yourself as a speaker; avoid being panicky or nervous</a:t>
            </a:r>
          </a:p>
          <a:p>
            <a:r>
              <a:rPr lang="en-IN" dirty="0"/>
              <a:t>To establish eye contact and begin with a smile</a:t>
            </a:r>
          </a:p>
          <a:p>
            <a:r>
              <a:rPr lang="en-IN" dirty="0"/>
              <a:t>To manage your time well</a:t>
            </a:r>
          </a:p>
          <a:p>
            <a:r>
              <a:rPr lang="en-IN" dirty="0"/>
              <a:t>To thank at the end</a:t>
            </a:r>
          </a:p>
        </p:txBody>
      </p:sp>
    </p:spTree>
    <p:extLst>
      <p:ext uri="{BB962C8B-B14F-4D97-AF65-F5344CB8AC3E}">
        <p14:creationId xmlns:p14="http://schemas.microsoft.com/office/powerpoint/2010/main" xmlns="" val="183216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0A66A8-F4BE-43AB-BA9D-59C104B6EAB7}"/>
              </a:ext>
            </a:extLst>
          </p:cNvPr>
          <p:cNvSpPr>
            <a:spLocks noGrp="1"/>
          </p:cNvSpPr>
          <p:nvPr>
            <p:ph type="title"/>
          </p:nvPr>
        </p:nvSpPr>
        <p:spPr/>
        <p:txBody>
          <a:bodyPr/>
          <a:lstStyle/>
          <a:p>
            <a:pPr algn="ctr"/>
            <a:r>
              <a:rPr lang="en-US" dirty="0"/>
              <a:t>Just a Minute (JAM)</a:t>
            </a:r>
            <a:endParaRPr lang="en-IN" dirty="0"/>
          </a:p>
        </p:txBody>
      </p:sp>
      <p:sp>
        <p:nvSpPr>
          <p:cNvPr id="3" name="Content Placeholder 2">
            <a:extLst>
              <a:ext uri="{FF2B5EF4-FFF2-40B4-BE49-F238E27FC236}">
                <a16:creationId xmlns:a16="http://schemas.microsoft.com/office/drawing/2014/main" xmlns="" id="{A8B65249-85B4-471C-824F-EDD2E4CDFA7C}"/>
              </a:ext>
            </a:extLst>
          </p:cNvPr>
          <p:cNvSpPr>
            <a:spLocks noGrp="1"/>
          </p:cNvSpPr>
          <p:nvPr>
            <p:ph idx="1"/>
          </p:nvPr>
        </p:nvSpPr>
        <p:spPr/>
        <p:txBody>
          <a:bodyPr/>
          <a:lstStyle/>
          <a:p>
            <a:r>
              <a:rPr lang="en-US" dirty="0"/>
              <a:t>Divide speech into three parts:</a:t>
            </a:r>
          </a:p>
          <a:p>
            <a:pPr marL="0" indent="0">
              <a:buNone/>
            </a:pPr>
            <a:r>
              <a:rPr lang="en-US" dirty="0"/>
              <a:t>1. Introduction</a:t>
            </a:r>
          </a:p>
          <a:p>
            <a:pPr marL="0" indent="0">
              <a:buNone/>
            </a:pPr>
            <a:r>
              <a:rPr lang="en-US" dirty="0"/>
              <a:t>2. Middle part(Body)</a:t>
            </a:r>
          </a:p>
          <a:p>
            <a:pPr marL="0" indent="0">
              <a:buNone/>
            </a:pPr>
            <a:r>
              <a:rPr lang="en-US" dirty="0"/>
              <a:t>3. Conclusion</a:t>
            </a:r>
            <a:endParaRPr lang="en-IN" dirty="0"/>
          </a:p>
        </p:txBody>
      </p:sp>
    </p:spTree>
    <p:extLst>
      <p:ext uri="{BB962C8B-B14F-4D97-AF65-F5344CB8AC3E}">
        <p14:creationId xmlns:p14="http://schemas.microsoft.com/office/powerpoint/2010/main" xmlns="" val="2313616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AB8148-C0DC-4323-9E8E-80D6578859A0}"/>
              </a:ext>
            </a:extLst>
          </p:cNvPr>
          <p:cNvSpPr>
            <a:spLocks noGrp="1"/>
          </p:cNvSpPr>
          <p:nvPr>
            <p:ph type="title"/>
          </p:nvPr>
        </p:nvSpPr>
        <p:spPr/>
        <p:txBody>
          <a:bodyPr/>
          <a:lstStyle/>
          <a:p>
            <a:pPr algn="ctr"/>
            <a:r>
              <a:rPr lang="en-US" dirty="0"/>
              <a:t>Introduction</a:t>
            </a:r>
            <a:br>
              <a:rPr lang="en-US" dirty="0"/>
            </a:br>
            <a:r>
              <a:rPr lang="en-US" dirty="0"/>
              <a:t>(JAM)</a:t>
            </a:r>
            <a:endParaRPr lang="en-IN" dirty="0"/>
          </a:p>
        </p:txBody>
      </p:sp>
      <p:sp>
        <p:nvSpPr>
          <p:cNvPr id="3" name="Content Placeholder 2">
            <a:extLst>
              <a:ext uri="{FF2B5EF4-FFF2-40B4-BE49-F238E27FC236}">
                <a16:creationId xmlns:a16="http://schemas.microsoft.com/office/drawing/2014/main" xmlns="" id="{5C7624AB-412F-43D5-AE19-64C55452A6BD}"/>
              </a:ext>
            </a:extLst>
          </p:cNvPr>
          <p:cNvSpPr>
            <a:spLocks noGrp="1"/>
          </p:cNvSpPr>
          <p:nvPr>
            <p:ph idx="1"/>
          </p:nvPr>
        </p:nvSpPr>
        <p:spPr/>
        <p:txBody>
          <a:bodyPr>
            <a:normAutofit/>
          </a:bodyPr>
          <a:lstStyle/>
          <a:p>
            <a:r>
              <a:rPr lang="en-US" dirty="0"/>
              <a:t>Be brief and to the point.</a:t>
            </a:r>
          </a:p>
          <a:p>
            <a:endParaRPr lang="en-US" dirty="0"/>
          </a:p>
          <a:p>
            <a:r>
              <a:rPr lang="en-US" dirty="0"/>
              <a:t>Steps:</a:t>
            </a:r>
          </a:p>
          <a:p>
            <a:pPr marL="0" indent="0">
              <a:buNone/>
            </a:pPr>
            <a:r>
              <a:rPr lang="en-US" dirty="0"/>
              <a:t>1. Greetings: Hello/Good morning/Good evening.</a:t>
            </a:r>
          </a:p>
          <a:p>
            <a:pPr marL="0" indent="0">
              <a:buNone/>
            </a:pPr>
            <a:r>
              <a:rPr lang="en-US" dirty="0"/>
              <a:t>2. My name is/ I am ………………. ( Do not say: </a:t>
            </a:r>
            <a:r>
              <a:rPr lang="en-US" dirty="0">
                <a:highlight>
                  <a:srgbClr val="FF0000"/>
                </a:highlight>
              </a:rPr>
              <a:t>Myself </a:t>
            </a:r>
            <a:r>
              <a:rPr lang="en-US" dirty="0"/>
              <a:t>……………..)</a:t>
            </a:r>
          </a:p>
          <a:p>
            <a:pPr marL="0" indent="0">
              <a:buNone/>
            </a:pPr>
            <a:r>
              <a:rPr lang="en-US" dirty="0"/>
              <a:t>3. I am going to present my views on the topic, “………………………”</a:t>
            </a:r>
          </a:p>
        </p:txBody>
      </p:sp>
    </p:spTree>
    <p:extLst>
      <p:ext uri="{BB962C8B-B14F-4D97-AF65-F5344CB8AC3E}">
        <p14:creationId xmlns:p14="http://schemas.microsoft.com/office/powerpoint/2010/main" xmlns="" val="3046968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224F7E-9C10-2C77-3525-1C8C08B8B557}"/>
              </a:ext>
            </a:extLst>
          </p:cNvPr>
          <p:cNvSpPr>
            <a:spLocks noGrp="1"/>
          </p:cNvSpPr>
          <p:nvPr>
            <p:ph type="title"/>
          </p:nvPr>
        </p:nvSpPr>
        <p:spPr/>
        <p:txBody>
          <a:bodyPr/>
          <a:lstStyle/>
          <a:p>
            <a:pPr algn="ctr"/>
            <a:r>
              <a:rPr lang="en-US" dirty="0"/>
              <a:t>Avoid saying</a:t>
            </a:r>
            <a:br>
              <a:rPr lang="en-US" dirty="0"/>
            </a:br>
            <a:endParaRPr lang="en-IN" dirty="0"/>
          </a:p>
        </p:txBody>
      </p:sp>
      <p:sp>
        <p:nvSpPr>
          <p:cNvPr id="3" name="Content Placeholder 2">
            <a:extLst>
              <a:ext uri="{FF2B5EF4-FFF2-40B4-BE49-F238E27FC236}">
                <a16:creationId xmlns:a16="http://schemas.microsoft.com/office/drawing/2014/main" xmlns="" id="{86E7A54B-88EC-9328-D999-10D48C2D10FD}"/>
              </a:ext>
            </a:extLst>
          </p:cNvPr>
          <p:cNvSpPr>
            <a:spLocks noGrp="1"/>
          </p:cNvSpPr>
          <p:nvPr>
            <p:ph idx="1"/>
          </p:nvPr>
        </p:nvSpPr>
        <p:spPr/>
        <p:txBody>
          <a:bodyPr/>
          <a:lstStyle/>
          <a:p>
            <a:r>
              <a:rPr lang="en-US" dirty="0"/>
              <a:t>I am happy to get the opportunity to speak in front of you.</a:t>
            </a:r>
          </a:p>
          <a:p>
            <a:r>
              <a:rPr lang="en-US" dirty="0"/>
              <a:t>My warmest regards to the teacher who has given me this opportunity to share my views before you all.</a:t>
            </a:r>
            <a:endParaRPr lang="en-IN" dirty="0"/>
          </a:p>
          <a:p>
            <a:endParaRPr lang="en-IN" dirty="0"/>
          </a:p>
        </p:txBody>
      </p:sp>
    </p:spTree>
    <p:extLst>
      <p:ext uri="{BB962C8B-B14F-4D97-AF65-F5344CB8AC3E}">
        <p14:creationId xmlns:p14="http://schemas.microsoft.com/office/powerpoint/2010/main" xmlns="" val="9288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7DB659-6FAD-4E1F-9526-A98ECB301EE1}"/>
              </a:ext>
            </a:extLst>
          </p:cNvPr>
          <p:cNvSpPr>
            <a:spLocks noGrp="1"/>
          </p:cNvSpPr>
          <p:nvPr>
            <p:ph type="title"/>
          </p:nvPr>
        </p:nvSpPr>
        <p:spPr/>
        <p:txBody>
          <a:bodyPr/>
          <a:lstStyle/>
          <a:p>
            <a:pPr algn="ctr"/>
            <a:r>
              <a:rPr lang="en-US" dirty="0"/>
              <a:t>Main body</a:t>
            </a:r>
            <a:endParaRPr lang="en-IN" dirty="0"/>
          </a:p>
        </p:txBody>
      </p:sp>
      <p:sp>
        <p:nvSpPr>
          <p:cNvPr id="3" name="Content Placeholder 2">
            <a:extLst>
              <a:ext uri="{FF2B5EF4-FFF2-40B4-BE49-F238E27FC236}">
                <a16:creationId xmlns:a16="http://schemas.microsoft.com/office/drawing/2014/main" xmlns="" id="{94B22662-6DF3-43CA-BED4-03839D8F4372}"/>
              </a:ext>
            </a:extLst>
          </p:cNvPr>
          <p:cNvSpPr>
            <a:spLocks noGrp="1"/>
          </p:cNvSpPr>
          <p:nvPr>
            <p:ph idx="1"/>
          </p:nvPr>
        </p:nvSpPr>
        <p:spPr>
          <a:xfrm>
            <a:off x="1212112" y="1825625"/>
            <a:ext cx="10141688" cy="4351338"/>
          </a:xfrm>
        </p:spPr>
        <p:txBody>
          <a:bodyPr>
            <a:normAutofit/>
          </a:bodyPr>
          <a:lstStyle/>
          <a:p>
            <a:pPr marL="0" indent="0">
              <a:buNone/>
            </a:pPr>
            <a:r>
              <a:rPr lang="en-US" dirty="0"/>
              <a:t>1. State your viewpoint</a:t>
            </a:r>
          </a:p>
          <a:p>
            <a:r>
              <a:rPr lang="en-US" dirty="0"/>
              <a:t>In my opinion, …………….</a:t>
            </a:r>
          </a:p>
          <a:p>
            <a:r>
              <a:rPr lang="en-US" dirty="0"/>
              <a:t>I believe,……………..</a:t>
            </a:r>
          </a:p>
          <a:p>
            <a:r>
              <a:rPr lang="en-US" dirty="0"/>
              <a:t>I suggest, ……………………</a:t>
            </a:r>
          </a:p>
          <a:p>
            <a:pPr marL="0" indent="0">
              <a:buNone/>
            </a:pPr>
            <a:endParaRPr lang="en-US" dirty="0"/>
          </a:p>
          <a:p>
            <a:pPr marL="0" indent="0">
              <a:buNone/>
            </a:pPr>
            <a:r>
              <a:rPr lang="en-US" dirty="0"/>
              <a:t>2. State the source of your information if any.</a:t>
            </a:r>
          </a:p>
          <a:p>
            <a:r>
              <a:rPr lang="en-US" dirty="0"/>
              <a:t>Plagiarism/ Copy-Paste: Academic integrity/ Intellectual theft</a:t>
            </a:r>
          </a:p>
        </p:txBody>
      </p:sp>
    </p:spTree>
    <p:extLst>
      <p:ext uri="{BB962C8B-B14F-4D97-AF65-F5344CB8AC3E}">
        <p14:creationId xmlns:p14="http://schemas.microsoft.com/office/powerpoint/2010/main" xmlns="" val="2963991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22D410-D9CE-D124-6601-BA3BEF923951}"/>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xmlns="" id="{9AEDEC5F-31D8-E1C7-7F75-29D4C0B8F927}"/>
              </a:ext>
            </a:extLst>
          </p:cNvPr>
          <p:cNvSpPr>
            <a:spLocks noGrp="1"/>
          </p:cNvSpPr>
          <p:nvPr>
            <p:ph idx="1"/>
          </p:nvPr>
        </p:nvSpPr>
        <p:spPr/>
        <p:txBody>
          <a:bodyPr/>
          <a:lstStyle/>
          <a:p>
            <a:r>
              <a:rPr lang="en-IN" dirty="0"/>
              <a:t>Summarise and then end</a:t>
            </a:r>
          </a:p>
          <a:p>
            <a:endParaRPr lang="en-IN" dirty="0"/>
          </a:p>
          <a:p>
            <a:r>
              <a:rPr lang="en-IN" dirty="0"/>
              <a:t> Useful phrases:</a:t>
            </a:r>
          </a:p>
          <a:p>
            <a:r>
              <a:rPr lang="en-IN" dirty="0"/>
              <a:t>To sum up, finally, I conclude.</a:t>
            </a:r>
          </a:p>
        </p:txBody>
      </p:sp>
    </p:spTree>
    <p:extLst>
      <p:ext uri="{BB962C8B-B14F-4D97-AF65-F5344CB8AC3E}">
        <p14:creationId xmlns:p14="http://schemas.microsoft.com/office/powerpoint/2010/main" xmlns="" val="2431330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32BC02-C206-4BD1-ADC2-6CA1F411768D}"/>
              </a:ext>
            </a:extLst>
          </p:cNvPr>
          <p:cNvSpPr>
            <a:spLocks noGrp="1"/>
          </p:cNvSpPr>
          <p:nvPr>
            <p:ph type="title"/>
          </p:nvPr>
        </p:nvSpPr>
        <p:spPr>
          <a:xfrm>
            <a:off x="618067" y="68793"/>
            <a:ext cx="10515600" cy="303740"/>
          </a:xfrm>
        </p:spPr>
        <p:txBody>
          <a:bodyPr>
            <a:normAutofit fontScale="90000"/>
          </a:bodyPr>
          <a:lstStyle/>
          <a:p>
            <a:r>
              <a:rPr lang="en-US" dirty="0"/>
              <a:t/>
            </a:r>
            <a:br>
              <a:rPr lang="en-US" dirty="0"/>
            </a:br>
            <a:r>
              <a:rPr lang="en-US" sz="3100" dirty="0"/>
              <a:t>Topic: The Effect of Social Media on Youth</a:t>
            </a:r>
            <a:endParaRPr lang="en-IN" sz="3100" dirty="0"/>
          </a:p>
        </p:txBody>
      </p:sp>
      <p:sp>
        <p:nvSpPr>
          <p:cNvPr id="3" name="Content Placeholder 2">
            <a:extLst>
              <a:ext uri="{FF2B5EF4-FFF2-40B4-BE49-F238E27FC236}">
                <a16:creationId xmlns:a16="http://schemas.microsoft.com/office/drawing/2014/main" xmlns="" id="{5066281A-B629-4C5B-BE1B-18F5DFA6CAA4}"/>
              </a:ext>
            </a:extLst>
          </p:cNvPr>
          <p:cNvSpPr>
            <a:spLocks noGrp="1"/>
          </p:cNvSpPr>
          <p:nvPr>
            <p:ph idx="1"/>
          </p:nvPr>
        </p:nvSpPr>
        <p:spPr>
          <a:xfrm>
            <a:off x="838200" y="719666"/>
            <a:ext cx="10515600" cy="6138333"/>
          </a:xfrm>
        </p:spPr>
        <p:txBody>
          <a:bodyPr>
            <a:normAutofit/>
          </a:bodyPr>
          <a:lstStyle/>
          <a:p>
            <a:r>
              <a:rPr lang="en-US" dirty="0"/>
              <a:t>Social media has connected people globally. </a:t>
            </a:r>
          </a:p>
          <a:p>
            <a:r>
              <a:rPr lang="en-US" dirty="0"/>
              <a:t>However, with the rise in social media users. The three severe impacts that I notice are:</a:t>
            </a:r>
          </a:p>
          <a:p>
            <a:r>
              <a:rPr lang="en-US" dirty="0"/>
              <a:t> First, Psychological impact: The attractive features of social media distract the youth from focusing on their important activities leading to social media addiction.</a:t>
            </a:r>
          </a:p>
          <a:p>
            <a:r>
              <a:rPr lang="en-US" dirty="0"/>
              <a:t>Second, Medical concerns (physical): The ability to network and connect far and wide hooks the users for long hours resulting in health concerns such as insomnia, headache, and other sleep disorders.</a:t>
            </a:r>
          </a:p>
          <a:p>
            <a:r>
              <a:rPr lang="en-US" dirty="0"/>
              <a:t>And the third, the fake virtual relationships: Spending more time on virtual relations has widened the gap in real-life relationships. </a:t>
            </a:r>
            <a:endParaRPr lang="en-IN" dirty="0"/>
          </a:p>
        </p:txBody>
      </p:sp>
    </p:spTree>
    <p:extLst>
      <p:ext uri="{BB962C8B-B14F-4D97-AF65-F5344CB8AC3E}">
        <p14:creationId xmlns:p14="http://schemas.microsoft.com/office/powerpoint/2010/main" xmlns="" val="2401277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DCE66-744F-47B7-936C-FD3785B54687}"/>
              </a:ext>
            </a:extLst>
          </p:cNvPr>
          <p:cNvSpPr>
            <a:spLocks noGrp="1"/>
          </p:cNvSpPr>
          <p:nvPr>
            <p:ph type="title"/>
          </p:nvPr>
        </p:nvSpPr>
        <p:spPr/>
        <p:txBody>
          <a:bodyPr/>
          <a:lstStyle/>
          <a:p>
            <a:pPr algn="ctr"/>
            <a:r>
              <a:rPr lang="en-US" dirty="0"/>
              <a:t>Conclusion</a:t>
            </a:r>
            <a:endParaRPr lang="en-IN" dirty="0"/>
          </a:p>
        </p:txBody>
      </p:sp>
      <p:sp>
        <p:nvSpPr>
          <p:cNvPr id="3" name="Content Placeholder 2">
            <a:extLst>
              <a:ext uri="{FF2B5EF4-FFF2-40B4-BE49-F238E27FC236}">
                <a16:creationId xmlns:a16="http://schemas.microsoft.com/office/drawing/2014/main" xmlns="" id="{29F50133-6292-4D8C-BB1D-1235629CFCDF}"/>
              </a:ext>
            </a:extLst>
          </p:cNvPr>
          <p:cNvSpPr>
            <a:spLocks noGrp="1"/>
          </p:cNvSpPr>
          <p:nvPr>
            <p:ph idx="1"/>
          </p:nvPr>
        </p:nvSpPr>
        <p:spPr/>
        <p:txBody>
          <a:bodyPr/>
          <a:lstStyle/>
          <a:p>
            <a:pPr marL="0" indent="0">
              <a:buNone/>
            </a:pPr>
            <a:r>
              <a:rPr lang="en-US" dirty="0"/>
              <a:t>Taking account of the three effects of social media platforms, it can be safely concluded that the youth should be judicious and discreet in their use of the various social media platforms. (113 words)</a:t>
            </a:r>
          </a:p>
          <a:p>
            <a:endParaRPr lang="en-US" dirty="0"/>
          </a:p>
          <a:p>
            <a:endParaRPr lang="en-IN" dirty="0"/>
          </a:p>
          <a:p>
            <a:endParaRPr lang="en-IN" dirty="0"/>
          </a:p>
        </p:txBody>
      </p:sp>
    </p:spTree>
    <p:extLst>
      <p:ext uri="{BB962C8B-B14F-4D97-AF65-F5344CB8AC3E}">
        <p14:creationId xmlns:p14="http://schemas.microsoft.com/office/powerpoint/2010/main" xmlns="" val="470120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D2F0D92-73FA-6A84-8EFE-8B24E7AD5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1B6026C-5D12-8847-FCBE-2CA5C3229D33}"/>
              </a:ext>
            </a:extLst>
          </p:cNvPr>
          <p:cNvSpPr>
            <a:spLocks noGrp="1"/>
          </p:cNvSpPr>
          <p:nvPr>
            <p:ph type="title"/>
          </p:nvPr>
        </p:nvSpPr>
        <p:spPr/>
        <p:txBody>
          <a:bodyPr/>
          <a:lstStyle/>
          <a:p>
            <a:pPr algn="ctr"/>
            <a:r>
              <a:rPr lang="en-IN" dirty="0"/>
              <a:t> JAM SESSION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84A9D7F-1079-D439-098B-982CC2AD1140}"/>
              </a:ext>
            </a:extLst>
          </p:cNvPr>
          <p:cNvSpPr>
            <a:spLocks noGrp="1"/>
          </p:cNvSpPr>
          <p:nvPr>
            <p:ph idx="1"/>
          </p:nvPr>
        </p:nvSpPr>
        <p:spPr/>
        <p:txBody>
          <a:bodyPr>
            <a:normAutofit/>
          </a:bodyPr>
          <a:lstStyle/>
          <a:p>
            <a:pPr marL="0" indent="0">
              <a:lnSpc>
                <a:spcPct val="107000"/>
              </a:lnSpc>
              <a:spcAft>
                <a:spcPts val="800"/>
              </a:spcAft>
              <a:buNone/>
            </a:pPr>
            <a:r>
              <a:rPr lang="en-IN" sz="4000" dirty="0">
                <a:latin typeface="Times New Roman" panose="02020603050405020304" pitchFamily="18" charset="0"/>
                <a:ea typeface="Calibri" panose="020F0502020204030204" pitchFamily="34" charset="0"/>
                <a:cs typeface="Times New Roman" panose="02020603050405020304" pitchFamily="18" charset="0"/>
              </a:rPr>
              <a:t>Q. </a:t>
            </a:r>
            <a:r>
              <a:rPr lang="en-US" sz="4000" dirty="0">
                <a:latin typeface="Times New Roman" panose="02020603050405020304" pitchFamily="18" charset="0"/>
                <a:ea typeface="Calibri" panose="020F0502020204030204" pitchFamily="34" charset="0"/>
                <a:cs typeface="Times New Roman" panose="02020603050405020304" pitchFamily="18" charset="0"/>
              </a:rPr>
              <a:t>Steve Jobs’ Stanford Commencement speech is widely admired. What aspects of the speech inspire you, and why?</a:t>
            </a:r>
            <a:endParaRPr lang="en-IN" sz="4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4000" b="1"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4000" b="1" dirty="0">
                <a:latin typeface="Times New Roman" panose="02020603050405020304" pitchFamily="18" charset="0"/>
                <a:ea typeface="Calibri" panose="020F0502020204030204" pitchFamily="34" charset="0"/>
                <a:cs typeface="Times New Roman" panose="02020603050405020304" pitchFamily="18" charset="0"/>
              </a:rPr>
              <a:t>https://youtu.be/D1R-jKKp3NA</a:t>
            </a:r>
          </a:p>
          <a:p>
            <a:pPr marL="0" indent="0">
              <a:lnSpc>
                <a:spcPct val="107000"/>
              </a:lnSpc>
              <a:spcAft>
                <a:spcPts val="800"/>
              </a:spcAft>
              <a:buNone/>
            </a:pPr>
            <a:endParaRPr lang="en-IN" sz="4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2800" dirty="0"/>
          </a:p>
          <a:p>
            <a:pPr marL="0" indent="0">
              <a:lnSpc>
                <a:spcPct val="107000"/>
              </a:lnSpc>
              <a:spcAft>
                <a:spcPts val="800"/>
              </a:spcAft>
              <a:buNone/>
            </a:pPr>
            <a:endParaRPr lang="en-IN" sz="4000" b="1"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xmlns="" val="151352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F1C27D-3FA0-97A1-278C-609D7025ABEA}"/>
              </a:ext>
            </a:extLst>
          </p:cNvPr>
          <p:cNvSpPr>
            <a:spLocks noGrp="1"/>
          </p:cNvSpPr>
          <p:nvPr>
            <p:ph type="title"/>
          </p:nvPr>
        </p:nvSpPr>
        <p:spPr>
          <a:xfrm>
            <a:off x="838200" y="365125"/>
            <a:ext cx="10515600" cy="473075"/>
          </a:xfrm>
        </p:spPr>
        <p:txBody>
          <a:bodyPr>
            <a:noAutofit/>
          </a:bodyPr>
          <a:lstStyle/>
          <a:p>
            <a:pPr algn="ctr"/>
            <a:r>
              <a:rPr lang="en-US" sz="3200" dirty="0"/>
              <a:t>Speak for a minute on any of the given sentences</a:t>
            </a:r>
            <a:endParaRPr lang="en-IN" sz="3200" dirty="0"/>
          </a:p>
        </p:txBody>
      </p:sp>
      <p:sp>
        <p:nvSpPr>
          <p:cNvPr id="3" name="Content Placeholder 2">
            <a:extLst>
              <a:ext uri="{FF2B5EF4-FFF2-40B4-BE49-F238E27FC236}">
                <a16:creationId xmlns:a16="http://schemas.microsoft.com/office/drawing/2014/main" xmlns="" id="{209E2B0E-10D3-826F-580C-E65B4BB3F350}"/>
              </a:ext>
            </a:extLst>
          </p:cNvPr>
          <p:cNvSpPr>
            <a:spLocks noGrp="1"/>
          </p:cNvSpPr>
          <p:nvPr>
            <p:ph idx="1"/>
          </p:nvPr>
        </p:nvSpPr>
        <p:spPr>
          <a:xfrm>
            <a:off x="838200" y="990600"/>
            <a:ext cx="10515600" cy="5186363"/>
          </a:xfrm>
        </p:spPr>
        <p:txBody>
          <a:bodyPr/>
          <a:lstStyle/>
          <a:p>
            <a:pPr marL="514350" indent="-514350">
              <a:buFont typeface="+mj-lt"/>
              <a:buAutoNum type="arabicPeriod"/>
            </a:pPr>
            <a:r>
              <a:rPr lang="en-US" dirty="0"/>
              <a:t>The Sky is blue</a:t>
            </a:r>
          </a:p>
          <a:p>
            <a:pPr marL="514350" indent="-514350">
              <a:buFont typeface="+mj-lt"/>
              <a:buAutoNum type="arabicPeriod"/>
            </a:pPr>
            <a:r>
              <a:rPr lang="en-US" dirty="0"/>
              <a:t>The height of success</a:t>
            </a:r>
          </a:p>
          <a:p>
            <a:pPr marL="514350" indent="-514350">
              <a:buFont typeface="+mj-lt"/>
              <a:buAutoNum type="arabicPeriod"/>
            </a:pPr>
            <a:r>
              <a:rPr lang="en-US" dirty="0"/>
              <a:t>The ceiling is very high</a:t>
            </a:r>
          </a:p>
          <a:p>
            <a:pPr marL="514350" indent="-514350">
              <a:buFont typeface="+mj-lt"/>
              <a:buAutoNum type="arabicPeriod"/>
            </a:pPr>
            <a:r>
              <a:rPr lang="en-US" dirty="0"/>
              <a:t>Bicycling underwater is fun</a:t>
            </a:r>
          </a:p>
          <a:p>
            <a:pPr marL="514350" indent="-514350">
              <a:buFont typeface="+mj-lt"/>
              <a:buAutoNum type="arabicPeriod"/>
            </a:pPr>
            <a:r>
              <a:rPr lang="en-US" dirty="0"/>
              <a:t>Classes are not to be attended</a:t>
            </a:r>
          </a:p>
          <a:p>
            <a:pPr marL="514350" indent="-514350">
              <a:buFont typeface="+mj-lt"/>
              <a:buAutoNum type="arabicPeriod"/>
            </a:pPr>
            <a:r>
              <a:rPr lang="en-US" dirty="0"/>
              <a:t>It is fun to fail</a:t>
            </a:r>
          </a:p>
          <a:p>
            <a:pPr marL="514350" indent="-514350">
              <a:buFont typeface="+mj-lt"/>
              <a:buAutoNum type="arabicPeriod"/>
            </a:pPr>
            <a:r>
              <a:rPr lang="en-US" dirty="0"/>
              <a:t>Among the stars</a:t>
            </a:r>
          </a:p>
          <a:p>
            <a:pPr marL="514350" indent="-514350">
              <a:buFont typeface="+mj-lt"/>
              <a:buAutoNum type="arabicPeriod"/>
            </a:pPr>
            <a:r>
              <a:rPr lang="en-US" dirty="0"/>
              <a:t>Children are mean</a:t>
            </a:r>
          </a:p>
          <a:p>
            <a:pPr marL="514350" indent="-514350">
              <a:buFont typeface="+mj-lt"/>
              <a:buAutoNum type="arabicPeriod"/>
            </a:pPr>
            <a:r>
              <a:rPr lang="en-US" dirty="0"/>
              <a:t> The blackboard is digital</a:t>
            </a:r>
          </a:p>
          <a:p>
            <a:pPr marL="514350" indent="-514350">
              <a:buFont typeface="+mj-lt"/>
              <a:buAutoNum type="arabicPeriod"/>
            </a:pPr>
            <a:r>
              <a:rPr lang="en-US" dirty="0"/>
              <a:t>My </a:t>
            </a:r>
            <a:r>
              <a:rPr lang="en-US"/>
              <a:t>useless fridge</a:t>
            </a: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xmlns="" val="3097968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F36683-48A5-4B06-A37E-B58FD2C81288}"/>
              </a:ext>
            </a:extLst>
          </p:cNvPr>
          <p:cNvSpPr>
            <a:spLocks noGrp="1"/>
          </p:cNvSpPr>
          <p:nvPr>
            <p:ph type="title"/>
          </p:nvPr>
        </p:nvSpPr>
        <p:spPr/>
        <p:txBody>
          <a:bodyPr/>
          <a:lstStyle/>
          <a:p>
            <a:pPr algn="ctr"/>
            <a:r>
              <a:rPr lang="en-IN" dirty="0"/>
              <a:t> JAM SESSION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46E0D4CE-6EB1-47E0-94F0-C5703BE32215}"/>
              </a:ext>
            </a:extLst>
          </p:cNvPr>
          <p:cNvSpPr>
            <a:spLocks noGrp="1"/>
          </p:cNvSpPr>
          <p:nvPr>
            <p:ph idx="1"/>
          </p:nvPr>
        </p:nvSpPr>
        <p:spPr/>
        <p:txBody>
          <a:bodyPr>
            <a:normAutofit/>
          </a:bodyPr>
          <a:lstStyle/>
          <a:p>
            <a:pPr marL="0" indent="0">
              <a:lnSpc>
                <a:spcPct val="107000"/>
              </a:lnSpc>
              <a:spcAft>
                <a:spcPts val="800"/>
              </a:spcAft>
              <a:buNone/>
            </a:pPr>
            <a:r>
              <a:rPr lang="en-IN" sz="4000" dirty="0">
                <a:latin typeface="Times New Roman" panose="02020603050405020304" pitchFamily="18" charset="0"/>
                <a:ea typeface="Calibri" panose="020F0502020204030204" pitchFamily="34" charset="0"/>
                <a:cs typeface="Times New Roman" panose="02020603050405020304" pitchFamily="18" charset="0"/>
              </a:rPr>
              <a:t>Q. Emma Watson’s “He for She” campaign speech is forceful</a:t>
            </a:r>
            <a:r>
              <a:rPr lang="en-IN" sz="4000" b="1" dirty="0">
                <a:effectLst/>
                <a:latin typeface="Times New Roman" panose="02020603050405020304" pitchFamily="18" charset="0"/>
                <a:ea typeface="Calibri" panose="020F0502020204030204" pitchFamily="34" charset="0"/>
                <a:cs typeface="Times New Roman" panose="02020603050405020304" pitchFamily="18" charset="0"/>
              </a:rPr>
              <a:t>? Share your views on it.</a:t>
            </a:r>
          </a:p>
          <a:p>
            <a:pPr marL="0" indent="0">
              <a:lnSpc>
                <a:spcPct val="107000"/>
              </a:lnSpc>
              <a:spcAft>
                <a:spcPts val="800"/>
              </a:spcAft>
              <a:buNone/>
            </a:pPr>
            <a:endParaRPr lang="en-IN" sz="4000" b="1"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4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2800" dirty="0"/>
          </a:p>
          <a:p>
            <a:pPr marL="0" indent="0">
              <a:lnSpc>
                <a:spcPct val="107000"/>
              </a:lnSpc>
              <a:spcAft>
                <a:spcPts val="800"/>
              </a:spcAft>
              <a:buNone/>
            </a:pPr>
            <a:endParaRPr lang="en-IN" sz="4000" b="1"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xmlns="" val="1035600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1F0E33-8A02-BE8D-1D1D-452053AC653E}"/>
              </a:ext>
            </a:extLst>
          </p:cNvPr>
          <p:cNvSpPr>
            <a:spLocks noGrp="1"/>
          </p:cNvSpPr>
          <p:nvPr>
            <p:ph type="title"/>
          </p:nvPr>
        </p:nvSpPr>
        <p:spPr>
          <a:xfrm>
            <a:off x="838200" y="0"/>
            <a:ext cx="10515600" cy="389467"/>
          </a:xfrm>
        </p:spPr>
        <p:txBody>
          <a:bodyPr>
            <a:noAutofit/>
          </a:bodyPr>
          <a:lstStyle/>
          <a:p>
            <a:pPr algn="ctr"/>
            <a:r>
              <a:rPr lang="en-US" sz="3600" dirty="0"/>
              <a:t>Just a Minute (JAM) Topics</a:t>
            </a:r>
            <a:endParaRPr lang="en-IN" sz="3600" dirty="0"/>
          </a:p>
        </p:txBody>
      </p:sp>
      <p:sp>
        <p:nvSpPr>
          <p:cNvPr id="3" name="Content Placeholder 2">
            <a:extLst>
              <a:ext uri="{FF2B5EF4-FFF2-40B4-BE49-F238E27FC236}">
                <a16:creationId xmlns:a16="http://schemas.microsoft.com/office/drawing/2014/main" xmlns="" id="{80C45ED1-D349-C514-EC24-7D0682BF8F7A}"/>
              </a:ext>
            </a:extLst>
          </p:cNvPr>
          <p:cNvSpPr>
            <a:spLocks noGrp="1"/>
          </p:cNvSpPr>
          <p:nvPr>
            <p:ph idx="1"/>
          </p:nvPr>
        </p:nvSpPr>
        <p:spPr>
          <a:xfrm>
            <a:off x="177799" y="389468"/>
            <a:ext cx="11895667" cy="6570132"/>
          </a:xfrm>
        </p:spPr>
        <p:txBody>
          <a:bodyPr>
            <a:normAutofit fontScale="70000" lnSpcReduction="20000"/>
          </a:bodyPr>
          <a:lstStyle/>
          <a:p>
            <a:pPr marL="0" indent="0">
              <a:buNone/>
            </a:pPr>
            <a:r>
              <a:rPr lang="en-US" dirty="0"/>
              <a:t>1. If I could travel anywhere in the world, I would go to...</a:t>
            </a:r>
          </a:p>
          <a:p>
            <a:pPr marL="0" indent="0">
              <a:buNone/>
            </a:pPr>
            <a:r>
              <a:rPr lang="en-US" dirty="0"/>
              <a:t>2. My favorite hobby and why I love it.</a:t>
            </a:r>
          </a:p>
          <a:p>
            <a:pPr marL="0" indent="0">
              <a:buNone/>
            </a:pPr>
            <a:r>
              <a:rPr lang="en-US" dirty="0"/>
              <a:t>3. The best thing that has happened to me this week.</a:t>
            </a:r>
          </a:p>
          <a:p>
            <a:pPr marL="0" indent="0">
              <a:buNone/>
            </a:pPr>
            <a:r>
              <a:rPr lang="en-US" dirty="0"/>
              <a:t>4. If I could have dinner with any historical figure, it would be...</a:t>
            </a:r>
          </a:p>
          <a:p>
            <a:pPr marL="0" indent="0">
              <a:buNone/>
            </a:pPr>
            <a:r>
              <a:rPr lang="en-US" dirty="0"/>
              <a:t>5. A person who inspires me and why.</a:t>
            </a:r>
          </a:p>
          <a:p>
            <a:pPr marL="0" indent="0">
              <a:buNone/>
            </a:pPr>
            <a:r>
              <a:rPr lang="en-US" dirty="0"/>
              <a:t>6. My biggest achievement and what I learned from it.</a:t>
            </a:r>
          </a:p>
          <a:p>
            <a:pPr marL="0" indent="0">
              <a:buNone/>
            </a:pPr>
            <a:r>
              <a:rPr lang="en-US" dirty="0"/>
              <a:t>7. If I could switch lives with someone for a day, it would be...</a:t>
            </a:r>
          </a:p>
          <a:p>
            <a:pPr marL="0" indent="0">
              <a:buNone/>
            </a:pPr>
            <a:r>
              <a:rPr lang="en-US" dirty="0"/>
              <a:t>8. What I hope to achieve in the next 5 years.</a:t>
            </a:r>
          </a:p>
          <a:p>
            <a:pPr marL="0" indent="0">
              <a:buNone/>
            </a:pPr>
            <a:r>
              <a:rPr lang="en-US" dirty="0"/>
              <a:t>9. A quote that motivates me and why.</a:t>
            </a:r>
          </a:p>
          <a:p>
            <a:pPr marL="0" indent="0">
              <a:buNone/>
            </a:pPr>
            <a:r>
              <a:rPr lang="en-US" dirty="0"/>
              <a:t>10. What I am looking forward to learning in my upcoming semesters.</a:t>
            </a:r>
          </a:p>
          <a:p>
            <a:pPr marL="0" indent="0">
              <a:buNone/>
            </a:pPr>
            <a:r>
              <a:rPr lang="en-US" dirty="0"/>
              <a:t>11. My favorite programming language and why.</a:t>
            </a:r>
          </a:p>
          <a:p>
            <a:pPr marL="0" indent="0">
              <a:buNone/>
            </a:pPr>
            <a:r>
              <a:rPr lang="en-US" dirty="0"/>
              <a:t>12. How I think technology can solve a real-world problem.</a:t>
            </a:r>
          </a:p>
          <a:p>
            <a:pPr marL="0" indent="0">
              <a:buNone/>
            </a:pPr>
            <a:r>
              <a:rPr lang="en-US" dirty="0"/>
              <a:t>13. What I have learned from my first year of engineering so far.</a:t>
            </a:r>
          </a:p>
          <a:p>
            <a:pPr marL="0" indent="0">
              <a:buNone/>
            </a:pPr>
            <a:r>
              <a:rPr lang="en-US" dirty="0"/>
              <a:t>14. A recent innovation that excites me and why.</a:t>
            </a:r>
          </a:p>
          <a:p>
            <a:pPr marL="0" indent="0">
              <a:buNone/>
            </a:pPr>
            <a:r>
              <a:rPr lang="en-US" dirty="0"/>
              <a:t>15. If I could invent something new, it would be...</a:t>
            </a:r>
          </a:p>
          <a:p>
            <a:pPr marL="0" indent="0">
              <a:buNone/>
            </a:pPr>
            <a:r>
              <a:rPr lang="en-US" dirty="0"/>
              <a:t>16. My dream project and how I would make it happen.</a:t>
            </a:r>
          </a:p>
          <a:p>
            <a:pPr marL="0" indent="0">
              <a:buNone/>
            </a:pPr>
            <a:r>
              <a:rPr lang="en-US" dirty="0"/>
              <a:t>17. If I could be any type of engineer, I would be...</a:t>
            </a:r>
          </a:p>
          <a:p>
            <a:pPr marL="0" indent="0">
              <a:buNone/>
            </a:pPr>
            <a:r>
              <a:rPr lang="en-US" dirty="0"/>
              <a:t>18. A futuristic city I would love to design and why.</a:t>
            </a:r>
          </a:p>
          <a:p>
            <a:pPr marL="0" indent="0">
              <a:buNone/>
            </a:pPr>
            <a:r>
              <a:rPr lang="en-US" dirty="0"/>
              <a:t>19. If I could create a new sustainable energy source, I would...</a:t>
            </a:r>
            <a:endParaRPr lang="en-IN" dirty="0"/>
          </a:p>
        </p:txBody>
      </p:sp>
    </p:spTree>
    <p:extLst>
      <p:ext uri="{BB962C8B-B14F-4D97-AF65-F5344CB8AC3E}">
        <p14:creationId xmlns:p14="http://schemas.microsoft.com/office/powerpoint/2010/main" xmlns="" val="4120514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985E53-7E7A-4987-8EA2-B05C56F8A943}"/>
              </a:ext>
            </a:extLst>
          </p:cNvPr>
          <p:cNvSpPr>
            <a:spLocks noGrp="1"/>
          </p:cNvSpPr>
          <p:nvPr>
            <p:ph type="title"/>
          </p:nvPr>
        </p:nvSpPr>
        <p:spPr/>
        <p:txBody>
          <a:bodyPr/>
          <a:lstStyle/>
          <a:p>
            <a:pPr algn="ctr"/>
            <a:r>
              <a:rPr lang="en-US" dirty="0"/>
              <a:t>Elevator Speech</a:t>
            </a:r>
            <a:endParaRPr lang="en-IN" dirty="0"/>
          </a:p>
        </p:txBody>
      </p:sp>
      <p:sp>
        <p:nvSpPr>
          <p:cNvPr id="3" name="Content Placeholder 2">
            <a:extLst>
              <a:ext uri="{FF2B5EF4-FFF2-40B4-BE49-F238E27FC236}">
                <a16:creationId xmlns:a16="http://schemas.microsoft.com/office/drawing/2014/main" xmlns="" id="{3CF71473-BA08-4855-BE7A-CB3C5C4C6DD7}"/>
              </a:ext>
            </a:extLst>
          </p:cNvPr>
          <p:cNvSpPr>
            <a:spLocks noGrp="1"/>
          </p:cNvSpPr>
          <p:nvPr>
            <p:ph idx="1"/>
          </p:nvPr>
        </p:nvSpPr>
        <p:spPr/>
        <p:txBody>
          <a:bodyPr/>
          <a:lstStyle/>
          <a:p>
            <a:r>
              <a:rPr lang="en-US" dirty="0"/>
              <a:t>A small talk in a workplace that helps in building connections. (Time span in between 30-90 seconds)</a:t>
            </a:r>
          </a:p>
          <a:p>
            <a:pPr lvl="1">
              <a:buFont typeface="Wingdings" panose="05000000000000000000" pitchFamily="2" charset="2"/>
              <a:buChar char="Ø"/>
            </a:pPr>
            <a:r>
              <a:rPr lang="en-US" dirty="0"/>
              <a:t>Introduce yourself</a:t>
            </a:r>
          </a:p>
          <a:p>
            <a:pPr lvl="1">
              <a:buFont typeface="Wingdings" panose="05000000000000000000" pitchFamily="2" charset="2"/>
              <a:buChar char="Ø"/>
            </a:pPr>
            <a:r>
              <a:rPr lang="en-US" dirty="0"/>
              <a:t>Tell something interesting/informative (professional skill) about yourself</a:t>
            </a:r>
          </a:p>
          <a:p>
            <a:pPr lvl="1">
              <a:buFont typeface="Wingdings" panose="05000000000000000000" pitchFamily="2" charset="2"/>
              <a:buChar char="Ø"/>
            </a:pPr>
            <a:r>
              <a:rPr lang="en-US" dirty="0"/>
              <a:t>Tell the listener how you can be useful to the organization</a:t>
            </a:r>
          </a:p>
          <a:p>
            <a:pPr lvl="1">
              <a:buFont typeface="Wingdings" panose="05000000000000000000" pitchFamily="2" charset="2"/>
              <a:buChar char="Ø"/>
            </a:pPr>
            <a:r>
              <a:rPr lang="en-US" dirty="0"/>
              <a:t> Build listeners’ interest to know more about you and wish to see you again</a:t>
            </a:r>
          </a:p>
          <a:p>
            <a:pPr lvl="1">
              <a:buFont typeface="Wingdings" panose="05000000000000000000" pitchFamily="2" charset="2"/>
              <a:buChar char="Ø"/>
            </a:pPr>
            <a:r>
              <a:rPr lang="en-US" dirty="0"/>
              <a:t>End with an opportunity  to meet your listener again</a:t>
            </a:r>
          </a:p>
          <a:p>
            <a:endParaRPr lang="en-IN" dirty="0"/>
          </a:p>
        </p:txBody>
      </p:sp>
    </p:spTree>
    <p:extLst>
      <p:ext uri="{BB962C8B-B14F-4D97-AF65-F5344CB8AC3E}">
        <p14:creationId xmlns:p14="http://schemas.microsoft.com/office/powerpoint/2010/main" xmlns="" val="689803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B73338-2BB8-4D8F-98EC-A2B4A61E02C4}"/>
              </a:ext>
            </a:extLst>
          </p:cNvPr>
          <p:cNvSpPr>
            <a:spLocks noGrp="1"/>
          </p:cNvSpPr>
          <p:nvPr>
            <p:ph type="title"/>
          </p:nvPr>
        </p:nvSpPr>
        <p:spPr/>
        <p:txBody>
          <a:bodyPr/>
          <a:lstStyle/>
          <a:p>
            <a:pPr algn="ctr"/>
            <a:r>
              <a:rPr lang="en-US" dirty="0"/>
              <a:t>Sample Outline</a:t>
            </a:r>
            <a:endParaRPr lang="en-IN" dirty="0"/>
          </a:p>
        </p:txBody>
      </p:sp>
      <p:sp>
        <p:nvSpPr>
          <p:cNvPr id="3" name="Content Placeholder 2">
            <a:extLst>
              <a:ext uri="{FF2B5EF4-FFF2-40B4-BE49-F238E27FC236}">
                <a16:creationId xmlns:a16="http://schemas.microsoft.com/office/drawing/2014/main" xmlns="" id="{A10D8EB0-0FE6-4F11-B696-BE4CF963E585}"/>
              </a:ext>
            </a:extLst>
          </p:cNvPr>
          <p:cNvSpPr>
            <a:spLocks noGrp="1"/>
          </p:cNvSpPr>
          <p:nvPr>
            <p:ph idx="1"/>
          </p:nvPr>
        </p:nvSpPr>
        <p:spPr/>
        <p:txBody>
          <a:bodyPr>
            <a:normAutofit fontScale="77500" lnSpcReduction="20000"/>
          </a:bodyPr>
          <a:lstStyle/>
          <a:p>
            <a:pPr marL="0" indent="0">
              <a:buNone/>
            </a:pPr>
            <a:r>
              <a:rPr lang="en-US" sz="3200" dirty="0"/>
              <a:t>1. </a:t>
            </a:r>
            <a:r>
              <a:rPr lang="en-US" sz="3200" b="1" dirty="0"/>
              <a:t>Brief Introduction</a:t>
            </a:r>
            <a:r>
              <a:rPr lang="en-US" dirty="0"/>
              <a:t>:</a:t>
            </a:r>
          </a:p>
          <a:p>
            <a:pPr marL="0" indent="0">
              <a:buNone/>
            </a:pPr>
            <a:r>
              <a:rPr lang="en-US" dirty="0"/>
              <a:t>a. Hello, My name is/I am ……………………. And I am so happy to meet you. </a:t>
            </a:r>
          </a:p>
          <a:p>
            <a:pPr marL="0" indent="0">
              <a:buNone/>
            </a:pPr>
            <a:r>
              <a:rPr lang="en-US" sz="3200" dirty="0"/>
              <a:t>2. </a:t>
            </a:r>
            <a:r>
              <a:rPr lang="en-US" sz="3200" b="1" dirty="0"/>
              <a:t>2-3 sentences about what you do</a:t>
            </a:r>
            <a:r>
              <a:rPr lang="en-US" dirty="0"/>
              <a:t>:</a:t>
            </a:r>
          </a:p>
          <a:p>
            <a:pPr marL="0" indent="0">
              <a:buNone/>
            </a:pPr>
            <a:r>
              <a:rPr lang="en-US" dirty="0"/>
              <a:t>a. I have completed / am pursuing……………..</a:t>
            </a:r>
          </a:p>
          <a:p>
            <a:pPr marL="0" indent="0">
              <a:buNone/>
            </a:pPr>
            <a:r>
              <a:rPr lang="en-US" dirty="0"/>
              <a:t>b. I am a/an ……………………..</a:t>
            </a:r>
          </a:p>
          <a:p>
            <a:pPr marL="0" indent="0">
              <a:buNone/>
            </a:pPr>
            <a:r>
              <a:rPr lang="en-US" sz="3200" dirty="0"/>
              <a:t>3. </a:t>
            </a:r>
            <a:r>
              <a:rPr lang="en-US" sz="3200" b="1" dirty="0"/>
              <a:t>2-3 sentences about how you are important to the listener</a:t>
            </a:r>
            <a:r>
              <a:rPr lang="en-US" sz="3200" dirty="0"/>
              <a:t>:</a:t>
            </a:r>
          </a:p>
          <a:p>
            <a:pPr marL="0" indent="0">
              <a:buNone/>
            </a:pPr>
            <a:r>
              <a:rPr lang="en-US" dirty="0"/>
              <a:t>a. I have some ideas about………….</a:t>
            </a:r>
          </a:p>
          <a:p>
            <a:pPr marL="0" indent="0">
              <a:buNone/>
            </a:pPr>
            <a:r>
              <a:rPr lang="en-US" dirty="0"/>
              <a:t>b. I would love to tell you about ……………………..</a:t>
            </a:r>
          </a:p>
          <a:p>
            <a:pPr marL="0" indent="0">
              <a:buNone/>
            </a:pPr>
            <a:r>
              <a:rPr lang="en-US" sz="3500" dirty="0"/>
              <a:t>4</a:t>
            </a:r>
            <a:r>
              <a:rPr lang="en-US" sz="3500" b="1" dirty="0"/>
              <a:t>. Conclusion</a:t>
            </a:r>
          </a:p>
          <a:p>
            <a:pPr marL="0" indent="0">
              <a:buNone/>
            </a:pPr>
            <a:r>
              <a:rPr lang="en-US" dirty="0"/>
              <a:t>a. I would love to meet you again to discuss in detail ……………</a:t>
            </a:r>
          </a:p>
          <a:p>
            <a:pPr marL="0" indent="0">
              <a:buNone/>
            </a:pPr>
            <a:r>
              <a:rPr lang="en-US" dirty="0"/>
              <a:t>b. I look forward to meeting you again.</a:t>
            </a:r>
            <a:endParaRPr lang="en-IN" dirty="0"/>
          </a:p>
        </p:txBody>
      </p:sp>
    </p:spTree>
    <p:extLst>
      <p:ext uri="{BB962C8B-B14F-4D97-AF65-F5344CB8AC3E}">
        <p14:creationId xmlns:p14="http://schemas.microsoft.com/office/powerpoint/2010/main" xmlns="" val="1359744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915490-2320-4B09-AC15-90263AA8C079}"/>
              </a:ext>
            </a:extLst>
          </p:cNvPr>
          <p:cNvSpPr>
            <a:spLocks noGrp="1"/>
          </p:cNvSpPr>
          <p:nvPr>
            <p:ph type="title"/>
          </p:nvPr>
        </p:nvSpPr>
        <p:spPr/>
        <p:txBody>
          <a:bodyPr/>
          <a:lstStyle/>
          <a:p>
            <a:pPr algn="ctr"/>
            <a:r>
              <a:rPr lang="en-US" dirty="0"/>
              <a:t>Annual Cultural and Technical Fest: </a:t>
            </a:r>
            <a:br>
              <a:rPr lang="en-US" dirty="0"/>
            </a:br>
            <a:r>
              <a:rPr lang="en-US" dirty="0"/>
              <a:t>You want to be a program coordinator.</a:t>
            </a:r>
            <a:endParaRPr lang="en-IN" dirty="0"/>
          </a:p>
        </p:txBody>
      </p:sp>
      <p:sp>
        <p:nvSpPr>
          <p:cNvPr id="3" name="Content Placeholder 2">
            <a:extLst>
              <a:ext uri="{FF2B5EF4-FFF2-40B4-BE49-F238E27FC236}">
                <a16:creationId xmlns:a16="http://schemas.microsoft.com/office/drawing/2014/main" xmlns="" id="{E3CAAFB0-3FCA-47A4-AF81-15587E8B5DA0}"/>
              </a:ext>
            </a:extLst>
          </p:cNvPr>
          <p:cNvSpPr>
            <a:spLocks noGrp="1"/>
          </p:cNvSpPr>
          <p:nvPr>
            <p:ph idx="1"/>
          </p:nvPr>
        </p:nvSpPr>
        <p:spPr/>
        <p:txBody>
          <a:bodyPr>
            <a:normAutofit/>
          </a:bodyPr>
          <a:lstStyle/>
          <a:p>
            <a:r>
              <a:rPr lang="en-US" dirty="0"/>
              <a:t>Hello mam</a:t>
            </a:r>
            <a:r>
              <a:rPr lang="en-IN" dirty="0"/>
              <a:t>, I am Abhijeet Katiyar. It is great to meet you here. </a:t>
            </a:r>
          </a:p>
          <a:p>
            <a:r>
              <a:rPr lang="en-IN" dirty="0"/>
              <a:t>I am a third-year student in the mechanical engineering course. </a:t>
            </a:r>
          </a:p>
          <a:p>
            <a:r>
              <a:rPr lang="en-IN" dirty="0"/>
              <a:t>In the last semester, I organised several technical and literary events for B. Tech students as the Secretary of the Student Activity Cell. </a:t>
            </a:r>
          </a:p>
          <a:p>
            <a:r>
              <a:rPr lang="en-IN" dirty="0"/>
              <a:t>Now this year I am looking forward to being actively engaged in organising the cultural and technical festival of UIET.</a:t>
            </a:r>
          </a:p>
          <a:p>
            <a:r>
              <a:rPr lang="en-IN" dirty="0"/>
              <a:t>So, When will you be free to discuss the event? I look forward to meeting you again. Thanks.</a:t>
            </a:r>
            <a:endParaRPr lang="en-US" dirty="0"/>
          </a:p>
        </p:txBody>
      </p:sp>
    </p:spTree>
    <p:extLst>
      <p:ext uri="{BB962C8B-B14F-4D97-AF65-F5344CB8AC3E}">
        <p14:creationId xmlns:p14="http://schemas.microsoft.com/office/powerpoint/2010/main" xmlns="" val="2192484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484A76-1E1D-47F6-A82F-68C86D6572C8}"/>
              </a:ext>
            </a:extLst>
          </p:cNvPr>
          <p:cNvSpPr>
            <a:spLocks noGrp="1"/>
          </p:cNvSpPr>
          <p:nvPr>
            <p:ph type="title"/>
          </p:nvPr>
        </p:nvSpPr>
        <p:spPr/>
        <p:txBody>
          <a:bodyPr/>
          <a:lstStyle/>
          <a:p>
            <a:pPr algn="ctr"/>
            <a:r>
              <a:rPr lang="en-US" dirty="0"/>
              <a:t>Sample:</a:t>
            </a:r>
            <a:endParaRPr lang="en-IN" dirty="0"/>
          </a:p>
        </p:txBody>
      </p:sp>
      <p:sp>
        <p:nvSpPr>
          <p:cNvPr id="3" name="Content Placeholder 2">
            <a:extLst>
              <a:ext uri="{FF2B5EF4-FFF2-40B4-BE49-F238E27FC236}">
                <a16:creationId xmlns:a16="http://schemas.microsoft.com/office/drawing/2014/main" xmlns="" id="{23C042FA-1ECA-42D2-8CB9-0E76E320071E}"/>
              </a:ext>
            </a:extLst>
          </p:cNvPr>
          <p:cNvSpPr>
            <a:spLocks noGrp="1"/>
          </p:cNvSpPr>
          <p:nvPr>
            <p:ph idx="1"/>
          </p:nvPr>
        </p:nvSpPr>
        <p:spPr/>
        <p:txBody>
          <a:bodyPr>
            <a:normAutofit/>
          </a:bodyPr>
          <a:lstStyle/>
          <a:p>
            <a:r>
              <a:rPr lang="en-US" dirty="0"/>
              <a:t>Hello, I am XYZ. I am working as an Assistant Professor in ABC Dept at AAA, an Engineering College, at YYY University Kanpur.</a:t>
            </a:r>
          </a:p>
          <a:p>
            <a:r>
              <a:rPr lang="en-US" dirty="0"/>
              <a:t>I have been teaching there for more than five years and over these years, I have assisted and guided students to improve their communication skills in English. </a:t>
            </a:r>
          </a:p>
          <a:p>
            <a:r>
              <a:rPr lang="en-US" dirty="0"/>
              <a:t>Training the students to communicate in English professionally, I have structured and organized my lectures with theoretical information as well as with samples from life-like situations for students to role-play in order to evaluate their understanding.</a:t>
            </a:r>
          </a:p>
          <a:p>
            <a:r>
              <a:rPr lang="en-US" dirty="0"/>
              <a:t>It was great meeting you here and  I look forward to seeing you again.</a:t>
            </a:r>
          </a:p>
          <a:p>
            <a:endParaRPr lang="en-IN" dirty="0"/>
          </a:p>
        </p:txBody>
      </p:sp>
    </p:spTree>
    <p:extLst>
      <p:ext uri="{BB962C8B-B14F-4D97-AF65-F5344CB8AC3E}">
        <p14:creationId xmlns:p14="http://schemas.microsoft.com/office/powerpoint/2010/main" xmlns="" val="24251146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TotalTime>
  <Words>1226</Words>
  <Application>Microsoft Office PowerPoint</Application>
  <PresentationFormat>Custom</PresentationFormat>
  <Paragraphs>138</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Communication Practicum</vt:lpstr>
      <vt:lpstr>Oral Presentations</vt:lpstr>
      <vt:lpstr>Presentation Tips for Just A Minute Speech (JAM) </vt:lpstr>
      <vt:lpstr>Just a Minute (JAM)</vt:lpstr>
      <vt:lpstr>Introduction (JAM)</vt:lpstr>
      <vt:lpstr>Avoid saying </vt:lpstr>
      <vt:lpstr>Main body</vt:lpstr>
      <vt:lpstr>Conclusion</vt:lpstr>
      <vt:lpstr> Topic: The Effect of Social Media on Youth</vt:lpstr>
      <vt:lpstr>Conclusion</vt:lpstr>
      <vt:lpstr> JAM SESSION</vt:lpstr>
      <vt:lpstr>Speak for a minute on any of the given sentences</vt:lpstr>
      <vt:lpstr> JAM SESSION</vt:lpstr>
      <vt:lpstr>Just a Minute (JAM) Topics</vt:lpstr>
      <vt:lpstr>Elevator Speech</vt:lpstr>
      <vt:lpstr>Sample Outline</vt:lpstr>
      <vt:lpstr>Annual Cultural and Technical Fest:  You want to be a program coordinator.</vt:lpstr>
      <vt:lpstr>Sample: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Practicum</dc:title>
  <dc:creator>akshat agarwal</dc:creator>
  <cp:lastModifiedBy>Saksham Nigam</cp:lastModifiedBy>
  <cp:revision>48</cp:revision>
  <dcterms:created xsi:type="dcterms:W3CDTF">2020-08-30T11:33:22Z</dcterms:created>
  <dcterms:modified xsi:type="dcterms:W3CDTF">2025-09-24T15:05:53Z</dcterms:modified>
</cp:coreProperties>
</file>