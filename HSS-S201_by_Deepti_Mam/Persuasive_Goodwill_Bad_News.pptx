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5" r:id="rId4"/>
    <p:sldId id="270" r:id="rId5"/>
    <p:sldId id="271" r:id="rId6"/>
    <p:sldId id="266" r:id="rId7"/>
    <p:sldId id="261" r:id="rId8"/>
    <p:sldId id="263" r:id="rId9"/>
    <p:sldId id="257" r:id="rId10"/>
    <p:sldId id="262" r:id="rId11"/>
    <p:sldId id="264" r:id="rId12"/>
    <p:sldId id="258" r:id="rId13"/>
    <p:sldId id="259" r:id="rId14"/>
    <p:sldId id="267" r:id="rId15"/>
    <p:sldId id="268" r:id="rId16"/>
    <p:sldId id="292" r:id="rId17"/>
    <p:sldId id="294" r:id="rId18"/>
    <p:sldId id="295" r:id="rId19"/>
    <p:sldId id="293" r:id="rId20"/>
    <p:sldId id="272" r:id="rId21"/>
    <p:sldId id="273" r:id="rId22"/>
    <p:sldId id="274" r:id="rId23"/>
    <p:sldId id="275" r:id="rId24"/>
    <p:sldId id="276" r:id="rId25"/>
    <p:sldId id="277" r:id="rId26"/>
    <p:sldId id="269" r:id="rId27"/>
    <p:sldId id="279" r:id="rId28"/>
    <p:sldId id="287" r:id="rId29"/>
    <p:sldId id="288" r:id="rId30"/>
    <p:sldId id="289" r:id="rId31"/>
    <p:sldId id="290" r:id="rId32"/>
    <p:sldId id="278" r:id="rId33"/>
    <p:sldId id="281" r:id="rId34"/>
    <p:sldId id="283" r:id="rId35"/>
    <p:sldId id="284" r:id="rId36"/>
    <p:sldId id="282" r:id="rId37"/>
    <p:sldId id="291" r:id="rId38"/>
    <p:sldId id="285" r:id="rId39"/>
    <p:sldId id="28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838" autoAdjust="0"/>
    <p:restoredTop sz="94660"/>
  </p:normalViewPr>
  <p:slideViewPr>
    <p:cSldViewPr snapToGrid="0">
      <p:cViewPr varScale="1">
        <p:scale>
          <a:sx n="68" d="100"/>
          <a:sy n="68" d="100"/>
        </p:scale>
        <p:origin x="-810"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E35F3D-DC91-0E4B-19A1-26B485E021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95C1F749-37DB-6741-3413-47E4C7F25E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C2658F6F-B63E-1D86-BFE7-4BF3AB5C6995}"/>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5" name="Footer Placeholder 4">
            <a:extLst>
              <a:ext uri="{FF2B5EF4-FFF2-40B4-BE49-F238E27FC236}">
                <a16:creationId xmlns:a16="http://schemas.microsoft.com/office/drawing/2014/main" xmlns="" id="{26ABCD46-6BDD-B8CF-E24F-723CDA7F8D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83CD7B6-4574-B64A-091F-3C9AC3128DEE}"/>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1280771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934EFF-1FE7-697C-3EA6-C5E66ACDB8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7EFBB91-D198-6670-D41A-F5C36679ED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DA84C79-767A-F350-426F-FD319143C0D1}"/>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5" name="Footer Placeholder 4">
            <a:extLst>
              <a:ext uri="{FF2B5EF4-FFF2-40B4-BE49-F238E27FC236}">
                <a16:creationId xmlns:a16="http://schemas.microsoft.com/office/drawing/2014/main" xmlns="" id="{14A9AEC0-6533-08FA-7255-49225A265F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2C721EB-0C74-A7A4-84A8-E5ED5C695236}"/>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1123513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5652E0-ED14-6C01-4EF9-35B7684D32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2F89569-4095-F0C1-9B83-8B1053F85E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8C7947A-8FE1-D4FB-1860-3203B83E42C9}"/>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5" name="Footer Placeholder 4">
            <a:extLst>
              <a:ext uri="{FF2B5EF4-FFF2-40B4-BE49-F238E27FC236}">
                <a16:creationId xmlns:a16="http://schemas.microsoft.com/office/drawing/2014/main" xmlns="" id="{76C064D4-0112-0A70-4426-0F3C58D152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864A049-17D9-57C4-4803-67A603567E18}"/>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3515828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225316-DF6B-CDDC-2486-3136162278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6F95059-B181-DB4D-9DED-44134861D0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8E27E0B1-DDB0-FFAD-88D6-1B5E9FD80F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5E5B5154-E389-9B2D-6D30-8AE518C2BF87}"/>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6" name="Footer Placeholder 5">
            <a:extLst>
              <a:ext uri="{FF2B5EF4-FFF2-40B4-BE49-F238E27FC236}">
                <a16:creationId xmlns:a16="http://schemas.microsoft.com/office/drawing/2014/main" xmlns="" id="{7CEF36AC-92FB-27D9-7C00-1A329B4424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EB24741-BF30-FB4B-9C11-C41891BD7F81}"/>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2265081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02AFEF-4532-7FF2-B585-5D3C63F53F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8A9673C-8535-3CFB-C16A-878CF26C8E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047EFC26-AEF8-39CE-653A-CBBFF36018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70871B01-A0C2-2DDF-130C-E3097D2603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36DC559-8095-2F5E-6405-EBA80386A0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D3B4D304-FE67-D6A0-D635-FB0019169612}"/>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8" name="Footer Placeholder 7">
            <a:extLst>
              <a:ext uri="{FF2B5EF4-FFF2-40B4-BE49-F238E27FC236}">
                <a16:creationId xmlns:a16="http://schemas.microsoft.com/office/drawing/2014/main" xmlns="" id="{CEB7935B-F915-4DE2-388D-CCFE59B7BE7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AABCAFDA-8B72-12FE-1C88-F966613E7406}"/>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3306522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E1DABF-CF30-38F8-763E-25C3D22F89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58EEDC88-FF7C-C148-DF57-FE3EEEDC34FC}"/>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4" name="Footer Placeholder 3">
            <a:extLst>
              <a:ext uri="{FF2B5EF4-FFF2-40B4-BE49-F238E27FC236}">
                <a16:creationId xmlns:a16="http://schemas.microsoft.com/office/drawing/2014/main" xmlns="" id="{E4BB04FD-D2A3-D366-767B-A801328255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9253438C-3FA0-9F97-66F5-7FDB81344960}"/>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3570351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4821FFC-A009-C8F8-F99A-139B5A94BD59}"/>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3" name="Footer Placeholder 2">
            <a:extLst>
              <a:ext uri="{FF2B5EF4-FFF2-40B4-BE49-F238E27FC236}">
                <a16:creationId xmlns:a16="http://schemas.microsoft.com/office/drawing/2014/main" xmlns="" id="{C5DDD06F-7A62-57F2-270E-088E868581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764A637E-45FB-784F-E1F4-F911CF6767B1}"/>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2129915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DAD89B-2066-CBCC-BC94-56EA3BDF44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7B263B7-BA14-11BB-C703-1F78DE385E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8758BE4A-FB1C-ACA8-678C-4F0BFE4B8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07CE8B4-6A99-6F26-3B1E-97B74E012B8C}"/>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6" name="Footer Placeholder 5">
            <a:extLst>
              <a:ext uri="{FF2B5EF4-FFF2-40B4-BE49-F238E27FC236}">
                <a16:creationId xmlns:a16="http://schemas.microsoft.com/office/drawing/2014/main" xmlns="" id="{9A455165-38BE-BF2C-F374-A076FD781D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A22A609-41E2-DEB5-0105-EBAEFDAF10F2}"/>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3410143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B66D86-16CF-7343-9BEB-D531C9F4A4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C8F910C5-19B6-6A78-083C-68A5DBE115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9F2DC5E-2C68-D582-A7B7-50575C2A0D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1E4221E-617F-81B8-E9CA-DEA3371F772A}"/>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6" name="Footer Placeholder 5">
            <a:extLst>
              <a:ext uri="{FF2B5EF4-FFF2-40B4-BE49-F238E27FC236}">
                <a16:creationId xmlns:a16="http://schemas.microsoft.com/office/drawing/2014/main" xmlns="" id="{62DB9D8F-F448-ECB9-CF1E-EBB198538F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C1B6BFB-CE72-1279-41F8-4D86EBCC93DC}"/>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1654302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ACD543-B119-7E0B-8991-B217C8A6B6E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CEF6CC6-54C3-5718-FAF8-25007B8F37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E92E787-EEFB-5DC1-90FA-A9A5922CB1B7}"/>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5" name="Footer Placeholder 4">
            <a:extLst>
              <a:ext uri="{FF2B5EF4-FFF2-40B4-BE49-F238E27FC236}">
                <a16:creationId xmlns:a16="http://schemas.microsoft.com/office/drawing/2014/main" xmlns="" id="{54551691-0E96-9A42-0B1C-2341ABF5F4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2295C1A-E142-FFE2-D0D5-8AE58E3757F3}"/>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371275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D1507F5-9C7D-6717-AD9A-3D0FE9D038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15DEBE1A-CE41-99C7-03CA-0262E09D72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33756B3-B4B6-833E-E17F-6029AFF4BEEA}"/>
              </a:ext>
            </a:extLst>
          </p:cNvPr>
          <p:cNvSpPr>
            <a:spLocks noGrp="1"/>
          </p:cNvSpPr>
          <p:nvPr>
            <p:ph type="dt" sz="half" idx="10"/>
          </p:nvPr>
        </p:nvSpPr>
        <p:spPr/>
        <p:txBody>
          <a:bodyPr/>
          <a:lstStyle/>
          <a:p>
            <a:fld id="{62B6C785-05E2-445C-9416-2962CF1F7A25}" type="datetimeFigureOut">
              <a:rPr lang="en-IN" smtClean="0"/>
              <a:pPr/>
              <a:t>24-09-2025</a:t>
            </a:fld>
            <a:endParaRPr lang="en-IN"/>
          </a:p>
        </p:txBody>
      </p:sp>
      <p:sp>
        <p:nvSpPr>
          <p:cNvPr id="5" name="Footer Placeholder 4">
            <a:extLst>
              <a:ext uri="{FF2B5EF4-FFF2-40B4-BE49-F238E27FC236}">
                <a16:creationId xmlns:a16="http://schemas.microsoft.com/office/drawing/2014/main" xmlns="" id="{EEA032CE-51E0-85BF-68AC-03760082AC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2979DD1-E4A1-948A-C8A4-7EDFB795D53A}"/>
              </a:ext>
            </a:extLst>
          </p:cNvPr>
          <p:cNvSpPr>
            <a:spLocks noGrp="1"/>
          </p:cNvSpPr>
          <p:nvPr>
            <p:ph type="sldNum" sz="quarter" idx="12"/>
          </p:nvPr>
        </p:nvSpPr>
        <p:spPr/>
        <p:txBody>
          <a:body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1759779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4AB03EF-5C28-DD9A-FF5A-FF243020A5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E177320-183C-9867-EB3E-B52AD8A263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C1804EA-90FD-AFFB-54F4-A8B8E1586E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B6C785-05E2-445C-9416-2962CF1F7A25}" type="datetimeFigureOut">
              <a:rPr lang="en-IN" smtClean="0"/>
              <a:pPr/>
              <a:t>24-09-2025</a:t>
            </a:fld>
            <a:endParaRPr lang="en-IN"/>
          </a:p>
        </p:txBody>
      </p:sp>
      <p:sp>
        <p:nvSpPr>
          <p:cNvPr id="5" name="Footer Placeholder 4">
            <a:extLst>
              <a:ext uri="{FF2B5EF4-FFF2-40B4-BE49-F238E27FC236}">
                <a16:creationId xmlns:a16="http://schemas.microsoft.com/office/drawing/2014/main" xmlns="" id="{6BC835BC-68A5-0495-7703-DF979F8671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6E3A52CA-5728-8487-8700-3EA121E886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EA496D-131A-44ED-8E6D-A927DF43FDA1}" type="slidenum">
              <a:rPr lang="en-IN" smtClean="0"/>
              <a:pPr/>
              <a:t>‹#›</a:t>
            </a:fld>
            <a:endParaRPr lang="en-IN"/>
          </a:p>
        </p:txBody>
      </p:sp>
    </p:spTree>
    <p:extLst>
      <p:ext uri="{BB962C8B-B14F-4D97-AF65-F5344CB8AC3E}">
        <p14:creationId xmlns:p14="http://schemas.microsoft.com/office/powerpoint/2010/main" xmlns="" val="3304585584"/>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5655FF-2F32-19AD-C45B-08E8B16D44DA}"/>
              </a:ext>
            </a:extLst>
          </p:cNvPr>
          <p:cNvSpPr>
            <a:spLocks noGrp="1"/>
          </p:cNvSpPr>
          <p:nvPr>
            <p:ph type="ctrTitle"/>
          </p:nvPr>
        </p:nvSpPr>
        <p:spPr/>
        <p:txBody>
          <a:bodyPr>
            <a:normAutofit/>
          </a:bodyPr>
          <a:lstStyle/>
          <a:p>
            <a:r>
              <a:rPr lang="en-IN" sz="2400" dirty="0">
                <a:latin typeface="Times New Roman" panose="02020603050405020304" pitchFamily="18" charset="0"/>
                <a:cs typeface="Times New Roman" panose="02020603050405020304" pitchFamily="18" charset="0"/>
              </a:rPr>
              <a:t>Persuasive/Goodwill/ Bad News Messages</a:t>
            </a:r>
          </a:p>
        </p:txBody>
      </p:sp>
      <p:sp>
        <p:nvSpPr>
          <p:cNvPr id="3" name="Subtitle 2">
            <a:extLst>
              <a:ext uri="{FF2B5EF4-FFF2-40B4-BE49-F238E27FC236}">
                <a16:creationId xmlns:a16="http://schemas.microsoft.com/office/drawing/2014/main" xmlns="" id="{593ED1B1-F508-702A-3D2D-9998AB91D3CA}"/>
              </a:ext>
            </a:extLst>
          </p:cNvPr>
          <p:cNvSpPr>
            <a:spLocks noGrp="1"/>
          </p:cNvSpPr>
          <p:nvPr>
            <p:ph type="subTitle" idx="1"/>
          </p:nvPr>
        </p:nvSpPr>
        <p:spPr>
          <a:xfrm>
            <a:off x="5012266" y="3509963"/>
            <a:ext cx="1608667" cy="431800"/>
          </a:xfrm>
        </p:spPr>
        <p:txBody>
          <a:bodyPr/>
          <a:lstStyle/>
          <a:p>
            <a:r>
              <a:rPr lang="en-US" dirty="0"/>
              <a:t>HSS S301</a:t>
            </a:r>
            <a:endParaRPr lang="en-IN" dirty="0"/>
          </a:p>
        </p:txBody>
      </p:sp>
    </p:spTree>
    <p:extLst>
      <p:ext uri="{BB962C8B-B14F-4D97-AF65-F5344CB8AC3E}">
        <p14:creationId xmlns:p14="http://schemas.microsoft.com/office/powerpoint/2010/main" xmlns="" val="30542170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8CB962-0688-7B61-6D72-BCCA93123CF2}"/>
              </a:ext>
            </a:extLst>
          </p:cNvPr>
          <p:cNvSpPr>
            <a:spLocks noGrp="1"/>
          </p:cNvSpPr>
          <p:nvPr>
            <p:ph type="ctrTitle"/>
          </p:nvPr>
        </p:nvSpPr>
        <p:spPr>
          <a:xfrm>
            <a:off x="1630836" y="1122363"/>
            <a:ext cx="9037163" cy="3675880"/>
          </a:xfrm>
        </p:spPr>
        <p:txBody>
          <a:bodyPr>
            <a:normAutofit/>
          </a:bodyPr>
          <a:lstStyle/>
          <a:p>
            <a:r>
              <a:rPr lang="en-IN" dirty="0">
                <a:latin typeface="Times New Roman" panose="02020603050405020304" pitchFamily="18" charset="0"/>
                <a:cs typeface="Times New Roman" panose="02020603050405020304" pitchFamily="18" charset="0"/>
              </a:rPr>
              <a:t>Persuasion is the attempt to change someone’s attitudes, beliefs, or actions.</a:t>
            </a:r>
          </a:p>
        </p:txBody>
      </p:sp>
      <p:sp>
        <p:nvSpPr>
          <p:cNvPr id="3" name="Subtitle 2">
            <a:extLst>
              <a:ext uri="{FF2B5EF4-FFF2-40B4-BE49-F238E27FC236}">
                <a16:creationId xmlns:a16="http://schemas.microsoft.com/office/drawing/2014/main" xmlns="" id="{5FAB9220-457B-3D7E-2335-1C91890A7939}"/>
              </a:ext>
            </a:extLst>
          </p:cNvPr>
          <p:cNvSpPr>
            <a:spLocks noGrp="1"/>
          </p:cNvSpPr>
          <p:nvPr>
            <p:ph type="subTitle" idx="1"/>
          </p:nvPr>
        </p:nvSpPr>
        <p:spPr>
          <a:xfrm>
            <a:off x="1533426" y="4798243"/>
            <a:ext cx="8883192" cy="261592"/>
          </a:xfrm>
        </p:spPr>
        <p:txBody>
          <a:bodyPr>
            <a:normAutofit fontScale="62500" lnSpcReduction="20000"/>
          </a:bodyPr>
          <a:lstStyle/>
          <a:p>
            <a:r>
              <a:rPr lang="en-IN" dirty="0"/>
              <a:t>Bove et. all</a:t>
            </a:r>
          </a:p>
        </p:txBody>
      </p:sp>
    </p:spTree>
    <p:extLst>
      <p:ext uri="{BB962C8B-B14F-4D97-AF65-F5344CB8AC3E}">
        <p14:creationId xmlns:p14="http://schemas.microsoft.com/office/powerpoint/2010/main" xmlns="" val="11696623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FF0C6B-F35E-BB80-B22B-08266681DABA}"/>
              </a:ext>
            </a:extLst>
          </p:cNvPr>
          <p:cNvSpPr>
            <a:spLocks noGrp="1"/>
          </p:cNvSpPr>
          <p:nvPr>
            <p:ph type="title"/>
          </p:nvPr>
        </p:nvSpPr>
        <p:spPr/>
        <p:txBody>
          <a:bodyPr/>
          <a:lstStyle/>
          <a:p>
            <a:pPr algn="ctr"/>
            <a:r>
              <a:rPr lang="en-IN" dirty="0"/>
              <a:t>What is a persuasive message?</a:t>
            </a:r>
          </a:p>
        </p:txBody>
      </p:sp>
      <p:sp>
        <p:nvSpPr>
          <p:cNvPr id="3" name="Content Placeholder 2">
            <a:extLst>
              <a:ext uri="{FF2B5EF4-FFF2-40B4-BE49-F238E27FC236}">
                <a16:creationId xmlns:a16="http://schemas.microsoft.com/office/drawing/2014/main" xmlns="" id="{4AF465CF-4EB1-5169-4C19-0CA0E550DA21}"/>
              </a:ext>
            </a:extLst>
          </p:cNvPr>
          <p:cNvSpPr>
            <a:spLocks noGrp="1"/>
          </p:cNvSpPr>
          <p:nvPr>
            <p:ph idx="1"/>
          </p:nvPr>
        </p:nvSpPr>
        <p:spPr/>
        <p:txBody>
          <a:bodyPr/>
          <a:lstStyle/>
          <a:p>
            <a:r>
              <a:rPr lang="en-IN" dirty="0"/>
              <a:t>Contains a convincing argument </a:t>
            </a:r>
          </a:p>
          <a:p>
            <a:r>
              <a:rPr lang="en-IN" dirty="0"/>
              <a:t>Motivates or moves the reader to do or adopt the writer’s viewpoint</a:t>
            </a:r>
          </a:p>
          <a:p>
            <a:endParaRPr lang="en-IN" dirty="0"/>
          </a:p>
          <a:p>
            <a:endParaRPr lang="en-IN" dirty="0"/>
          </a:p>
        </p:txBody>
      </p:sp>
    </p:spTree>
    <p:extLst>
      <p:ext uri="{BB962C8B-B14F-4D97-AF65-F5344CB8AC3E}">
        <p14:creationId xmlns:p14="http://schemas.microsoft.com/office/powerpoint/2010/main" xmlns="" val="37252840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E4F95A-2869-CB6D-937F-8721C03421D3}"/>
              </a:ext>
            </a:extLst>
          </p:cNvPr>
          <p:cNvSpPr>
            <a:spLocks noGrp="1"/>
          </p:cNvSpPr>
          <p:nvPr>
            <p:ph type="title"/>
          </p:nvPr>
        </p:nvSpPr>
        <p:spPr>
          <a:xfrm>
            <a:off x="838200" y="365126"/>
            <a:ext cx="10515600" cy="811742"/>
          </a:xfrm>
        </p:spPr>
        <p:txBody>
          <a:bodyPr/>
          <a:lstStyle/>
          <a:p>
            <a:pPr algn="ctr"/>
            <a:r>
              <a:rPr lang="en-IN" dirty="0"/>
              <a:t>Aristotelian Elements of Persuasion</a:t>
            </a:r>
          </a:p>
        </p:txBody>
      </p:sp>
      <p:sp>
        <p:nvSpPr>
          <p:cNvPr id="3" name="Content Placeholder 2">
            <a:extLst>
              <a:ext uri="{FF2B5EF4-FFF2-40B4-BE49-F238E27FC236}">
                <a16:creationId xmlns:a16="http://schemas.microsoft.com/office/drawing/2014/main" xmlns="" id="{1FB9E726-A460-B288-9BF1-65762087C8A0}"/>
              </a:ext>
            </a:extLst>
          </p:cNvPr>
          <p:cNvSpPr>
            <a:spLocks noGrp="1"/>
          </p:cNvSpPr>
          <p:nvPr>
            <p:ph idx="1"/>
          </p:nvPr>
        </p:nvSpPr>
        <p:spPr/>
        <p:txBody>
          <a:bodyPr>
            <a:normAutofit/>
          </a:bodyPr>
          <a:lstStyle/>
          <a:p>
            <a:pPr marL="0" indent="0">
              <a:buNone/>
            </a:pPr>
            <a:r>
              <a:rPr lang="en-IN" dirty="0"/>
              <a:t>The ancient Greek philosopher, Aristotle  (384-322 B. C. E.), talks about the persuasion triad in his work </a:t>
            </a:r>
            <a:r>
              <a:rPr lang="en-IN" i="1" dirty="0"/>
              <a:t>Rhetoric.</a:t>
            </a:r>
          </a:p>
          <a:p>
            <a:pPr marL="0" indent="0">
              <a:buNone/>
            </a:pPr>
            <a:r>
              <a:rPr lang="en-IN" dirty="0"/>
              <a:t>According to Aristotle, </a:t>
            </a:r>
            <a:r>
              <a:rPr lang="en-US" dirty="0"/>
              <a:t>The persuader needs a) an objective, b) an audience, and c) to reach that audience with a message.</a:t>
            </a:r>
          </a:p>
          <a:p>
            <a:pPr marL="0" indent="0">
              <a:buNone/>
            </a:pPr>
            <a:r>
              <a:rPr lang="en-US" dirty="0"/>
              <a:t>To convince the audience, he suggests three elements:</a:t>
            </a:r>
            <a:endParaRPr lang="en-IN" dirty="0"/>
          </a:p>
          <a:p>
            <a:pPr marL="514350" indent="-514350">
              <a:buAutoNum type="arabicPeriod"/>
            </a:pPr>
            <a:r>
              <a:rPr lang="en-IN" dirty="0"/>
              <a:t>Ethos- Builds credibility (Trust) </a:t>
            </a:r>
          </a:p>
          <a:p>
            <a:pPr marL="514350" indent="-514350">
              <a:buAutoNum type="arabicPeriod"/>
            </a:pPr>
            <a:r>
              <a:rPr lang="en-IN" dirty="0"/>
              <a:t>Pathos- Appeals to emotions  (Audience’s needs and requirements)</a:t>
            </a:r>
          </a:p>
          <a:p>
            <a:pPr marL="0" indent="0">
              <a:buNone/>
            </a:pPr>
            <a:r>
              <a:rPr lang="en-IN" dirty="0"/>
              <a:t>3. Logos- Appeals to logic-( Reasoning and factual authentic information)</a:t>
            </a:r>
          </a:p>
        </p:txBody>
      </p:sp>
    </p:spTree>
    <p:extLst>
      <p:ext uri="{BB962C8B-B14F-4D97-AF65-F5344CB8AC3E}">
        <p14:creationId xmlns:p14="http://schemas.microsoft.com/office/powerpoint/2010/main" xmlns="" val="30461580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2F5184-9273-DB5A-5159-2672834D9F81}"/>
              </a:ext>
            </a:extLst>
          </p:cNvPr>
          <p:cNvSpPr>
            <a:spLocks noGrp="1"/>
          </p:cNvSpPr>
          <p:nvPr>
            <p:ph type="title"/>
          </p:nvPr>
        </p:nvSpPr>
        <p:spPr/>
        <p:txBody>
          <a:bodyPr/>
          <a:lstStyle/>
          <a:p>
            <a:pPr algn="ctr"/>
            <a:r>
              <a:rPr lang="en-IN" dirty="0"/>
              <a:t>Exercise</a:t>
            </a:r>
          </a:p>
        </p:txBody>
      </p:sp>
      <p:sp>
        <p:nvSpPr>
          <p:cNvPr id="3" name="Content Placeholder 2">
            <a:extLst>
              <a:ext uri="{FF2B5EF4-FFF2-40B4-BE49-F238E27FC236}">
                <a16:creationId xmlns:a16="http://schemas.microsoft.com/office/drawing/2014/main" xmlns="" id="{367DDB32-83C9-1832-3D5A-208E1A94C71F}"/>
              </a:ext>
            </a:extLst>
          </p:cNvPr>
          <p:cNvSpPr>
            <a:spLocks noGrp="1"/>
          </p:cNvSpPr>
          <p:nvPr>
            <p:ph idx="1"/>
          </p:nvPr>
        </p:nvSpPr>
        <p:spPr/>
        <p:txBody>
          <a:bodyPr/>
          <a:lstStyle/>
          <a:p>
            <a:pPr>
              <a:buFont typeface="Wingdings" panose="05000000000000000000" pitchFamily="2" charset="2"/>
              <a:buChar char="v"/>
            </a:pPr>
            <a:r>
              <a:rPr lang="en-IN" dirty="0"/>
              <a:t>Identify the persuasion technique in the given sentences:</a:t>
            </a:r>
          </a:p>
          <a:p>
            <a:pPr marL="514350" indent="-514350">
              <a:buFont typeface="+mj-lt"/>
              <a:buAutoNum type="arabicPeriod"/>
            </a:pPr>
            <a:r>
              <a:rPr lang="en-IN" dirty="0"/>
              <a:t>Hard work is the key to success. If you truly love your parents, you will work hard.</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Why risk making a mistake on your tax returns or missing out on added money in your bank account? </a:t>
            </a:r>
          </a:p>
          <a:p>
            <a:pPr marL="0" indent="0">
              <a:buNone/>
            </a:pPr>
            <a:r>
              <a:rPr lang="en-US" dirty="0"/>
              <a:t>Trust the experts at 123 Accounting to ensure you get the biggest tax refund possible.</a:t>
            </a:r>
            <a:endParaRPr lang="en-IN" dirty="0"/>
          </a:p>
        </p:txBody>
      </p:sp>
    </p:spTree>
    <p:extLst>
      <p:ext uri="{BB962C8B-B14F-4D97-AF65-F5344CB8AC3E}">
        <p14:creationId xmlns:p14="http://schemas.microsoft.com/office/powerpoint/2010/main" xmlns="" val="19044705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2A7448-6CAC-FAE9-65C0-79FF61CABE3C}"/>
              </a:ext>
            </a:extLst>
          </p:cNvPr>
          <p:cNvSpPr>
            <a:spLocks noGrp="1"/>
          </p:cNvSpPr>
          <p:nvPr>
            <p:ph type="title"/>
          </p:nvPr>
        </p:nvSpPr>
        <p:spPr/>
        <p:txBody>
          <a:bodyPr/>
          <a:lstStyle/>
          <a:p>
            <a:pPr algn="ctr"/>
            <a:r>
              <a:rPr lang="en-US" dirty="0"/>
              <a:t>Steps for Persuasive Writing</a:t>
            </a:r>
            <a:endParaRPr lang="en-IN" dirty="0"/>
          </a:p>
        </p:txBody>
      </p:sp>
      <p:sp>
        <p:nvSpPr>
          <p:cNvPr id="3" name="Content Placeholder 2">
            <a:extLst>
              <a:ext uri="{FF2B5EF4-FFF2-40B4-BE49-F238E27FC236}">
                <a16:creationId xmlns:a16="http://schemas.microsoft.com/office/drawing/2014/main" xmlns="" id="{A23CBE75-D5B8-E271-5ECA-E8E3803ECD00}"/>
              </a:ext>
            </a:extLst>
          </p:cNvPr>
          <p:cNvSpPr>
            <a:spLocks noGrp="1"/>
          </p:cNvSpPr>
          <p:nvPr>
            <p:ph idx="1"/>
          </p:nvPr>
        </p:nvSpPr>
        <p:spPr/>
        <p:txBody>
          <a:bodyPr/>
          <a:lstStyle/>
          <a:p>
            <a:pPr marL="514350" indent="-514350">
              <a:buFont typeface="+mj-lt"/>
              <a:buAutoNum type="arabicPeriod"/>
            </a:pPr>
            <a:r>
              <a:rPr lang="en-IN" dirty="0"/>
              <a:t>Planning</a:t>
            </a:r>
          </a:p>
          <a:p>
            <a:pPr marL="514350" indent="-514350">
              <a:buFont typeface="+mj-lt"/>
              <a:buAutoNum type="arabicPeriod"/>
            </a:pPr>
            <a:r>
              <a:rPr lang="en-IN" dirty="0"/>
              <a:t>Writing</a:t>
            </a:r>
          </a:p>
          <a:p>
            <a:pPr marL="514350" indent="-514350">
              <a:buFont typeface="+mj-lt"/>
              <a:buAutoNum type="arabicPeriod"/>
            </a:pPr>
            <a:r>
              <a:rPr lang="en-IN" dirty="0"/>
              <a:t>Proof reading</a:t>
            </a:r>
          </a:p>
        </p:txBody>
      </p:sp>
    </p:spTree>
    <p:extLst>
      <p:ext uri="{BB962C8B-B14F-4D97-AF65-F5344CB8AC3E}">
        <p14:creationId xmlns:p14="http://schemas.microsoft.com/office/powerpoint/2010/main" xmlns="" val="34222653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D163EC-2BC4-AB20-AD1D-7AB12ECB2DB9}"/>
              </a:ext>
            </a:extLst>
          </p:cNvPr>
          <p:cNvSpPr>
            <a:spLocks noGrp="1"/>
          </p:cNvSpPr>
          <p:nvPr>
            <p:ph type="title"/>
          </p:nvPr>
        </p:nvSpPr>
        <p:spPr/>
        <p:txBody>
          <a:bodyPr/>
          <a:lstStyle/>
          <a:p>
            <a:pPr algn="ctr"/>
            <a:r>
              <a:rPr lang="en-IN" dirty="0"/>
              <a:t>1</a:t>
            </a:r>
            <a:r>
              <a:rPr lang="en-IN" baseline="30000" dirty="0"/>
              <a:t>st</a:t>
            </a:r>
            <a:r>
              <a:rPr lang="en-IN" dirty="0"/>
              <a:t> Step: Planning</a:t>
            </a:r>
          </a:p>
        </p:txBody>
      </p:sp>
      <p:sp>
        <p:nvSpPr>
          <p:cNvPr id="3" name="Content Placeholder 2">
            <a:extLst>
              <a:ext uri="{FF2B5EF4-FFF2-40B4-BE49-F238E27FC236}">
                <a16:creationId xmlns:a16="http://schemas.microsoft.com/office/drawing/2014/main" xmlns="" id="{D1EB7247-9261-BD99-83EE-DD74AE093B68}"/>
              </a:ext>
            </a:extLst>
          </p:cNvPr>
          <p:cNvSpPr>
            <a:spLocks noGrp="1"/>
          </p:cNvSpPr>
          <p:nvPr>
            <p:ph idx="1"/>
          </p:nvPr>
        </p:nvSpPr>
        <p:spPr/>
        <p:txBody>
          <a:bodyPr/>
          <a:lstStyle/>
          <a:p>
            <a:r>
              <a:rPr lang="en-IN" dirty="0"/>
              <a:t>The sender should research the audience’s background because:</a:t>
            </a:r>
          </a:p>
          <a:p>
            <a:pPr marL="514350" indent="-514350">
              <a:buFont typeface="+mj-lt"/>
              <a:buAutoNum type="arabicPeriod"/>
            </a:pPr>
            <a:r>
              <a:rPr lang="en-IN" dirty="0"/>
              <a:t>The audience is inclined to resist</a:t>
            </a:r>
          </a:p>
          <a:p>
            <a:pPr marL="514350" indent="-514350">
              <a:buFont typeface="+mj-lt"/>
              <a:buAutoNum type="arabicPeriod"/>
            </a:pPr>
            <a:r>
              <a:rPr lang="en-IN" dirty="0"/>
              <a:t>Audiences are busy</a:t>
            </a:r>
          </a:p>
          <a:p>
            <a:pPr marL="514350" indent="-514350">
              <a:buFont typeface="+mj-lt"/>
              <a:buAutoNum type="arabicPeriod"/>
            </a:pPr>
            <a:r>
              <a:rPr lang="en-IN" dirty="0"/>
              <a:t>Audiences receive many competing requests</a:t>
            </a:r>
          </a:p>
          <a:p>
            <a:pPr marL="514350" indent="-514350">
              <a:buFont typeface="+mj-lt"/>
              <a:buAutoNum type="arabicPeriod"/>
            </a:pPr>
            <a:endParaRPr lang="en-IN" dirty="0"/>
          </a:p>
          <a:p>
            <a:pPr marL="514350" indent="-514350">
              <a:buFont typeface="+mj-lt"/>
              <a:buAutoNum type="arabicPeriod"/>
            </a:pPr>
            <a:endParaRPr lang="en-IN" dirty="0"/>
          </a:p>
          <a:p>
            <a:pPr marL="0" indent="0">
              <a:buNone/>
            </a:pPr>
            <a:r>
              <a:rPr lang="en-IN" dirty="0"/>
              <a:t>Note: To be persuasive know your audience well.</a:t>
            </a:r>
          </a:p>
          <a:p>
            <a:endParaRPr lang="en-IN" dirty="0"/>
          </a:p>
        </p:txBody>
      </p:sp>
    </p:spTree>
    <p:extLst>
      <p:ext uri="{BB962C8B-B14F-4D97-AF65-F5344CB8AC3E}">
        <p14:creationId xmlns:p14="http://schemas.microsoft.com/office/powerpoint/2010/main" xmlns="" val="22531196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40BFA2-FEB6-8AF7-E708-23CE01AC84DB}"/>
              </a:ext>
            </a:extLst>
          </p:cNvPr>
          <p:cNvSpPr>
            <a:spLocks noGrp="1"/>
          </p:cNvSpPr>
          <p:nvPr>
            <p:ph type="title"/>
          </p:nvPr>
        </p:nvSpPr>
        <p:spPr/>
        <p:txBody>
          <a:bodyPr/>
          <a:lstStyle/>
          <a:p>
            <a:pPr algn="ctr"/>
            <a:r>
              <a:rPr lang="en-US" dirty="0"/>
              <a:t>Analyze the Purpose of Persuasive Message</a:t>
            </a:r>
          </a:p>
        </p:txBody>
      </p:sp>
      <p:sp>
        <p:nvSpPr>
          <p:cNvPr id="3" name="Content Placeholder 2">
            <a:extLst>
              <a:ext uri="{FF2B5EF4-FFF2-40B4-BE49-F238E27FC236}">
                <a16:creationId xmlns:a16="http://schemas.microsoft.com/office/drawing/2014/main" xmlns="" id="{AD4FBF3C-D8C1-752A-3D4B-1ED06B9B607A}"/>
              </a:ext>
            </a:extLst>
          </p:cNvPr>
          <p:cNvSpPr>
            <a:spLocks noGrp="1"/>
          </p:cNvSpPr>
          <p:nvPr>
            <p:ph idx="1"/>
          </p:nvPr>
        </p:nvSpPr>
        <p:spPr/>
        <p:txBody>
          <a:bodyPr/>
          <a:lstStyle/>
          <a:p>
            <a:endParaRPr lang="en-IN" dirty="0"/>
          </a:p>
          <a:p>
            <a:r>
              <a:rPr lang="en-IN" dirty="0"/>
              <a:t>To do something different </a:t>
            </a:r>
          </a:p>
          <a:p>
            <a:r>
              <a:rPr lang="en-IN" dirty="0"/>
              <a:t>To try something new</a:t>
            </a:r>
          </a:p>
          <a:p>
            <a:r>
              <a:rPr lang="en-IN" dirty="0"/>
              <a:t>To pitch about some new product or services</a:t>
            </a:r>
          </a:p>
          <a:p>
            <a:r>
              <a:rPr lang="en-IN" dirty="0"/>
              <a:t>To motivate to boost the morale of the audience </a:t>
            </a:r>
          </a:p>
          <a:p>
            <a:r>
              <a:rPr lang="en-IN" dirty="0"/>
              <a:t>To provide innovative techniques and skills to the users</a:t>
            </a:r>
          </a:p>
        </p:txBody>
      </p:sp>
    </p:spTree>
    <p:extLst>
      <p:ext uri="{BB962C8B-B14F-4D97-AF65-F5344CB8AC3E}">
        <p14:creationId xmlns:p14="http://schemas.microsoft.com/office/powerpoint/2010/main" xmlns="" val="14378317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EA07EB-BE3F-B93D-95FD-31FF95FD3602}"/>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To persuade the audience</a:t>
            </a:r>
          </a:p>
        </p:txBody>
      </p:sp>
      <p:sp>
        <p:nvSpPr>
          <p:cNvPr id="3" name="Content Placeholder 2">
            <a:extLst>
              <a:ext uri="{FF2B5EF4-FFF2-40B4-BE49-F238E27FC236}">
                <a16:creationId xmlns:a16="http://schemas.microsoft.com/office/drawing/2014/main" xmlns="" id="{B677C909-F7D0-F787-7C39-EBF40C7DCC85}"/>
              </a:ext>
            </a:extLst>
          </p:cNvPr>
          <p:cNvSpPr>
            <a:spLocks noGrp="1"/>
          </p:cNvSpPr>
          <p:nvPr>
            <p:ph idx="1"/>
          </p:nvPr>
        </p:nvSpPr>
        <p:spPr/>
        <p:txBody>
          <a:bodyPr/>
          <a:lstStyle/>
          <a:p>
            <a:pPr marL="514350" indent="-514350">
              <a:buFont typeface="+mj-lt"/>
              <a:buAutoNum type="arabicPeriod"/>
            </a:pPr>
            <a:r>
              <a:rPr lang="en-IN" dirty="0"/>
              <a:t>Address  the audience’s needs ( use the audience-centric approach)</a:t>
            </a:r>
          </a:p>
          <a:p>
            <a:pPr marL="514350" indent="-514350">
              <a:buFont typeface="+mj-lt"/>
              <a:buAutoNum type="arabicPeriod"/>
            </a:pPr>
            <a:r>
              <a:rPr lang="en-IN" dirty="0"/>
              <a:t>Do not manipulate the audience( Avoid providing exaggerated or vague or unclear information)</a:t>
            </a:r>
          </a:p>
          <a:p>
            <a:pPr marL="514350" indent="-514350">
              <a:buFont typeface="+mj-lt"/>
              <a:buAutoNum type="arabicPeriod"/>
            </a:pPr>
            <a:r>
              <a:rPr lang="en-IN" dirty="0"/>
              <a:t>Help the audience to make intelligent and informed choices ( provide complete information)</a:t>
            </a:r>
          </a:p>
          <a:p>
            <a:pPr marL="514350" indent="-514350">
              <a:buFont typeface="+mj-lt"/>
              <a:buAutoNum type="arabicPeriod"/>
            </a:pPr>
            <a:r>
              <a:rPr lang="en-IN" dirty="0"/>
              <a:t>Highlights specific benefits to the audience (customise the information using an audience-centric approach)</a:t>
            </a:r>
          </a:p>
          <a:p>
            <a:pPr marL="514350" indent="-514350">
              <a:buFont typeface="+mj-lt"/>
              <a:buAutoNum type="arabicPeriod"/>
            </a:pPr>
            <a:r>
              <a:rPr lang="en-IN" dirty="0"/>
              <a:t>Make the message attractive to the audience ( Be creative in writing style and employ conversational tone)</a:t>
            </a:r>
          </a:p>
        </p:txBody>
      </p:sp>
    </p:spTree>
    <p:extLst>
      <p:ext uri="{BB962C8B-B14F-4D97-AF65-F5344CB8AC3E}">
        <p14:creationId xmlns:p14="http://schemas.microsoft.com/office/powerpoint/2010/main" xmlns="" val="31938054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BB4F7D-EC07-C266-6836-9B1B51A6E0E2}"/>
              </a:ext>
            </a:extLst>
          </p:cNvPr>
          <p:cNvSpPr>
            <a:spLocks noGrp="1"/>
          </p:cNvSpPr>
          <p:nvPr>
            <p:ph type="title"/>
          </p:nvPr>
        </p:nvSpPr>
        <p:spPr/>
        <p:txBody>
          <a:bodyPr/>
          <a:lstStyle/>
          <a:p>
            <a:pPr algn="ctr"/>
            <a:r>
              <a:rPr lang="en-IN" dirty="0"/>
              <a:t>Role of Audience Analysis</a:t>
            </a:r>
          </a:p>
        </p:txBody>
      </p:sp>
      <p:sp>
        <p:nvSpPr>
          <p:cNvPr id="3" name="Content Placeholder 2">
            <a:extLst>
              <a:ext uri="{FF2B5EF4-FFF2-40B4-BE49-F238E27FC236}">
                <a16:creationId xmlns:a16="http://schemas.microsoft.com/office/drawing/2014/main" xmlns="" id="{E6D74A77-D8E5-2B31-B137-E340ED355C99}"/>
              </a:ext>
            </a:extLst>
          </p:cNvPr>
          <p:cNvSpPr>
            <a:spLocks noGrp="1"/>
          </p:cNvSpPr>
          <p:nvPr>
            <p:ph idx="1"/>
          </p:nvPr>
        </p:nvSpPr>
        <p:spPr/>
        <p:txBody>
          <a:bodyPr/>
          <a:lstStyle/>
          <a:p>
            <a:pPr marL="0" indent="0">
              <a:buNone/>
            </a:pPr>
            <a:r>
              <a:rPr lang="en-IN" dirty="0"/>
              <a:t>Purpose: To persuade the audience it is necessary to search for common ground and points of agreement on which to build the pitch. (Challenge- to overcome the audience’s resistance)</a:t>
            </a:r>
          </a:p>
          <a:p>
            <a:pPr marL="0" indent="0">
              <a:buNone/>
            </a:pPr>
            <a:endParaRPr lang="en-IN" dirty="0"/>
          </a:p>
          <a:p>
            <a:pPr marL="914400" lvl="1" indent="-457200">
              <a:buFont typeface="+mj-lt"/>
              <a:buAutoNum type="arabicPeriod"/>
            </a:pPr>
            <a:r>
              <a:rPr lang="en-IN" dirty="0"/>
              <a:t>Who is my audience? (background)</a:t>
            </a:r>
          </a:p>
          <a:p>
            <a:pPr marL="914400" lvl="1" indent="-457200">
              <a:buFont typeface="+mj-lt"/>
              <a:buAutoNum type="arabicPeriod"/>
            </a:pPr>
            <a:r>
              <a:rPr lang="en-IN" dirty="0"/>
              <a:t>What are my audience’s needs? </a:t>
            </a:r>
          </a:p>
          <a:p>
            <a:pPr marL="914400" lvl="1" indent="-457200">
              <a:buFont typeface="+mj-lt"/>
              <a:buAutoNum type="arabicPeriod"/>
            </a:pPr>
            <a:r>
              <a:rPr lang="en-IN" dirty="0"/>
              <a:t>Where is my audience from? (Considering cultural differences)</a:t>
            </a:r>
          </a:p>
          <a:p>
            <a:pPr marL="914400" lvl="1" indent="-457200">
              <a:buFont typeface="+mj-lt"/>
              <a:buAutoNum type="arabicPeriod"/>
            </a:pPr>
            <a:r>
              <a:rPr lang="en-IN" dirty="0"/>
              <a:t>Why should the audience believe me? (Establish your credibility)</a:t>
            </a:r>
          </a:p>
          <a:p>
            <a:pPr marL="914400" lvl="1" indent="-457200">
              <a:buFont typeface="+mj-lt"/>
              <a:buAutoNum type="arabicPeriod"/>
            </a:pPr>
            <a:r>
              <a:rPr lang="en-IN" dirty="0"/>
              <a:t>How should I engage the reader ethically? (provide authentic and factual information)</a:t>
            </a:r>
          </a:p>
        </p:txBody>
      </p:sp>
    </p:spTree>
    <p:extLst>
      <p:ext uri="{BB962C8B-B14F-4D97-AF65-F5344CB8AC3E}">
        <p14:creationId xmlns:p14="http://schemas.microsoft.com/office/powerpoint/2010/main" xmlns="" val="22141358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579C7C-6670-A4A7-3FE8-5C1465BE9D7E}"/>
              </a:ext>
            </a:extLst>
          </p:cNvPr>
          <p:cNvSpPr>
            <a:spLocks noGrp="1"/>
          </p:cNvSpPr>
          <p:nvPr>
            <p:ph type="title"/>
          </p:nvPr>
        </p:nvSpPr>
        <p:spPr/>
        <p:txBody>
          <a:bodyPr/>
          <a:lstStyle/>
          <a:p>
            <a:pPr algn="ctr"/>
            <a:r>
              <a:rPr lang="en-IN" dirty="0"/>
              <a:t>2</a:t>
            </a:r>
            <a:r>
              <a:rPr lang="en-IN" baseline="30000" dirty="0"/>
              <a:t>nd</a:t>
            </a:r>
            <a:r>
              <a:rPr lang="en-IN" dirty="0"/>
              <a:t> Step: Writing</a:t>
            </a:r>
            <a:br>
              <a:rPr lang="en-IN" dirty="0"/>
            </a:br>
            <a:endParaRPr lang="en-IN" dirty="0"/>
          </a:p>
        </p:txBody>
      </p:sp>
      <p:sp>
        <p:nvSpPr>
          <p:cNvPr id="3" name="Content Placeholder 2">
            <a:extLst>
              <a:ext uri="{FF2B5EF4-FFF2-40B4-BE49-F238E27FC236}">
                <a16:creationId xmlns:a16="http://schemas.microsoft.com/office/drawing/2014/main" xmlns="" id="{50027015-95B7-C598-7045-3653E07CB818}"/>
              </a:ext>
            </a:extLst>
          </p:cNvPr>
          <p:cNvSpPr>
            <a:spLocks noGrp="1"/>
          </p:cNvSpPr>
          <p:nvPr>
            <p:ph idx="1"/>
          </p:nvPr>
        </p:nvSpPr>
        <p:spPr/>
        <p:txBody>
          <a:bodyPr/>
          <a:lstStyle/>
          <a:p>
            <a:pPr marL="0" indent="0">
              <a:buNone/>
            </a:pPr>
            <a:r>
              <a:rPr lang="en-IN" dirty="0"/>
              <a:t>Features of persuasive writing:</a:t>
            </a:r>
          </a:p>
          <a:p>
            <a:pPr marL="514350" indent="-514350">
              <a:buFont typeface="+mj-lt"/>
              <a:buAutoNum type="arabicPeriod"/>
            </a:pPr>
            <a:r>
              <a:rPr lang="en-IN" dirty="0"/>
              <a:t>Usually, the message is detailed.</a:t>
            </a:r>
          </a:p>
          <a:p>
            <a:pPr marL="514350" indent="-514350">
              <a:buFont typeface="+mj-lt"/>
              <a:buAutoNum type="arabicPeriod"/>
            </a:pPr>
            <a:r>
              <a:rPr lang="en-IN" dirty="0"/>
              <a:t>Also the message is longer than the other sorts of messages.</a:t>
            </a:r>
          </a:p>
          <a:p>
            <a:pPr marL="514350" indent="-514350">
              <a:buFont typeface="+mj-lt"/>
              <a:buAutoNum type="arabicPeriod"/>
            </a:pPr>
            <a:r>
              <a:rPr lang="en-IN" dirty="0"/>
              <a:t>Heavily depended on the strategic planning to influence the reader(AIDA strategy is discussed in the later slides)</a:t>
            </a:r>
          </a:p>
          <a:p>
            <a:endParaRPr lang="en-IN" dirty="0"/>
          </a:p>
        </p:txBody>
      </p:sp>
    </p:spTree>
    <p:extLst>
      <p:ext uri="{BB962C8B-B14F-4D97-AF65-F5344CB8AC3E}">
        <p14:creationId xmlns:p14="http://schemas.microsoft.com/office/powerpoint/2010/main" xmlns="" val="38257403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698631-8912-1173-41D8-AD4F4A791DED}"/>
              </a:ext>
            </a:extLst>
          </p:cNvPr>
          <p:cNvSpPr>
            <a:spLocks noGrp="1"/>
          </p:cNvSpPr>
          <p:nvPr>
            <p:ph type="title"/>
          </p:nvPr>
        </p:nvSpPr>
        <p:spPr/>
        <p:txBody>
          <a:bodyPr/>
          <a:lstStyle/>
          <a:p>
            <a:pPr algn="ctr"/>
            <a:r>
              <a:rPr lang="en-IN" dirty="0"/>
              <a:t>Strategy to write Persuasive Sales Messages</a:t>
            </a:r>
          </a:p>
        </p:txBody>
      </p:sp>
      <p:sp>
        <p:nvSpPr>
          <p:cNvPr id="3" name="Content Placeholder 2">
            <a:extLst>
              <a:ext uri="{FF2B5EF4-FFF2-40B4-BE49-F238E27FC236}">
                <a16:creationId xmlns:a16="http://schemas.microsoft.com/office/drawing/2014/main" xmlns="" id="{FA8E2C66-A0A7-6D96-B72B-A4D6E312E9F3}"/>
              </a:ext>
            </a:extLst>
          </p:cNvPr>
          <p:cNvSpPr>
            <a:spLocks noGrp="1"/>
          </p:cNvSpPr>
          <p:nvPr>
            <p:ph idx="1"/>
          </p:nvPr>
        </p:nvSpPr>
        <p:spPr/>
        <p:txBody>
          <a:bodyPr/>
          <a:lstStyle/>
          <a:p>
            <a:r>
              <a:rPr lang="en-IN" dirty="0"/>
              <a:t>A- Attention- Grab attention (Devices: Rhetorical question, Interesting facts, Quotation)</a:t>
            </a:r>
          </a:p>
          <a:p>
            <a:r>
              <a:rPr lang="en-IN" dirty="0"/>
              <a:t>I- Interest- Create interest (Provide detailed specific relevant features)</a:t>
            </a:r>
          </a:p>
          <a:p>
            <a:r>
              <a:rPr lang="en-IN" dirty="0"/>
              <a:t>D- Desire- Encourage desire (Build a desire in consumer by wish fulfilment)  </a:t>
            </a:r>
          </a:p>
          <a:p>
            <a:r>
              <a:rPr lang="en-IN" dirty="0"/>
              <a:t>A- Action- Motivate action (? Provide a discount, offer, or services)</a:t>
            </a:r>
          </a:p>
          <a:p>
            <a:endParaRPr lang="en-IN" dirty="0"/>
          </a:p>
        </p:txBody>
      </p:sp>
    </p:spTree>
    <p:extLst>
      <p:ext uri="{BB962C8B-B14F-4D97-AF65-F5344CB8AC3E}">
        <p14:creationId xmlns:p14="http://schemas.microsoft.com/office/powerpoint/2010/main" xmlns="" val="31958548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2A9507-D931-E789-94D6-92E81A37AB46}"/>
              </a:ext>
            </a:extLst>
          </p:cNvPr>
          <p:cNvSpPr>
            <a:spLocks noGrp="1"/>
          </p:cNvSpPr>
          <p:nvPr>
            <p:ph type="title"/>
          </p:nvPr>
        </p:nvSpPr>
        <p:spPr/>
        <p:txBody>
          <a:bodyPr/>
          <a:lstStyle/>
          <a:p>
            <a:pPr algn="ctr"/>
            <a:r>
              <a:rPr lang="en-IN" dirty="0"/>
              <a:t>Writing Tips and Strategies</a:t>
            </a:r>
          </a:p>
        </p:txBody>
      </p:sp>
      <p:sp>
        <p:nvSpPr>
          <p:cNvPr id="3" name="Content Placeholder 2">
            <a:extLst>
              <a:ext uri="{FF2B5EF4-FFF2-40B4-BE49-F238E27FC236}">
                <a16:creationId xmlns:a16="http://schemas.microsoft.com/office/drawing/2014/main" xmlns="" id="{ADFCA282-FEB7-DA83-A56B-72B735A2BC24}"/>
              </a:ext>
            </a:extLst>
          </p:cNvPr>
          <p:cNvSpPr>
            <a:spLocks noGrp="1"/>
          </p:cNvSpPr>
          <p:nvPr>
            <p:ph idx="1"/>
          </p:nvPr>
        </p:nvSpPr>
        <p:spPr/>
        <p:txBody>
          <a:bodyPr/>
          <a:lstStyle/>
          <a:p>
            <a:r>
              <a:rPr lang="en-IN" dirty="0"/>
              <a:t>Diction: Choose descriptive words and phrases</a:t>
            </a:r>
          </a:p>
          <a:p>
            <a:r>
              <a:rPr lang="en-IN" dirty="0"/>
              <a:t>Balance emotions with logical statements</a:t>
            </a:r>
          </a:p>
          <a:p>
            <a:r>
              <a:rPr lang="en-IN" dirty="0"/>
              <a:t>Substantiate statements with statistics and data</a:t>
            </a:r>
          </a:p>
          <a:p>
            <a:r>
              <a:rPr lang="en-IN" dirty="0"/>
              <a:t>Provide evidential details</a:t>
            </a:r>
          </a:p>
          <a:p>
            <a:r>
              <a:rPr lang="en-IN" dirty="0"/>
              <a:t>State things concretely </a:t>
            </a:r>
          </a:p>
          <a:p>
            <a:r>
              <a:rPr lang="en-IN" dirty="0"/>
              <a:t>Use the “you” approach</a:t>
            </a:r>
          </a:p>
          <a:p>
            <a:r>
              <a:rPr lang="en-IN" dirty="0"/>
              <a:t>Repeat the ideas</a:t>
            </a:r>
          </a:p>
          <a:p>
            <a:endParaRPr lang="en-IN" dirty="0"/>
          </a:p>
          <a:p>
            <a:endParaRPr lang="en-IN" dirty="0"/>
          </a:p>
          <a:p>
            <a:endParaRPr lang="en-IN" dirty="0"/>
          </a:p>
        </p:txBody>
      </p:sp>
      <p:sp>
        <p:nvSpPr>
          <p:cNvPr id="5" name="TextBox 4">
            <a:extLst>
              <a:ext uri="{FF2B5EF4-FFF2-40B4-BE49-F238E27FC236}">
                <a16:creationId xmlns:a16="http://schemas.microsoft.com/office/drawing/2014/main" xmlns="" id="{0F85A5D8-A78E-3F82-5DCC-F03858132AE6}"/>
              </a:ext>
            </a:extLst>
          </p:cNvPr>
          <p:cNvSpPr txBox="1"/>
          <p:nvPr/>
        </p:nvSpPr>
        <p:spPr>
          <a:xfrm flipH="1">
            <a:off x="12022668" y="-184666"/>
            <a:ext cx="169332" cy="369332"/>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xmlns="" val="20226255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C23A67-C277-E287-AA91-6498B1D1A742}"/>
              </a:ext>
            </a:extLst>
          </p:cNvPr>
          <p:cNvSpPr>
            <a:spLocks noGrp="1"/>
          </p:cNvSpPr>
          <p:nvPr>
            <p:ph type="title"/>
          </p:nvPr>
        </p:nvSpPr>
        <p:spPr/>
        <p:txBody>
          <a:bodyPr/>
          <a:lstStyle/>
          <a:p>
            <a:pPr algn="ctr"/>
            <a:r>
              <a:rPr lang="en-IN" dirty="0"/>
              <a:t>3</a:t>
            </a:r>
            <a:r>
              <a:rPr lang="en-IN" baseline="30000" dirty="0"/>
              <a:t>rd</a:t>
            </a:r>
            <a:r>
              <a:rPr lang="en-IN" dirty="0"/>
              <a:t> Step: Proofreading Stage</a:t>
            </a:r>
          </a:p>
        </p:txBody>
      </p:sp>
      <p:sp>
        <p:nvSpPr>
          <p:cNvPr id="3" name="Content Placeholder 2">
            <a:extLst>
              <a:ext uri="{FF2B5EF4-FFF2-40B4-BE49-F238E27FC236}">
                <a16:creationId xmlns:a16="http://schemas.microsoft.com/office/drawing/2014/main" xmlns="" id="{9D5E0BA2-D902-8ACE-6305-1151B106103E}"/>
              </a:ext>
            </a:extLst>
          </p:cNvPr>
          <p:cNvSpPr>
            <a:spLocks noGrp="1"/>
          </p:cNvSpPr>
          <p:nvPr>
            <p:ph idx="1"/>
          </p:nvPr>
        </p:nvSpPr>
        <p:spPr/>
        <p:txBody>
          <a:bodyPr/>
          <a:lstStyle/>
          <a:p>
            <a:pPr marL="514350" indent="-514350">
              <a:buFont typeface="+mj-lt"/>
              <a:buAutoNum type="arabicPeriod"/>
            </a:pPr>
            <a:r>
              <a:rPr lang="en-IN" dirty="0"/>
              <a:t>Verify the information and details</a:t>
            </a:r>
          </a:p>
          <a:p>
            <a:pPr marL="514350" indent="-514350">
              <a:buFont typeface="+mj-lt"/>
              <a:buAutoNum type="arabicPeriod"/>
            </a:pPr>
            <a:r>
              <a:rPr lang="en-IN" dirty="0"/>
              <a:t>Proofread the content for grammatical, spelling, punctuation, and syntactical errors in the message.</a:t>
            </a:r>
          </a:p>
          <a:p>
            <a:pPr marL="514350" indent="-514350">
              <a:buFont typeface="+mj-lt"/>
              <a:buAutoNum type="arabicPeriod"/>
            </a:pPr>
            <a:r>
              <a:rPr lang="en-IN" dirty="0"/>
              <a:t>Verify citations to avoid plagiarism.</a:t>
            </a:r>
          </a:p>
          <a:p>
            <a:pPr marL="514350" indent="-514350">
              <a:buFont typeface="+mj-lt"/>
              <a:buAutoNum type="arabicPeriod"/>
            </a:pPr>
            <a:endParaRPr lang="en-IN" dirty="0"/>
          </a:p>
        </p:txBody>
      </p:sp>
    </p:spTree>
    <p:extLst>
      <p:ext uri="{BB962C8B-B14F-4D97-AF65-F5344CB8AC3E}">
        <p14:creationId xmlns:p14="http://schemas.microsoft.com/office/powerpoint/2010/main" xmlns="" val="8169819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30C879-4266-376D-5767-D5B5382C5D0C}"/>
              </a:ext>
            </a:extLst>
          </p:cNvPr>
          <p:cNvSpPr>
            <a:spLocks noGrp="1"/>
          </p:cNvSpPr>
          <p:nvPr>
            <p:ph type="title"/>
          </p:nvPr>
        </p:nvSpPr>
        <p:spPr/>
        <p:txBody>
          <a:bodyPr/>
          <a:lstStyle/>
          <a:p>
            <a:pPr algn="ctr"/>
            <a:r>
              <a:rPr lang="en-IN" dirty="0"/>
              <a:t>Exercise</a:t>
            </a:r>
          </a:p>
        </p:txBody>
      </p:sp>
      <p:sp>
        <p:nvSpPr>
          <p:cNvPr id="3" name="Content Placeholder 2">
            <a:extLst>
              <a:ext uri="{FF2B5EF4-FFF2-40B4-BE49-F238E27FC236}">
                <a16:creationId xmlns:a16="http://schemas.microsoft.com/office/drawing/2014/main" xmlns="" id="{DE303D3E-8A35-7872-28FB-F1190854F055}"/>
              </a:ext>
            </a:extLst>
          </p:cNvPr>
          <p:cNvSpPr>
            <a:spLocks noGrp="1"/>
          </p:cNvSpPr>
          <p:nvPr>
            <p:ph idx="1"/>
          </p:nvPr>
        </p:nvSpPr>
        <p:spPr/>
        <p:txBody>
          <a:bodyPr/>
          <a:lstStyle/>
          <a:p>
            <a:r>
              <a:rPr lang="en-IN" dirty="0"/>
              <a:t>Write a message to the Dean of Academics, CSJMU, requesting to lessen the students’ attendance bar from 75% to 60% in UIET. Invent the necessary details.</a:t>
            </a:r>
          </a:p>
          <a:p>
            <a:r>
              <a:rPr lang="en-IN" dirty="0"/>
              <a:t>Write a message to the Incubation Cell, CSJMU, requesting to fund your project. Invent the necessary details.</a:t>
            </a:r>
          </a:p>
          <a:p>
            <a:r>
              <a:rPr lang="en-IN" dirty="0"/>
              <a:t>Write a message to an academic institution/ prestigious company to pursue a summer internship. Invent the necessary details.</a:t>
            </a:r>
          </a:p>
          <a:p>
            <a:r>
              <a:rPr lang="en-IN" dirty="0"/>
              <a:t>Write a message to the Head of the Department of your institute to appoint you as the Class Representative of your batch.</a:t>
            </a:r>
          </a:p>
        </p:txBody>
      </p:sp>
    </p:spTree>
    <p:extLst>
      <p:ext uri="{BB962C8B-B14F-4D97-AF65-F5344CB8AC3E}">
        <p14:creationId xmlns:p14="http://schemas.microsoft.com/office/powerpoint/2010/main" xmlns="" val="18163473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39AA74-C50F-BA06-069A-C66DD17F4001}"/>
              </a:ext>
            </a:extLst>
          </p:cNvPr>
          <p:cNvSpPr>
            <a:spLocks noGrp="1"/>
          </p:cNvSpPr>
          <p:nvPr>
            <p:ph type="title"/>
          </p:nvPr>
        </p:nvSpPr>
        <p:spPr/>
        <p:txBody>
          <a:bodyPr/>
          <a:lstStyle/>
          <a:p>
            <a:pPr algn="ctr"/>
            <a:r>
              <a:rPr lang="en-US" dirty="0"/>
              <a:t>Example</a:t>
            </a:r>
            <a:endParaRPr lang="en-IN" dirty="0"/>
          </a:p>
        </p:txBody>
      </p:sp>
      <p:sp>
        <p:nvSpPr>
          <p:cNvPr id="3" name="Content Placeholder 2">
            <a:extLst>
              <a:ext uri="{FF2B5EF4-FFF2-40B4-BE49-F238E27FC236}">
                <a16:creationId xmlns:a16="http://schemas.microsoft.com/office/drawing/2014/main" xmlns="" id="{112BB80F-3AE7-47D4-24E0-38FFBC818E32}"/>
              </a:ext>
            </a:extLst>
          </p:cNvPr>
          <p:cNvSpPr>
            <a:spLocks noGrp="1"/>
          </p:cNvSpPr>
          <p:nvPr>
            <p:ph idx="1"/>
          </p:nvPr>
        </p:nvSpPr>
        <p:spPr/>
        <p:txBody>
          <a:bodyPr>
            <a:normAutofit fontScale="85000" lnSpcReduction="10000"/>
          </a:bodyPr>
          <a:lstStyle/>
          <a:p>
            <a:pPr marL="0" indent="0">
              <a:buNone/>
            </a:pPr>
            <a:r>
              <a:rPr lang="en-US" dirty="0"/>
              <a:t>Dear Sir/ Madam:</a:t>
            </a:r>
          </a:p>
          <a:p>
            <a:pPr marL="0" indent="0">
              <a:buNone/>
            </a:pPr>
            <a:r>
              <a:rPr lang="en-US" dirty="0"/>
              <a:t>We humbly request reconsideration of the 75% mandatory attendance for the B.Tech. students. As we are committed to enhancing knowledge and honing skills, we require additional training in other software and hardware programs apart from the core subjects learning, which can be either through online platforms or industrial visits. Unfortunately, we are unable to take up such enhancement courses on developing a technical skill set because 75% attendance is mandatory. We completely understand the importance of attending college for holistic development. Nevertheless, we are facing challenges because of the strict requirement of meeting the attendance criteria. However, several technical institutes have attendance up to 60 % which enables the students to maintain a balance between their academic progress and institutional discipline. Thus, on behalf of the entire student fraternity, we request that you lower the attendance criteria to 60% for the welfare of graduate students.</a:t>
            </a:r>
          </a:p>
        </p:txBody>
      </p:sp>
    </p:spTree>
    <p:extLst>
      <p:ext uri="{BB962C8B-B14F-4D97-AF65-F5344CB8AC3E}">
        <p14:creationId xmlns:p14="http://schemas.microsoft.com/office/powerpoint/2010/main" xmlns="" val="38909433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8B6D450-C289-0D41-28CF-DF871538D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8D6A455-C447-52DC-2596-409A34103C7F}"/>
              </a:ext>
            </a:extLst>
          </p:cNvPr>
          <p:cNvSpPr>
            <a:spLocks noGrp="1"/>
          </p:cNvSpPr>
          <p:nvPr>
            <p:ph type="title"/>
          </p:nvPr>
        </p:nvSpPr>
        <p:spPr/>
        <p:txBody>
          <a:bodyPr/>
          <a:lstStyle/>
          <a:p>
            <a:pPr algn="ctr"/>
            <a:r>
              <a:rPr lang="en-US" dirty="0"/>
              <a:t>Example</a:t>
            </a:r>
            <a:endParaRPr lang="en-IN" dirty="0"/>
          </a:p>
        </p:txBody>
      </p:sp>
      <p:sp>
        <p:nvSpPr>
          <p:cNvPr id="3" name="Content Placeholder 2">
            <a:extLst>
              <a:ext uri="{FF2B5EF4-FFF2-40B4-BE49-F238E27FC236}">
                <a16:creationId xmlns:a16="http://schemas.microsoft.com/office/drawing/2014/main" xmlns="" id="{AA39BE99-6C73-A937-FFB1-54FA448BBFCD}"/>
              </a:ext>
            </a:extLst>
          </p:cNvPr>
          <p:cNvSpPr>
            <a:spLocks noGrp="1"/>
          </p:cNvSpPr>
          <p:nvPr>
            <p:ph idx="1"/>
          </p:nvPr>
        </p:nvSpPr>
        <p:spPr/>
        <p:txBody>
          <a:bodyPr>
            <a:normAutofit fontScale="92500" lnSpcReduction="10000"/>
          </a:bodyPr>
          <a:lstStyle/>
          <a:p>
            <a:pPr marL="0" indent="0">
              <a:buNone/>
            </a:pPr>
            <a:r>
              <a:rPr lang="en-US" dirty="0"/>
              <a:t>Dear Sir/ Madam:</a:t>
            </a:r>
          </a:p>
          <a:p>
            <a:pPr marL="0" indent="0">
              <a:buNone/>
            </a:pPr>
            <a:r>
              <a:rPr lang="en-US" dirty="0"/>
              <a:t>We humbly request reconsideration of the 75% mandatory attendance for B.Tech. students. As we are committed to enhancing our knowledge and honing our skills, we need additional training in software and hardware programs beyond core subjects. This training often occurs through online platforms or industrial visits. Unfortunately, the 75% attendance requirement limits our ability to pursue these enhancement courses for developing technical skill sets. We understand the importance of attending college for holistic development. However, several technical institutes have attendance requirements up to 60%, enabling students to balance academic progress and institutional discipline. Thus, on behalf of the entire student fraternity, we request you to lower the attendance criteria to 60% for the welfare of graduate students.</a:t>
            </a:r>
          </a:p>
        </p:txBody>
      </p:sp>
    </p:spTree>
    <p:extLst>
      <p:ext uri="{BB962C8B-B14F-4D97-AF65-F5344CB8AC3E}">
        <p14:creationId xmlns:p14="http://schemas.microsoft.com/office/powerpoint/2010/main" xmlns="" val="36145096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D2BB2A-C320-0374-CE7D-2D0485185B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0B7B2C5-0260-B04B-759C-9A2700AB840C}"/>
              </a:ext>
            </a:extLst>
          </p:cNvPr>
          <p:cNvSpPr>
            <a:spLocks noGrp="1"/>
          </p:cNvSpPr>
          <p:nvPr>
            <p:ph type="title"/>
          </p:nvPr>
        </p:nvSpPr>
        <p:spPr/>
        <p:txBody>
          <a:bodyPr/>
          <a:lstStyle/>
          <a:p>
            <a:pPr algn="ctr"/>
            <a:r>
              <a:rPr lang="en-US" dirty="0"/>
              <a:t>Example</a:t>
            </a:r>
            <a:endParaRPr lang="en-IN" dirty="0"/>
          </a:p>
        </p:txBody>
      </p:sp>
      <p:sp>
        <p:nvSpPr>
          <p:cNvPr id="3" name="Content Placeholder 2">
            <a:extLst>
              <a:ext uri="{FF2B5EF4-FFF2-40B4-BE49-F238E27FC236}">
                <a16:creationId xmlns:a16="http://schemas.microsoft.com/office/drawing/2014/main" xmlns="" id="{7FF4D03B-B143-31FB-4F09-CF904D8A4599}"/>
              </a:ext>
            </a:extLst>
          </p:cNvPr>
          <p:cNvSpPr>
            <a:spLocks noGrp="1"/>
          </p:cNvSpPr>
          <p:nvPr>
            <p:ph idx="1"/>
          </p:nvPr>
        </p:nvSpPr>
        <p:spPr/>
        <p:txBody>
          <a:bodyPr>
            <a:normAutofit fontScale="92500" lnSpcReduction="20000"/>
          </a:bodyPr>
          <a:lstStyle/>
          <a:p>
            <a:pPr marL="0" indent="0">
              <a:buNone/>
            </a:pPr>
            <a:r>
              <a:rPr lang="en-US" dirty="0"/>
              <a:t>Dear Sir/ Madam:</a:t>
            </a:r>
          </a:p>
          <a:p>
            <a:pPr marL="0" indent="0">
              <a:buNone/>
            </a:pPr>
            <a:r>
              <a:rPr lang="en-US" dirty="0"/>
              <a:t>We respectfully urge reconsideration of the 75% mandatory attendance requirement for B.Tech. students, as it significantly impacts our ability to enhance technical skills crucial for today’s competitive job market. Committed to academic excellence and skill development, we seek flexibility to pursue additional training in cutting-edge software and hardware through online platforms or industrial visits – opportunities vital for broadening our expertise. While we acknowledge the importance of regular attendance for holistic development, a reduction to 60% – a benchmark in several leading technical institutes – would empower us to balance academic rigor with skill enhancement. By lowering the attendance criteria to 60%, you would be supporting the welfare and future readiness of graduate students. We earnestly request your consideration of this proposal for the benefit of the entire B.Tech. student fraternity.</a:t>
            </a:r>
          </a:p>
        </p:txBody>
      </p:sp>
    </p:spTree>
    <p:extLst>
      <p:ext uri="{BB962C8B-B14F-4D97-AF65-F5344CB8AC3E}">
        <p14:creationId xmlns:p14="http://schemas.microsoft.com/office/powerpoint/2010/main" xmlns="" val="29107532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4653EC-9CED-FD72-8D3E-BFC650072C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9A8035E-4331-CCA0-F8D4-A919BA0BAEE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xmlns="" val="9171049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B35B24-D484-0DA2-DBA4-127446A92583}"/>
              </a:ext>
            </a:extLst>
          </p:cNvPr>
          <p:cNvSpPr>
            <a:spLocks noGrp="1"/>
          </p:cNvSpPr>
          <p:nvPr>
            <p:ph type="title"/>
          </p:nvPr>
        </p:nvSpPr>
        <p:spPr/>
        <p:txBody>
          <a:bodyPr/>
          <a:lstStyle/>
          <a:p>
            <a:pPr algn="ctr"/>
            <a:r>
              <a:rPr lang="en-IN" dirty="0"/>
              <a:t>Goodwill Messages</a:t>
            </a:r>
          </a:p>
        </p:txBody>
      </p:sp>
      <p:sp>
        <p:nvSpPr>
          <p:cNvPr id="3" name="Content Placeholder 2">
            <a:extLst>
              <a:ext uri="{FF2B5EF4-FFF2-40B4-BE49-F238E27FC236}">
                <a16:creationId xmlns:a16="http://schemas.microsoft.com/office/drawing/2014/main" xmlns="" id="{D40C242C-5E96-A878-410D-A850845DE266}"/>
              </a:ext>
            </a:extLst>
          </p:cNvPr>
          <p:cNvSpPr>
            <a:spLocks noGrp="1"/>
          </p:cNvSpPr>
          <p:nvPr>
            <p:ph idx="1"/>
          </p:nvPr>
        </p:nvSpPr>
        <p:spPr>
          <a:xfrm>
            <a:off x="838200" y="1464733"/>
            <a:ext cx="10515600" cy="4712230"/>
          </a:xfrm>
        </p:spPr>
        <p:txBody>
          <a:bodyPr/>
          <a:lstStyle/>
          <a:p>
            <a:pPr marL="0" indent="0">
              <a:buNone/>
            </a:pPr>
            <a:r>
              <a:rPr lang="en-IN" dirty="0"/>
              <a:t>Messages are written:</a:t>
            </a:r>
          </a:p>
          <a:p>
            <a:pPr marL="514350" indent="-514350">
              <a:buFont typeface="Arial" panose="020B0604020202020204" pitchFamily="34" charset="0"/>
              <a:buAutoNum type="arabicPeriod"/>
            </a:pPr>
            <a:r>
              <a:rPr lang="en-IN" dirty="0"/>
              <a:t>To build healthy professional relationships</a:t>
            </a:r>
          </a:p>
          <a:p>
            <a:pPr marL="514350" indent="-514350">
              <a:buAutoNum type="arabicPeriod"/>
            </a:pPr>
            <a:r>
              <a:rPr lang="en-IN" dirty="0"/>
              <a:t>To appreciate </a:t>
            </a:r>
          </a:p>
          <a:p>
            <a:pPr marL="514350" indent="-514350">
              <a:buAutoNum type="arabicPeriod"/>
            </a:pPr>
            <a:r>
              <a:rPr lang="en-IN" dirty="0"/>
              <a:t>To congratulate </a:t>
            </a:r>
          </a:p>
          <a:p>
            <a:pPr marL="514350" indent="-514350">
              <a:buAutoNum type="arabicPeriod"/>
            </a:pPr>
            <a:r>
              <a:rPr lang="en-IN" dirty="0"/>
              <a:t>To collaborate and cooperate</a:t>
            </a:r>
          </a:p>
        </p:txBody>
      </p:sp>
    </p:spTree>
    <p:extLst>
      <p:ext uri="{BB962C8B-B14F-4D97-AF65-F5344CB8AC3E}">
        <p14:creationId xmlns:p14="http://schemas.microsoft.com/office/powerpoint/2010/main" xmlns="" val="19252535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E104DB-A179-1F93-01F5-B69312B1B66F}"/>
              </a:ext>
            </a:extLst>
          </p:cNvPr>
          <p:cNvSpPr>
            <a:spLocks noGrp="1"/>
          </p:cNvSpPr>
          <p:nvPr>
            <p:ph type="title"/>
          </p:nvPr>
        </p:nvSpPr>
        <p:spPr/>
        <p:txBody>
          <a:bodyPr/>
          <a:lstStyle/>
          <a:p>
            <a:pPr algn="ctr"/>
            <a:r>
              <a:rPr lang="en-US" dirty="0"/>
              <a:t>The 5 S’s of Goodwill Messages</a:t>
            </a:r>
            <a:endParaRPr lang="en-IN" dirty="0"/>
          </a:p>
        </p:txBody>
      </p:sp>
      <p:pic>
        <p:nvPicPr>
          <p:cNvPr id="4" name="Content Placeholder 3">
            <a:extLst>
              <a:ext uri="{FF2B5EF4-FFF2-40B4-BE49-F238E27FC236}">
                <a16:creationId xmlns:a16="http://schemas.microsoft.com/office/drawing/2014/main" xmlns="" id="{03CC70BB-363B-758C-B21A-D080282306D7}"/>
              </a:ext>
            </a:extLst>
          </p:cNvPr>
          <p:cNvPicPr>
            <a:picLocks noGrp="1" noChangeAspect="1"/>
          </p:cNvPicPr>
          <p:nvPr>
            <p:ph idx="1"/>
          </p:nvPr>
        </p:nvPicPr>
        <p:blipFill>
          <a:blip r:embed="rId2"/>
          <a:stretch>
            <a:fillRect/>
          </a:stretch>
        </p:blipFill>
        <p:spPr>
          <a:xfrm>
            <a:off x="838200" y="2784801"/>
            <a:ext cx="10515600" cy="2432985"/>
          </a:xfrm>
          <a:prstGeom prst="rect">
            <a:avLst/>
          </a:prstGeom>
        </p:spPr>
      </p:pic>
    </p:spTree>
    <p:extLst>
      <p:ext uri="{BB962C8B-B14F-4D97-AF65-F5344CB8AC3E}">
        <p14:creationId xmlns:p14="http://schemas.microsoft.com/office/powerpoint/2010/main" xmlns="" val="10503733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036C3B-A3E5-5DDE-4056-B03F2CFA48C8}"/>
              </a:ext>
            </a:extLst>
          </p:cNvPr>
          <p:cNvSpPr>
            <a:spLocks noGrp="1"/>
          </p:cNvSpPr>
          <p:nvPr>
            <p:ph type="title"/>
          </p:nvPr>
        </p:nvSpPr>
        <p:spPr/>
        <p:txBody>
          <a:bodyPr/>
          <a:lstStyle/>
          <a:p>
            <a:pPr algn="ctr"/>
            <a:r>
              <a:rPr lang="en-IN" dirty="0"/>
              <a:t>Exercise</a:t>
            </a:r>
          </a:p>
        </p:txBody>
      </p:sp>
      <p:sp>
        <p:nvSpPr>
          <p:cNvPr id="3" name="Content Placeholder 2">
            <a:extLst>
              <a:ext uri="{FF2B5EF4-FFF2-40B4-BE49-F238E27FC236}">
                <a16:creationId xmlns:a16="http://schemas.microsoft.com/office/drawing/2014/main" xmlns="" id="{B89B8647-4077-19D6-3767-875C2936B5CA}"/>
              </a:ext>
            </a:extLst>
          </p:cNvPr>
          <p:cNvSpPr>
            <a:spLocks noGrp="1"/>
          </p:cNvSpPr>
          <p:nvPr>
            <p:ph idx="1"/>
          </p:nvPr>
        </p:nvSpPr>
        <p:spPr/>
        <p:txBody>
          <a:bodyPr>
            <a:normAutofit fontScale="92500"/>
          </a:bodyPr>
          <a:lstStyle/>
          <a:p>
            <a:pPr marL="0" indent="0">
              <a:buNone/>
            </a:pPr>
            <a:r>
              <a:rPr lang="en-US" b="0" i="0" dirty="0">
                <a:solidFill>
                  <a:srgbClr val="000000"/>
                </a:solidFill>
                <a:effectLst/>
                <a:latin typeface="Arial" panose="020B0604020202020204" pitchFamily="34" charset="0"/>
              </a:rPr>
              <a:t>1. Vivek is writing a message to a colleague congratulating her on a promotion. Vivek asked you to proofread his message. You notice that he uses a lot of "I" statements. What advice would you give him?</a:t>
            </a:r>
          </a:p>
          <a:p>
            <a:pPr marL="0" indent="0">
              <a:buNone/>
            </a:pPr>
            <a:endParaRPr lang="en-US" b="0" i="0" dirty="0">
              <a:solidFill>
                <a:srgbClr val="000000"/>
              </a:solidFill>
              <a:effectLst/>
              <a:latin typeface="Arial" panose="020B0604020202020204" pitchFamily="34" charset="0"/>
            </a:endParaRPr>
          </a:p>
          <a:p>
            <a:pPr marL="0" indent="0">
              <a:buNone/>
            </a:pPr>
            <a:r>
              <a:rPr lang="en-US" b="0" i="0" dirty="0">
                <a:solidFill>
                  <a:srgbClr val="000000"/>
                </a:solidFill>
                <a:effectLst/>
                <a:latin typeface="Arial" panose="020B0604020202020204" pitchFamily="34" charset="0"/>
              </a:rPr>
              <a:t>2. Vivek just found out that a colleague recommended him for a promotion.  Which of the following should he do?</a:t>
            </a:r>
          </a:p>
          <a:p>
            <a:r>
              <a:rPr lang="en-US" dirty="0"/>
              <a:t>He should promptly send a thank you note to his colleague.</a:t>
            </a:r>
          </a:p>
          <a:p>
            <a:r>
              <a:rPr lang="en-US" dirty="0"/>
              <a:t>He should wait to see if he gets the promotion before thanking his colleague.</a:t>
            </a:r>
          </a:p>
          <a:p>
            <a:r>
              <a:rPr lang="en-US" dirty="0"/>
              <a:t>He should thank his colleague but only if the topic comes up.</a:t>
            </a:r>
            <a:endParaRPr lang="en-IN" dirty="0"/>
          </a:p>
        </p:txBody>
      </p:sp>
    </p:spTree>
    <p:extLst>
      <p:ext uri="{BB962C8B-B14F-4D97-AF65-F5344CB8AC3E}">
        <p14:creationId xmlns:p14="http://schemas.microsoft.com/office/powerpoint/2010/main" xmlns="" val="6403638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ABAAC0-2AFC-4D9C-72E1-CED0B27E9EE7}"/>
              </a:ext>
            </a:extLst>
          </p:cNvPr>
          <p:cNvSpPr>
            <a:spLocks noGrp="1"/>
          </p:cNvSpPr>
          <p:nvPr>
            <p:ph type="title"/>
          </p:nvPr>
        </p:nvSpPr>
        <p:spPr/>
        <p:txBody>
          <a:bodyPr/>
          <a:lstStyle/>
          <a:p>
            <a:pPr algn="ctr"/>
            <a:r>
              <a:rPr lang="en-IN" dirty="0"/>
              <a:t>Types of Goodwill Messages</a:t>
            </a:r>
          </a:p>
        </p:txBody>
      </p:sp>
      <p:sp>
        <p:nvSpPr>
          <p:cNvPr id="3" name="Content Placeholder 2">
            <a:extLst>
              <a:ext uri="{FF2B5EF4-FFF2-40B4-BE49-F238E27FC236}">
                <a16:creationId xmlns:a16="http://schemas.microsoft.com/office/drawing/2014/main" xmlns="" id="{D812FF73-E7EE-36F5-3DF8-94C8F9F6CB5A}"/>
              </a:ext>
            </a:extLst>
          </p:cNvPr>
          <p:cNvSpPr>
            <a:spLocks noGrp="1"/>
          </p:cNvSpPr>
          <p:nvPr>
            <p:ph idx="1"/>
          </p:nvPr>
        </p:nvSpPr>
        <p:spPr/>
        <p:txBody>
          <a:bodyPr/>
          <a:lstStyle/>
          <a:p>
            <a:pPr marL="514350" indent="-514350">
              <a:buFont typeface="+mj-lt"/>
              <a:buAutoNum type="alphaUcPeriod"/>
            </a:pPr>
            <a:r>
              <a:rPr lang="en-IN" dirty="0"/>
              <a:t>Thank-you notes should :</a:t>
            </a:r>
          </a:p>
          <a:p>
            <a:pPr marL="914400" lvl="1" indent="-457200">
              <a:buFont typeface="+mj-lt"/>
              <a:buAutoNum type="arabicPeriod"/>
            </a:pPr>
            <a:r>
              <a:rPr lang="en-IN" dirty="0"/>
              <a:t>Acknowledge the favours</a:t>
            </a:r>
          </a:p>
          <a:p>
            <a:pPr marL="914400" lvl="1" indent="-457200">
              <a:buFont typeface="+mj-lt"/>
              <a:buAutoNum type="arabicPeriod"/>
            </a:pPr>
            <a:r>
              <a:rPr lang="en-IN" dirty="0"/>
              <a:t>Build positive relations</a:t>
            </a:r>
          </a:p>
          <a:p>
            <a:pPr marL="914400" lvl="1" indent="-457200">
              <a:buFont typeface="+mj-lt"/>
              <a:buAutoNum type="arabicPeriod"/>
            </a:pPr>
            <a:r>
              <a:rPr lang="en-IN" dirty="0"/>
              <a:t>Congratulate on one’s achievements</a:t>
            </a:r>
          </a:p>
        </p:txBody>
      </p:sp>
    </p:spTree>
    <p:extLst>
      <p:ext uri="{BB962C8B-B14F-4D97-AF65-F5344CB8AC3E}">
        <p14:creationId xmlns:p14="http://schemas.microsoft.com/office/powerpoint/2010/main" xmlns="" val="4885248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C652B7-0B44-DD8A-BDD6-E9D46D198018}"/>
              </a:ext>
            </a:extLst>
          </p:cNvPr>
          <p:cNvSpPr>
            <a:spLocks noGrp="1"/>
          </p:cNvSpPr>
          <p:nvPr>
            <p:ph type="title"/>
          </p:nvPr>
        </p:nvSpPr>
        <p:spPr/>
        <p:txBody>
          <a:bodyPr/>
          <a:lstStyle/>
          <a:p>
            <a:pPr algn="ctr"/>
            <a:r>
              <a:rPr lang="en-IN" dirty="0"/>
              <a:t>Sentences and expressions</a:t>
            </a:r>
          </a:p>
        </p:txBody>
      </p:sp>
      <p:sp>
        <p:nvSpPr>
          <p:cNvPr id="3" name="Content Placeholder 2">
            <a:extLst>
              <a:ext uri="{FF2B5EF4-FFF2-40B4-BE49-F238E27FC236}">
                <a16:creationId xmlns:a16="http://schemas.microsoft.com/office/drawing/2014/main" xmlns="" id="{8374A60C-C20E-D5BE-5083-9DF6FD177E35}"/>
              </a:ext>
            </a:extLst>
          </p:cNvPr>
          <p:cNvSpPr>
            <a:spLocks noGrp="1"/>
          </p:cNvSpPr>
          <p:nvPr>
            <p:ph idx="1"/>
          </p:nvPr>
        </p:nvSpPr>
        <p:spPr/>
        <p:txBody>
          <a:bodyPr/>
          <a:lstStyle/>
          <a:p>
            <a:r>
              <a:rPr lang="en-IN" dirty="0"/>
              <a:t>I just want to thank you for putting in a good word for me with  . . .</a:t>
            </a:r>
          </a:p>
          <a:p>
            <a:r>
              <a:rPr lang="en-IN" dirty="0"/>
              <a:t>I  extend my heartfelt thanks for recommending me.</a:t>
            </a:r>
          </a:p>
          <a:p>
            <a:r>
              <a:rPr lang="en-IN" dirty="0"/>
              <a:t>I have the pleasure of working with a kind and thoughtful person.</a:t>
            </a:r>
          </a:p>
          <a:p>
            <a:r>
              <a:rPr lang="en-IN" dirty="0"/>
              <a:t>I appreciate all the help you have been giving me over the years.</a:t>
            </a:r>
          </a:p>
          <a:p>
            <a:r>
              <a:rPr lang="en-IN" dirty="0"/>
              <a:t>I appreciate for bringing me this opportunity.</a:t>
            </a:r>
          </a:p>
          <a:p>
            <a:r>
              <a:rPr lang="en-IN" dirty="0"/>
              <a:t>If there is anything, I can help you with in return.</a:t>
            </a:r>
          </a:p>
          <a:p>
            <a:r>
              <a:rPr lang="en-IN" dirty="0"/>
              <a:t>I owe you one.</a:t>
            </a:r>
          </a:p>
          <a:p>
            <a:endParaRPr lang="en-IN" dirty="0"/>
          </a:p>
          <a:p>
            <a:endParaRPr lang="en-IN" dirty="0"/>
          </a:p>
        </p:txBody>
      </p:sp>
    </p:spTree>
    <p:extLst>
      <p:ext uri="{BB962C8B-B14F-4D97-AF65-F5344CB8AC3E}">
        <p14:creationId xmlns:p14="http://schemas.microsoft.com/office/powerpoint/2010/main" xmlns="" val="41356034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DE598B-427B-92FF-9DEA-1FDA36849BE3}"/>
              </a:ext>
            </a:extLst>
          </p:cNvPr>
          <p:cNvSpPr>
            <a:spLocks noGrp="1"/>
          </p:cNvSpPr>
          <p:nvPr>
            <p:ph type="title"/>
          </p:nvPr>
        </p:nvSpPr>
        <p:spPr/>
        <p:txBody>
          <a:bodyPr/>
          <a:lstStyle/>
          <a:p>
            <a:pPr algn="ctr"/>
            <a:r>
              <a:rPr lang="en-IN" dirty="0"/>
              <a:t>Congratulatory Messages</a:t>
            </a:r>
          </a:p>
        </p:txBody>
      </p:sp>
      <p:sp>
        <p:nvSpPr>
          <p:cNvPr id="3" name="Content Placeholder 2">
            <a:extLst>
              <a:ext uri="{FF2B5EF4-FFF2-40B4-BE49-F238E27FC236}">
                <a16:creationId xmlns:a16="http://schemas.microsoft.com/office/drawing/2014/main" xmlns="" id="{5F0F18F5-40CA-6B10-051D-767984382DE5}"/>
              </a:ext>
            </a:extLst>
          </p:cNvPr>
          <p:cNvSpPr>
            <a:spLocks noGrp="1"/>
          </p:cNvSpPr>
          <p:nvPr>
            <p:ph idx="1"/>
          </p:nvPr>
        </p:nvSpPr>
        <p:spPr/>
        <p:txBody>
          <a:bodyPr/>
          <a:lstStyle/>
          <a:p>
            <a:r>
              <a:rPr lang="en-US" dirty="0"/>
              <a:t>Celebrate the successes of your professional peers by exhibiting class and tact.</a:t>
            </a:r>
          </a:p>
          <a:p>
            <a:endParaRPr lang="en-US" dirty="0"/>
          </a:p>
          <a:p>
            <a:pPr marL="0" indent="0">
              <a:buNone/>
            </a:pPr>
            <a:r>
              <a:rPr lang="en-US" dirty="0"/>
              <a:t>For example:</a:t>
            </a:r>
          </a:p>
          <a:p>
            <a:pPr marL="514350" indent="-514350">
              <a:buFont typeface="+mj-lt"/>
              <a:buAutoNum type="arabicPeriod"/>
            </a:pPr>
            <a:r>
              <a:rPr lang="en-US" dirty="0"/>
              <a:t>You are admirable for you handled with such grace and poise under such trying circumstances.</a:t>
            </a:r>
          </a:p>
          <a:p>
            <a:pPr marL="514350" indent="-514350">
              <a:buFont typeface="+mj-lt"/>
              <a:buAutoNum type="arabicPeriod"/>
            </a:pPr>
            <a:r>
              <a:rPr lang="en-US" dirty="0"/>
              <a:t>Congratulations! You delivered an informative presentation.</a:t>
            </a:r>
          </a:p>
          <a:p>
            <a:pPr marL="514350" indent="-514350">
              <a:buFont typeface="+mj-lt"/>
              <a:buAutoNum type="arabicPeriod"/>
            </a:pPr>
            <a:r>
              <a:rPr lang="en-US" dirty="0"/>
              <a:t>Thank you for sharing valuable insights on the project.</a:t>
            </a:r>
          </a:p>
          <a:p>
            <a:pPr marL="0" indent="0">
              <a:buNone/>
            </a:pPr>
            <a:endParaRPr lang="en-IN" dirty="0"/>
          </a:p>
        </p:txBody>
      </p:sp>
    </p:spTree>
    <p:extLst>
      <p:ext uri="{BB962C8B-B14F-4D97-AF65-F5344CB8AC3E}">
        <p14:creationId xmlns:p14="http://schemas.microsoft.com/office/powerpoint/2010/main" xmlns="" val="30246818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7EFE67-005C-F8BF-2B1F-02F6706938D5}"/>
              </a:ext>
            </a:extLst>
          </p:cNvPr>
          <p:cNvSpPr>
            <a:spLocks noGrp="1"/>
          </p:cNvSpPr>
          <p:nvPr>
            <p:ph type="title"/>
          </p:nvPr>
        </p:nvSpPr>
        <p:spPr>
          <a:xfrm>
            <a:off x="838200" y="365126"/>
            <a:ext cx="10515600" cy="681160"/>
          </a:xfrm>
        </p:spPr>
        <p:txBody>
          <a:bodyPr>
            <a:normAutofit fontScale="90000"/>
          </a:bodyPr>
          <a:lstStyle/>
          <a:p>
            <a:pPr algn="ctr"/>
            <a:r>
              <a:rPr lang="en-IN" dirty="0"/>
              <a:t>Bad News Messages</a:t>
            </a:r>
          </a:p>
        </p:txBody>
      </p:sp>
      <p:sp>
        <p:nvSpPr>
          <p:cNvPr id="3" name="Content Placeholder 2">
            <a:extLst>
              <a:ext uri="{FF2B5EF4-FFF2-40B4-BE49-F238E27FC236}">
                <a16:creationId xmlns:a16="http://schemas.microsoft.com/office/drawing/2014/main" xmlns="" id="{8AF9A4E3-FE74-0BF8-61E7-591687129244}"/>
              </a:ext>
            </a:extLst>
          </p:cNvPr>
          <p:cNvSpPr>
            <a:spLocks noGrp="1"/>
          </p:cNvSpPr>
          <p:nvPr>
            <p:ph idx="1"/>
          </p:nvPr>
        </p:nvSpPr>
        <p:spPr>
          <a:xfrm>
            <a:off x="316522" y="1134208"/>
            <a:ext cx="11632224" cy="5653454"/>
          </a:xfrm>
        </p:spPr>
        <p:txBody>
          <a:bodyPr>
            <a:normAutofit lnSpcReduction="10000"/>
          </a:bodyPr>
          <a:lstStyle/>
          <a:p>
            <a:pPr marL="514350" indent="-514350">
              <a:buFont typeface="+mj-lt"/>
              <a:buAutoNum type="arabicPeriod"/>
            </a:pPr>
            <a:r>
              <a:rPr lang="en-US" sz="2600" dirty="0"/>
              <a:t>Be clear and concise in conveying the bad news so no further questions are asked for clarification.</a:t>
            </a:r>
          </a:p>
          <a:p>
            <a:pPr marL="514350" indent="-514350">
              <a:buFont typeface="+mj-lt"/>
              <a:buAutoNum type="arabicPeriod"/>
            </a:pPr>
            <a:r>
              <a:rPr lang="en-US" sz="2600" dirty="0"/>
              <a:t>Help the receiver to understand and accept the news.</a:t>
            </a:r>
          </a:p>
          <a:p>
            <a:pPr marL="514350" indent="-514350">
              <a:buFont typeface="+mj-lt"/>
              <a:buAutoNum type="arabicPeriod"/>
            </a:pPr>
            <a:r>
              <a:rPr lang="en-US" sz="2600" dirty="0"/>
              <a:t>Reduce the anxiety associated with the bad news as much as possible by expressing sympathy or empathy. </a:t>
            </a:r>
          </a:p>
          <a:p>
            <a:pPr marL="514350" indent="-514350">
              <a:buFont typeface="+mj-lt"/>
              <a:buAutoNum type="arabicPeriod"/>
            </a:pPr>
            <a:r>
              <a:rPr lang="en-US" sz="2600" dirty="0"/>
              <a:t>Maintain trust and respect between you and your audience to ensure the possibility of good future relations.</a:t>
            </a:r>
          </a:p>
          <a:p>
            <a:pPr marL="514350" indent="-514350">
              <a:buFont typeface="+mj-lt"/>
              <a:buAutoNum type="arabicPeriod"/>
            </a:pPr>
            <a:r>
              <a:rPr lang="en-US" sz="2600" dirty="0"/>
              <a:t>Negative or bad news messages should always use the indirect approach.</a:t>
            </a:r>
          </a:p>
          <a:p>
            <a:pPr marL="514350" indent="-514350">
              <a:buFont typeface="+mj-lt"/>
              <a:buAutoNum type="arabicPeriod"/>
            </a:pPr>
            <a:r>
              <a:rPr lang="en-US" sz="2600" dirty="0"/>
              <a:t>Deliver the bad news promptly through the appropriate channel(s).</a:t>
            </a:r>
          </a:p>
          <a:p>
            <a:pPr marL="514350" indent="-514350">
              <a:buFont typeface="+mj-lt"/>
              <a:buAutoNum type="arabicPeriod"/>
            </a:pPr>
            <a:r>
              <a:rPr lang="en-US" sz="2600" dirty="0"/>
              <a:t>An ineffective delivery of bad news can harm your company, department, or reputation.</a:t>
            </a:r>
          </a:p>
          <a:p>
            <a:pPr marL="514350" indent="-514350">
              <a:buFont typeface="+mj-lt"/>
              <a:buAutoNum type="arabicPeriod"/>
            </a:pPr>
            <a:r>
              <a:rPr lang="en-US" sz="2600" b="0" i="0" dirty="0">
                <a:solidFill>
                  <a:srgbClr val="000000"/>
                </a:solidFill>
                <a:effectLst/>
              </a:rPr>
              <a:t>Showing empathy or sympathy makes a difference when someone is upset or disappointed because of bad news.</a:t>
            </a:r>
          </a:p>
          <a:p>
            <a:pPr marL="514350" indent="-514350">
              <a:buFont typeface="+mj-lt"/>
              <a:buAutoNum type="arabicPeriod"/>
            </a:pPr>
            <a:r>
              <a:rPr lang="en-US" sz="2600" dirty="0"/>
              <a:t>Achieve the designated business outcome.</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IN" dirty="0"/>
          </a:p>
        </p:txBody>
      </p:sp>
    </p:spTree>
    <p:extLst>
      <p:ext uri="{BB962C8B-B14F-4D97-AF65-F5344CB8AC3E}">
        <p14:creationId xmlns:p14="http://schemas.microsoft.com/office/powerpoint/2010/main" xmlns="" val="33334717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64858C-6F3D-68B2-A5B7-D342437143C1}"/>
              </a:ext>
            </a:extLst>
          </p:cNvPr>
          <p:cNvSpPr>
            <a:spLocks noGrp="1"/>
          </p:cNvSpPr>
          <p:nvPr>
            <p:ph type="title"/>
          </p:nvPr>
        </p:nvSpPr>
        <p:spPr/>
        <p:txBody>
          <a:bodyPr/>
          <a:lstStyle/>
          <a:p>
            <a:pPr algn="ctr"/>
            <a:r>
              <a:rPr lang="en-US" dirty="0"/>
              <a:t>Remember the given points too. . .</a:t>
            </a:r>
            <a:endParaRPr lang="en-IN" dirty="0"/>
          </a:p>
        </p:txBody>
      </p:sp>
      <p:sp>
        <p:nvSpPr>
          <p:cNvPr id="3" name="Content Placeholder 2">
            <a:extLst>
              <a:ext uri="{FF2B5EF4-FFF2-40B4-BE49-F238E27FC236}">
                <a16:creationId xmlns:a16="http://schemas.microsoft.com/office/drawing/2014/main" xmlns="" id="{40E821BC-BC68-632E-240D-27E018039604}"/>
              </a:ext>
            </a:extLst>
          </p:cNvPr>
          <p:cNvSpPr>
            <a:spLocks noGrp="1"/>
          </p:cNvSpPr>
          <p:nvPr>
            <p:ph idx="1"/>
          </p:nvPr>
        </p:nvSpPr>
        <p:spPr/>
        <p:txBody>
          <a:bodyPr>
            <a:normAutofit/>
          </a:bodyPr>
          <a:lstStyle/>
          <a:p>
            <a:pPr marL="514350" indent="-514350">
              <a:buFont typeface="+mj-lt"/>
              <a:buAutoNum type="arabicPeriod"/>
            </a:pPr>
            <a:r>
              <a:rPr lang="en-US" dirty="0"/>
              <a:t>Avoid making a joke to lighten the impact of bad news (Don’t sound insincere)</a:t>
            </a:r>
          </a:p>
          <a:p>
            <a:pPr marL="514350" indent="-514350">
              <a:buFont typeface="+mj-lt"/>
              <a:buAutoNum type="arabicPeriod"/>
            </a:pPr>
            <a:r>
              <a:rPr lang="en-US" dirty="0"/>
              <a:t>Avoid the legal liability that comes with admitting negligence or guilt. (Don’t sound like an amateur)</a:t>
            </a:r>
          </a:p>
          <a:p>
            <a:pPr marL="514350" indent="-514350">
              <a:buFont typeface="+mj-lt"/>
              <a:buAutoNum type="arabicPeriod"/>
            </a:pPr>
            <a:r>
              <a:rPr lang="en-US" dirty="0"/>
              <a:t>Avoid being as vague and non-specific as possible. (Don’t be defensive)</a:t>
            </a:r>
          </a:p>
          <a:p>
            <a:pPr marL="0" indent="0">
              <a:buNone/>
            </a:pPr>
            <a:endParaRPr lang="en-US" dirty="0"/>
          </a:p>
        </p:txBody>
      </p:sp>
    </p:spTree>
    <p:extLst>
      <p:ext uri="{BB962C8B-B14F-4D97-AF65-F5344CB8AC3E}">
        <p14:creationId xmlns:p14="http://schemas.microsoft.com/office/powerpoint/2010/main" xmlns="" val="311268507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EC4454-3A81-B2B7-E188-A8B0FEF9BC36}"/>
              </a:ext>
            </a:extLst>
          </p:cNvPr>
          <p:cNvSpPr>
            <a:spLocks noGrp="1"/>
          </p:cNvSpPr>
          <p:nvPr>
            <p:ph type="title"/>
          </p:nvPr>
        </p:nvSpPr>
        <p:spPr/>
        <p:txBody>
          <a:bodyPr>
            <a:normAutofit/>
          </a:bodyPr>
          <a:lstStyle/>
          <a:p>
            <a:pPr algn="ctr"/>
            <a:r>
              <a:rPr lang="en-US" dirty="0"/>
              <a:t>To deliver bad news effectively you must—</a:t>
            </a:r>
            <a:endParaRPr lang="en-IN" dirty="0"/>
          </a:p>
        </p:txBody>
      </p:sp>
      <p:sp>
        <p:nvSpPr>
          <p:cNvPr id="3" name="Content Placeholder 2">
            <a:extLst>
              <a:ext uri="{FF2B5EF4-FFF2-40B4-BE49-F238E27FC236}">
                <a16:creationId xmlns:a16="http://schemas.microsoft.com/office/drawing/2014/main" xmlns="" id="{A65085EE-45BD-3DB3-D54B-C10787C76455}"/>
              </a:ext>
            </a:extLst>
          </p:cNvPr>
          <p:cNvSpPr>
            <a:spLocks noGrp="1"/>
          </p:cNvSpPr>
          <p:nvPr>
            <p:ph idx="1"/>
          </p:nvPr>
        </p:nvSpPr>
        <p:spPr>
          <a:xfrm>
            <a:off x="838200" y="1283676"/>
            <a:ext cx="10515600" cy="5635869"/>
          </a:xfrm>
        </p:spPr>
        <p:txBody>
          <a:bodyPr>
            <a:normAutofit/>
          </a:bodyPr>
          <a:lstStyle/>
          <a:p>
            <a:pPr marL="514350" indent="-514350">
              <a:buFont typeface="+mj-lt"/>
              <a:buAutoNum type="arabicPeriod"/>
            </a:pPr>
            <a:r>
              <a:rPr lang="en-US" dirty="0"/>
              <a:t>Look for and communicate the positive element of the situation.</a:t>
            </a:r>
          </a:p>
          <a:p>
            <a:pPr marL="514350" indent="-514350">
              <a:buFont typeface="+mj-lt"/>
              <a:buAutoNum type="arabicPeriod"/>
            </a:pPr>
            <a:endParaRPr lang="en-US" dirty="0"/>
          </a:p>
          <a:p>
            <a:pPr marL="0" indent="0">
              <a:buNone/>
            </a:pPr>
            <a:r>
              <a:rPr lang="en-US" dirty="0"/>
              <a:t>Situation 1: </a:t>
            </a:r>
          </a:p>
          <a:p>
            <a:pPr marL="0" indent="0">
              <a:buNone/>
            </a:pPr>
            <a:endParaRPr lang="en-US" dirty="0"/>
          </a:p>
          <a:p>
            <a:pPr marL="0" indent="0">
              <a:buNone/>
            </a:pPr>
            <a:r>
              <a:rPr lang="en-US" dirty="0"/>
              <a:t>You have not cleared the GATE Exam.</a:t>
            </a:r>
          </a:p>
          <a:p>
            <a:pPr marL="0" indent="0">
              <a:buNone/>
            </a:pPr>
            <a:endParaRPr lang="en-US" dirty="0"/>
          </a:p>
          <a:p>
            <a:pPr marL="0" indent="0">
              <a:buNone/>
            </a:pPr>
            <a:r>
              <a:rPr lang="en-US" dirty="0"/>
              <a:t>Apply the principle: Identifying the positive part in a negative situation</a:t>
            </a:r>
          </a:p>
          <a:p>
            <a:pPr marL="0" indent="0">
              <a:buNone/>
            </a:pPr>
            <a:endParaRPr lang="en-US" dirty="0"/>
          </a:p>
          <a:p>
            <a:pPr marL="0" indent="0">
              <a:buNone/>
            </a:pPr>
            <a:r>
              <a:rPr lang="en-US" dirty="0"/>
              <a:t>Revised: Securing above 80% in English is competitive and you did. However, . . .</a:t>
            </a:r>
          </a:p>
          <a:p>
            <a:pPr marL="0" indent="0">
              <a:buNone/>
            </a:pPr>
            <a:endParaRPr lang="en-US" dirty="0"/>
          </a:p>
        </p:txBody>
      </p:sp>
    </p:spTree>
    <p:extLst>
      <p:ext uri="{BB962C8B-B14F-4D97-AF65-F5344CB8AC3E}">
        <p14:creationId xmlns:p14="http://schemas.microsoft.com/office/powerpoint/2010/main" xmlns="" val="13645767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CE824E-FC01-08D8-D38B-5E4F327988BC}"/>
              </a:ext>
            </a:extLst>
          </p:cNvPr>
          <p:cNvSpPr>
            <a:spLocks noGrp="1"/>
          </p:cNvSpPr>
          <p:nvPr>
            <p:ph type="title"/>
          </p:nvPr>
        </p:nvSpPr>
        <p:spPr/>
        <p:txBody>
          <a:bodyPr/>
          <a:lstStyle/>
          <a:p>
            <a:pPr algn="ctr"/>
            <a:r>
              <a:rPr lang="en-US" dirty="0"/>
              <a:t>To deliver bad news effectively you must-</a:t>
            </a:r>
            <a:endParaRPr lang="en-IN" dirty="0"/>
          </a:p>
        </p:txBody>
      </p:sp>
      <p:sp>
        <p:nvSpPr>
          <p:cNvPr id="3" name="Content Placeholder 2">
            <a:extLst>
              <a:ext uri="{FF2B5EF4-FFF2-40B4-BE49-F238E27FC236}">
                <a16:creationId xmlns:a16="http://schemas.microsoft.com/office/drawing/2014/main" xmlns="" id="{36F60806-BBBE-0D02-2958-28F4A02BAB00}"/>
              </a:ext>
            </a:extLst>
          </p:cNvPr>
          <p:cNvSpPr>
            <a:spLocks noGrp="1"/>
          </p:cNvSpPr>
          <p:nvPr>
            <p:ph idx="1"/>
          </p:nvPr>
        </p:nvSpPr>
        <p:spPr>
          <a:xfrm>
            <a:off x="237392" y="1825625"/>
            <a:ext cx="11834446" cy="4944452"/>
          </a:xfrm>
        </p:spPr>
        <p:txBody>
          <a:bodyPr>
            <a:normAutofit lnSpcReduction="10000"/>
          </a:bodyPr>
          <a:lstStyle/>
          <a:p>
            <a:pPr marL="0" indent="0">
              <a:buNone/>
            </a:pPr>
            <a:r>
              <a:rPr lang="en-US" dirty="0"/>
              <a:t>2. Explain and Justify the situation</a:t>
            </a:r>
          </a:p>
          <a:p>
            <a:pPr marL="0" indent="0">
              <a:buNone/>
            </a:pPr>
            <a:endParaRPr lang="en-US" dirty="0"/>
          </a:p>
          <a:p>
            <a:pPr marL="0" indent="0">
              <a:buNone/>
            </a:pPr>
            <a:endParaRPr lang="en-US" dirty="0"/>
          </a:p>
          <a:p>
            <a:pPr marL="0" indent="0">
              <a:buNone/>
            </a:pPr>
            <a:r>
              <a:rPr lang="en-US" dirty="0"/>
              <a:t>Situation 1: </a:t>
            </a:r>
          </a:p>
          <a:p>
            <a:pPr marL="0" indent="0">
              <a:buNone/>
            </a:pPr>
            <a:endParaRPr lang="en-US" dirty="0"/>
          </a:p>
          <a:p>
            <a:pPr marL="0" indent="0">
              <a:buNone/>
            </a:pPr>
            <a:r>
              <a:rPr lang="en-US" dirty="0"/>
              <a:t>You have not cleared the GATE Exam.</a:t>
            </a:r>
          </a:p>
          <a:p>
            <a:pPr marL="0" indent="0">
              <a:buNone/>
            </a:pPr>
            <a:endParaRPr lang="en-US" dirty="0"/>
          </a:p>
          <a:p>
            <a:pPr marL="0" indent="0">
              <a:buNone/>
            </a:pPr>
            <a:r>
              <a:rPr lang="en-US" dirty="0"/>
              <a:t>Revised:</a:t>
            </a:r>
          </a:p>
          <a:p>
            <a:pPr marL="0" indent="0">
              <a:buNone/>
            </a:pPr>
            <a:r>
              <a:rPr lang="en-US" dirty="0"/>
              <a:t>The GATE Exam is a challenging exam to clear. The questions are tricky and</a:t>
            </a:r>
          </a:p>
          <a:p>
            <a:pPr marL="0" indent="0">
              <a:buNone/>
            </a:pPr>
            <a:r>
              <a:rPr lang="en-US" dirty="0"/>
              <a:t> answers are almost alike.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xmlns="" val="24711698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2FC7CD-3B08-BD1C-11CC-76F02A347DAB}"/>
              </a:ext>
            </a:extLst>
          </p:cNvPr>
          <p:cNvSpPr>
            <a:spLocks noGrp="1"/>
          </p:cNvSpPr>
          <p:nvPr>
            <p:ph type="title"/>
          </p:nvPr>
        </p:nvSpPr>
        <p:spPr/>
        <p:txBody>
          <a:bodyPr/>
          <a:lstStyle/>
          <a:p>
            <a:pPr algn="ctr"/>
            <a:r>
              <a:rPr lang="en-US" dirty="0"/>
              <a:t>To deliver bad news effectively you must-</a:t>
            </a:r>
            <a:endParaRPr lang="en-IN" dirty="0"/>
          </a:p>
        </p:txBody>
      </p:sp>
      <p:sp>
        <p:nvSpPr>
          <p:cNvPr id="3" name="Content Placeholder 2">
            <a:extLst>
              <a:ext uri="{FF2B5EF4-FFF2-40B4-BE49-F238E27FC236}">
                <a16:creationId xmlns:a16="http://schemas.microsoft.com/office/drawing/2014/main" xmlns="" id="{D657C94E-D63A-6157-5921-88EF3647E834}"/>
              </a:ext>
            </a:extLst>
          </p:cNvPr>
          <p:cNvSpPr>
            <a:spLocks noGrp="1"/>
          </p:cNvSpPr>
          <p:nvPr>
            <p:ph idx="1"/>
          </p:nvPr>
        </p:nvSpPr>
        <p:spPr/>
        <p:txBody>
          <a:bodyPr/>
          <a:lstStyle/>
          <a:p>
            <a:pPr marL="0" indent="0">
              <a:buNone/>
            </a:pPr>
            <a:r>
              <a:rPr lang="en-US" dirty="0"/>
              <a:t>3. Be candid and straightforward</a:t>
            </a:r>
          </a:p>
          <a:p>
            <a:pPr marL="0" indent="0">
              <a:buNone/>
            </a:pPr>
            <a:endParaRPr lang="en-US" dirty="0"/>
          </a:p>
          <a:p>
            <a:pPr marL="0" indent="0">
              <a:buNone/>
            </a:pPr>
            <a:endParaRPr lang="en-US" dirty="0"/>
          </a:p>
          <a:p>
            <a:pPr marL="0" indent="0">
              <a:buNone/>
            </a:pPr>
            <a:r>
              <a:rPr lang="en-US" dirty="0"/>
              <a:t>Situation 1:</a:t>
            </a:r>
          </a:p>
          <a:p>
            <a:pPr marL="0" indent="0">
              <a:buNone/>
            </a:pPr>
            <a:r>
              <a:rPr lang="en-US" dirty="0"/>
              <a:t> You have not cleared the GATE Exam.</a:t>
            </a:r>
          </a:p>
          <a:p>
            <a:pPr marL="0" indent="0">
              <a:buNone/>
            </a:pPr>
            <a:endParaRPr lang="en-US" dirty="0"/>
          </a:p>
          <a:p>
            <a:pPr marL="0" indent="0">
              <a:buNone/>
            </a:pPr>
            <a:r>
              <a:rPr lang="en-US" dirty="0"/>
              <a:t>Revised: Though you left no stone unturned, unfortunately, you have missed this time/ the exam has not been cracked.</a:t>
            </a:r>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xmlns="" val="12056497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BA953D-60FD-B32D-DB6F-453A67B0C3B8}"/>
              </a:ext>
            </a:extLst>
          </p:cNvPr>
          <p:cNvSpPr>
            <a:spLocks noGrp="1"/>
          </p:cNvSpPr>
          <p:nvPr>
            <p:ph type="title"/>
          </p:nvPr>
        </p:nvSpPr>
        <p:spPr/>
        <p:txBody>
          <a:bodyPr/>
          <a:lstStyle/>
          <a:p>
            <a:pPr algn="ctr"/>
            <a:r>
              <a:rPr lang="en-US" dirty="0"/>
              <a:t>To deliver bad news effectively you must-</a:t>
            </a:r>
            <a:endParaRPr lang="en-IN" dirty="0"/>
          </a:p>
        </p:txBody>
      </p:sp>
      <p:sp>
        <p:nvSpPr>
          <p:cNvPr id="3" name="Content Placeholder 2">
            <a:extLst>
              <a:ext uri="{FF2B5EF4-FFF2-40B4-BE49-F238E27FC236}">
                <a16:creationId xmlns:a16="http://schemas.microsoft.com/office/drawing/2014/main" xmlns="" id="{5E0B42B6-21E7-6BEE-6BCF-C199773C1646}"/>
              </a:ext>
            </a:extLst>
          </p:cNvPr>
          <p:cNvSpPr>
            <a:spLocks noGrp="1"/>
          </p:cNvSpPr>
          <p:nvPr>
            <p:ph idx="1"/>
          </p:nvPr>
        </p:nvSpPr>
        <p:spPr/>
        <p:txBody>
          <a:bodyPr/>
          <a:lstStyle/>
          <a:p>
            <a:pPr marL="0" indent="0">
              <a:buNone/>
            </a:pPr>
            <a:r>
              <a:rPr lang="en-US" dirty="0"/>
              <a:t>4. Notify recipients as soon as possible</a:t>
            </a:r>
          </a:p>
          <a:p>
            <a:pPr marL="0" indent="0">
              <a:buNone/>
            </a:pPr>
            <a:endParaRPr lang="en-US" dirty="0"/>
          </a:p>
          <a:p>
            <a:pPr marL="0" indent="0">
              <a:buNone/>
            </a:pPr>
            <a:endParaRPr lang="en-US" dirty="0"/>
          </a:p>
          <a:p>
            <a:pPr marL="0" indent="0">
              <a:buNone/>
            </a:pPr>
            <a:r>
              <a:rPr lang="en-US" dirty="0"/>
              <a:t>Situation 1: You have not cleared the GATE Exam.</a:t>
            </a:r>
          </a:p>
          <a:p>
            <a:pPr marL="0" indent="0">
              <a:buNone/>
            </a:pPr>
            <a:endParaRPr lang="en-US" dirty="0"/>
          </a:p>
          <a:p>
            <a:pPr marL="0" indent="0">
              <a:buNone/>
            </a:pPr>
            <a:r>
              <a:rPr lang="en-IN" dirty="0"/>
              <a:t>Revised: This is to inform you that the GATE exam results have been announced. After screening the results twice, I am unable to find your roll number in the list.</a:t>
            </a:r>
          </a:p>
          <a:p>
            <a:pPr marL="0" indent="0">
              <a:buNone/>
            </a:pPr>
            <a:endParaRPr lang="en-IN" dirty="0"/>
          </a:p>
        </p:txBody>
      </p:sp>
    </p:spTree>
    <p:extLst>
      <p:ext uri="{BB962C8B-B14F-4D97-AF65-F5344CB8AC3E}">
        <p14:creationId xmlns:p14="http://schemas.microsoft.com/office/powerpoint/2010/main" xmlns="" val="34088654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43A734-9B11-49E2-8378-E9892E1D489B}"/>
              </a:ext>
            </a:extLst>
          </p:cNvPr>
          <p:cNvSpPr>
            <a:spLocks noGrp="1"/>
          </p:cNvSpPr>
          <p:nvPr>
            <p:ph type="title"/>
          </p:nvPr>
        </p:nvSpPr>
        <p:spPr/>
        <p:txBody>
          <a:bodyPr/>
          <a:lstStyle/>
          <a:p>
            <a:pPr algn="ctr"/>
            <a:r>
              <a:rPr lang="en-IN" dirty="0"/>
              <a:t>To show consideration</a:t>
            </a:r>
          </a:p>
        </p:txBody>
      </p:sp>
      <p:sp>
        <p:nvSpPr>
          <p:cNvPr id="3" name="Content Placeholder 2">
            <a:extLst>
              <a:ext uri="{FF2B5EF4-FFF2-40B4-BE49-F238E27FC236}">
                <a16:creationId xmlns:a16="http://schemas.microsoft.com/office/drawing/2014/main" xmlns="" id="{59062C70-18C7-1EAA-0659-5870A01FB7F3}"/>
              </a:ext>
            </a:extLst>
          </p:cNvPr>
          <p:cNvSpPr>
            <a:spLocks noGrp="1"/>
          </p:cNvSpPr>
          <p:nvPr>
            <p:ph idx="1"/>
          </p:nvPr>
        </p:nvSpPr>
        <p:spPr/>
        <p:txBody>
          <a:bodyPr/>
          <a:lstStyle/>
          <a:p>
            <a:pPr marL="0" indent="0">
              <a:buNone/>
            </a:pPr>
            <a:r>
              <a:rPr lang="en-IN" dirty="0"/>
              <a:t>The messenger should:</a:t>
            </a:r>
          </a:p>
          <a:p>
            <a:pPr>
              <a:buFont typeface="Wingdings" panose="05000000000000000000" pitchFamily="2" charset="2"/>
              <a:buChar char="Ø"/>
            </a:pPr>
            <a:r>
              <a:rPr lang="en-IN" dirty="0"/>
              <a:t>Be Sincere</a:t>
            </a:r>
          </a:p>
          <a:p>
            <a:pPr>
              <a:buFont typeface="Wingdings" panose="05000000000000000000" pitchFamily="2" charset="2"/>
              <a:buChar char="Ø"/>
            </a:pPr>
            <a:r>
              <a:rPr lang="en-IN" dirty="0"/>
              <a:t>Be sensitive</a:t>
            </a:r>
          </a:p>
          <a:p>
            <a:pPr>
              <a:buFont typeface="Wingdings" panose="05000000000000000000" pitchFamily="2" charset="2"/>
              <a:buChar char="Ø"/>
            </a:pPr>
            <a:r>
              <a:rPr lang="en-IN" dirty="0"/>
              <a:t>Show empathy</a:t>
            </a:r>
          </a:p>
          <a:p>
            <a:pPr>
              <a:buFont typeface="Wingdings" panose="05000000000000000000" pitchFamily="2" charset="2"/>
              <a:buChar char="Ø"/>
            </a:pPr>
            <a:r>
              <a:rPr lang="en-IN" dirty="0"/>
              <a:t>Show compassion</a:t>
            </a:r>
          </a:p>
          <a:p>
            <a:pPr>
              <a:buFont typeface="Wingdings" panose="05000000000000000000" pitchFamily="2" charset="2"/>
              <a:buChar char="Ø"/>
            </a:pPr>
            <a:r>
              <a:rPr lang="en-IN" dirty="0"/>
              <a:t>Show care</a:t>
            </a:r>
          </a:p>
        </p:txBody>
      </p:sp>
    </p:spTree>
    <p:extLst>
      <p:ext uri="{BB962C8B-B14F-4D97-AF65-F5344CB8AC3E}">
        <p14:creationId xmlns:p14="http://schemas.microsoft.com/office/powerpoint/2010/main" xmlns="" val="20804642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3CA55A-41AC-66BC-B605-E7CFE627BE53}"/>
              </a:ext>
            </a:extLst>
          </p:cNvPr>
          <p:cNvSpPr>
            <a:spLocks noGrp="1"/>
          </p:cNvSpPr>
          <p:nvPr>
            <p:ph type="title"/>
          </p:nvPr>
        </p:nvSpPr>
        <p:spPr/>
        <p:txBody>
          <a:bodyPr/>
          <a:lstStyle/>
          <a:p>
            <a:pPr algn="ctr"/>
            <a:r>
              <a:rPr lang="en-IN" dirty="0"/>
              <a:t>To write the Bad News</a:t>
            </a:r>
          </a:p>
        </p:txBody>
      </p:sp>
      <p:sp>
        <p:nvSpPr>
          <p:cNvPr id="3" name="Content Placeholder 2">
            <a:extLst>
              <a:ext uri="{FF2B5EF4-FFF2-40B4-BE49-F238E27FC236}">
                <a16:creationId xmlns:a16="http://schemas.microsoft.com/office/drawing/2014/main" xmlns="" id="{EC12A762-9DE6-E80C-6023-0993558C4C70}"/>
              </a:ext>
            </a:extLst>
          </p:cNvPr>
          <p:cNvSpPr>
            <a:spLocks noGrp="1"/>
          </p:cNvSpPr>
          <p:nvPr>
            <p:ph idx="1"/>
          </p:nvPr>
        </p:nvSpPr>
        <p:spPr>
          <a:xfrm>
            <a:off x="123092" y="1362808"/>
            <a:ext cx="11948746" cy="5380892"/>
          </a:xfrm>
        </p:spPr>
        <p:txBody>
          <a:bodyPr>
            <a:normAutofit lnSpcReduction="10000"/>
          </a:bodyPr>
          <a:lstStyle/>
          <a:p>
            <a:pPr algn="l">
              <a:buFont typeface="+mj-lt"/>
              <a:buAutoNum type="arabicPeriod"/>
            </a:pPr>
            <a:r>
              <a:rPr lang="en-US" b="0" i="0" dirty="0">
                <a:solidFill>
                  <a:srgbClr val="373D3F"/>
                </a:solidFill>
                <a:effectLst/>
                <a:latin typeface="Lora" pitchFamily="2" charset="0"/>
              </a:rPr>
              <a:t> Use a buffer statement: 									The brief introduction to moderate the unpleasant news</a:t>
            </a:r>
          </a:p>
          <a:p>
            <a:pPr algn="l">
              <a:buFont typeface="+mj-lt"/>
              <a:buAutoNum type="arabicPeriod"/>
            </a:pPr>
            <a:endParaRPr lang="en-US" b="0" i="0" dirty="0">
              <a:solidFill>
                <a:srgbClr val="373D3F"/>
              </a:solidFill>
              <a:effectLst/>
              <a:latin typeface="Lora" pitchFamily="2" charset="0"/>
            </a:endParaRPr>
          </a:p>
          <a:p>
            <a:pPr algn="l">
              <a:buFont typeface="+mj-lt"/>
              <a:buAutoNum type="arabicPeriod"/>
            </a:pPr>
            <a:r>
              <a:rPr lang="en-US" b="0" i="0" dirty="0">
                <a:solidFill>
                  <a:srgbClr val="373D3F"/>
                </a:solidFill>
                <a:effectLst/>
                <a:latin typeface="Lora" pitchFamily="2" charset="0"/>
              </a:rPr>
              <a:t>Justification for the outcome: 											The understanding of the depth of the situation</a:t>
            </a:r>
          </a:p>
          <a:p>
            <a:pPr algn="l">
              <a:buFont typeface="+mj-lt"/>
              <a:buAutoNum type="arabicPeriod"/>
            </a:pPr>
            <a:endParaRPr lang="en-US" b="0" i="0" dirty="0">
              <a:solidFill>
                <a:srgbClr val="373D3F"/>
              </a:solidFill>
              <a:effectLst/>
              <a:latin typeface="Lora" pitchFamily="2" charset="0"/>
            </a:endParaRPr>
          </a:p>
          <a:p>
            <a:pPr algn="l">
              <a:buFont typeface="+mj-lt"/>
              <a:buAutoNum type="arabicPeriod"/>
            </a:pPr>
            <a:r>
              <a:rPr lang="en-US" b="0" i="0" dirty="0">
                <a:solidFill>
                  <a:srgbClr val="373D3F"/>
                </a:solidFill>
                <a:effectLst/>
                <a:latin typeface="Lora" pitchFamily="2" charset="0"/>
              </a:rPr>
              <a:t>Expressing the bad news and redirection: 									The stating of the unpleasant news by focusing on the positive side</a:t>
            </a:r>
          </a:p>
          <a:p>
            <a:pPr algn="l">
              <a:buFont typeface="+mj-lt"/>
              <a:buAutoNum type="arabicPeriod"/>
            </a:pPr>
            <a:endParaRPr lang="en-US" b="0" i="0" dirty="0">
              <a:solidFill>
                <a:srgbClr val="373D3F"/>
              </a:solidFill>
              <a:effectLst/>
              <a:latin typeface="Lora" pitchFamily="2" charset="0"/>
            </a:endParaRPr>
          </a:p>
          <a:p>
            <a:pPr algn="l">
              <a:buFont typeface="+mj-lt"/>
              <a:buAutoNum type="arabicPeriod"/>
            </a:pPr>
            <a:r>
              <a:rPr lang="en-US" b="0" i="0" dirty="0">
                <a:solidFill>
                  <a:srgbClr val="373D3F"/>
                </a:solidFill>
                <a:effectLst/>
                <a:latin typeface="Lora" pitchFamily="2" charset="0"/>
              </a:rPr>
              <a:t>Positive action closing: 									The ending of the message by focusing on a better future or present</a:t>
            </a:r>
          </a:p>
          <a:p>
            <a:endParaRPr lang="en-IN" dirty="0"/>
          </a:p>
        </p:txBody>
      </p:sp>
    </p:spTree>
    <p:extLst>
      <p:ext uri="{BB962C8B-B14F-4D97-AF65-F5344CB8AC3E}">
        <p14:creationId xmlns:p14="http://schemas.microsoft.com/office/powerpoint/2010/main" xmlns="" val="18840908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CBAF6C-4041-3762-DDCA-9CB74FE412C1}"/>
              </a:ext>
            </a:extLst>
          </p:cNvPr>
          <p:cNvSpPr>
            <a:spLocks noGrp="1"/>
          </p:cNvSpPr>
          <p:nvPr>
            <p:ph type="title"/>
          </p:nvPr>
        </p:nvSpPr>
        <p:spPr>
          <a:xfrm>
            <a:off x="838200" y="1"/>
            <a:ext cx="10196146" cy="1169376"/>
          </a:xfrm>
        </p:spPr>
        <p:txBody>
          <a:bodyPr>
            <a:normAutofit fontScale="90000"/>
          </a:bodyPr>
          <a:lstStyle/>
          <a:p>
            <a:pPr algn="ctr"/>
            <a:r>
              <a:rPr lang="en-IN" dirty="0"/>
              <a:t>Read the given negative message for a better understanding</a:t>
            </a:r>
          </a:p>
        </p:txBody>
      </p:sp>
      <p:sp>
        <p:nvSpPr>
          <p:cNvPr id="3" name="Content Placeholder 2">
            <a:extLst>
              <a:ext uri="{FF2B5EF4-FFF2-40B4-BE49-F238E27FC236}">
                <a16:creationId xmlns:a16="http://schemas.microsoft.com/office/drawing/2014/main" xmlns="" id="{49FB702F-DE0A-9610-4635-5C22AE286680}"/>
              </a:ext>
            </a:extLst>
          </p:cNvPr>
          <p:cNvSpPr>
            <a:spLocks noGrp="1"/>
          </p:cNvSpPr>
          <p:nvPr>
            <p:ph idx="1"/>
          </p:nvPr>
        </p:nvSpPr>
        <p:spPr>
          <a:xfrm>
            <a:off x="87923" y="1169378"/>
            <a:ext cx="12104077" cy="5688622"/>
          </a:xfrm>
        </p:spPr>
        <p:txBody>
          <a:bodyPr>
            <a:normAutofit fontScale="92500" lnSpcReduction="20000"/>
          </a:bodyPr>
          <a:lstStyle/>
          <a:p>
            <a:pPr marL="0" indent="0">
              <a:buNone/>
            </a:pPr>
            <a:r>
              <a:rPr lang="en-US" dirty="0"/>
              <a:t>1. </a:t>
            </a:r>
            <a:r>
              <a:rPr lang="en-US" b="1" dirty="0"/>
              <a:t>Buffer</a:t>
            </a:r>
            <a:r>
              <a:rPr lang="en-US" dirty="0"/>
              <a:t>:</a:t>
            </a:r>
          </a:p>
          <a:p>
            <a:pPr marL="0" indent="0">
              <a:buNone/>
            </a:pPr>
            <a:r>
              <a:rPr lang="en-US" dirty="0"/>
              <a:t>Thank you for your order. We appreciate your interest in our product and are confident you will love it.</a:t>
            </a:r>
          </a:p>
          <a:p>
            <a:pPr marL="0" indent="0">
              <a:buNone/>
            </a:pPr>
            <a:r>
              <a:rPr lang="en-US" dirty="0"/>
              <a:t>2. </a:t>
            </a:r>
            <a:r>
              <a:rPr lang="en-US" b="1" dirty="0"/>
              <a:t>Explanation</a:t>
            </a:r>
            <a:r>
              <a:rPr lang="en-US" dirty="0"/>
              <a:t>:		</a:t>
            </a:r>
          </a:p>
          <a:p>
            <a:pPr marL="0" indent="0">
              <a:buNone/>
            </a:pPr>
            <a:r>
              <a:rPr lang="en-US" dirty="0"/>
              <a:t>We are writing to let you know that this product has been unexpectedly popular with over 10,000 orders submitted on the day you placed yours.</a:t>
            </a:r>
          </a:p>
          <a:p>
            <a:pPr marL="0" indent="0">
              <a:buNone/>
            </a:pPr>
            <a:r>
              <a:rPr lang="en-US" dirty="0"/>
              <a:t>3. </a:t>
            </a:r>
            <a:r>
              <a:rPr lang="en-US" b="1" dirty="0"/>
              <a:t>Expressing the </a:t>
            </a:r>
            <a:r>
              <a:rPr lang="en-US" dirty="0"/>
              <a:t>b</a:t>
            </a:r>
            <a:r>
              <a:rPr lang="en-US" b="1" dirty="0"/>
              <a:t>ad news and redirection</a:t>
            </a:r>
            <a:r>
              <a:rPr lang="en-US" dirty="0"/>
              <a:t>:</a:t>
            </a:r>
          </a:p>
          <a:p>
            <a:pPr marL="0" indent="0">
              <a:buNone/>
            </a:pPr>
            <a:r>
              <a:rPr lang="en-US" dirty="0"/>
              <a:t>This unexpected increase in demand has resulted in a temporary out-of-stock/backorder situation. Despite a delay of 2-3 weeks, we will fulfil your order as it was received at 11:57 p.m. on October 9, 2018, as well as a gift coupon towards your next purchase.</a:t>
            </a:r>
          </a:p>
          <a:p>
            <a:pPr marL="0" indent="0">
              <a:buNone/>
            </a:pPr>
            <a:r>
              <a:rPr lang="en-US" dirty="0"/>
              <a:t>4. </a:t>
            </a:r>
            <a:r>
              <a:rPr lang="en-US" b="1" dirty="0"/>
              <a:t>The positive action closing</a:t>
            </a:r>
            <a:r>
              <a:rPr lang="en-US" dirty="0"/>
              <a:t>	</a:t>
            </a:r>
          </a:p>
          <a:p>
            <a:pPr marL="0" indent="0">
              <a:buNone/>
            </a:pPr>
            <a:r>
              <a:rPr lang="en-US" dirty="0"/>
              <a:t>While you wait for your product to ship, we encourage you to use the enclosed gift coupon toward the purchase of any product in our online catalogue. </a:t>
            </a:r>
          </a:p>
          <a:p>
            <a:pPr marL="0" indent="0">
              <a:buNone/>
            </a:pPr>
            <a:r>
              <a:rPr lang="en-US" dirty="0"/>
              <a:t>We appreciate your continued business and want you to know that our highest priority is your satisfaction.</a:t>
            </a:r>
            <a:endParaRPr lang="en-IN" dirty="0"/>
          </a:p>
        </p:txBody>
      </p:sp>
    </p:spTree>
    <p:extLst>
      <p:ext uri="{BB962C8B-B14F-4D97-AF65-F5344CB8AC3E}">
        <p14:creationId xmlns:p14="http://schemas.microsoft.com/office/powerpoint/2010/main" xmlns="" val="37722004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D766D4-8E7A-3139-333D-C34691BB14ED}"/>
              </a:ext>
            </a:extLst>
          </p:cNvPr>
          <p:cNvSpPr>
            <a:spLocks noGrp="1"/>
          </p:cNvSpPr>
          <p:nvPr>
            <p:ph type="title"/>
          </p:nvPr>
        </p:nvSpPr>
        <p:spPr/>
        <p:txBody>
          <a:bodyPr/>
          <a:lstStyle/>
          <a:p>
            <a:pPr algn="ctr"/>
            <a:r>
              <a:rPr lang="en-IN" dirty="0"/>
              <a:t>More Examples</a:t>
            </a:r>
          </a:p>
        </p:txBody>
      </p:sp>
      <p:sp>
        <p:nvSpPr>
          <p:cNvPr id="3" name="Content Placeholder 2">
            <a:extLst>
              <a:ext uri="{FF2B5EF4-FFF2-40B4-BE49-F238E27FC236}">
                <a16:creationId xmlns:a16="http://schemas.microsoft.com/office/drawing/2014/main" xmlns="" id="{90BE8C61-2F64-A303-A6AB-E9AD23F11759}"/>
              </a:ext>
            </a:extLst>
          </p:cNvPr>
          <p:cNvSpPr>
            <a:spLocks noGrp="1"/>
          </p:cNvSpPr>
          <p:nvPr>
            <p:ph idx="1"/>
          </p:nvPr>
        </p:nvSpPr>
        <p:spPr/>
        <p:txBody>
          <a:bodyPr/>
          <a:lstStyle/>
          <a:p>
            <a:pPr marL="514350" indent="-514350">
              <a:buAutoNum type="arabicPeriod"/>
            </a:pPr>
            <a:r>
              <a:rPr lang="en-US" dirty="0"/>
              <a:t>“You failed to meet our criteria” </a:t>
            </a:r>
          </a:p>
          <a:p>
            <a:pPr marL="0" indent="0">
              <a:buNone/>
            </a:pPr>
            <a:endParaRPr lang="en-US" b="0" i="0" dirty="0">
              <a:solidFill>
                <a:srgbClr val="373D3F"/>
              </a:solidFill>
              <a:effectLst/>
              <a:latin typeface="Lora" pitchFamily="2" charset="0"/>
            </a:endParaRPr>
          </a:p>
          <a:p>
            <a:pPr marL="0" indent="0">
              <a:buNone/>
            </a:pPr>
            <a:r>
              <a:rPr lang="en-US" b="0" i="0" dirty="0">
                <a:solidFill>
                  <a:srgbClr val="373D3F"/>
                </a:solidFill>
                <a:effectLst/>
                <a:latin typeface="Lora" pitchFamily="2" charset="0"/>
              </a:rPr>
              <a:t>Though another candidate has been hired, we have kept your C.V. for future reference.</a:t>
            </a:r>
          </a:p>
          <a:p>
            <a:pPr marL="0" indent="0">
              <a:buNone/>
            </a:pPr>
            <a:endParaRPr lang="en-US" dirty="0">
              <a:solidFill>
                <a:srgbClr val="373D3F"/>
              </a:solidFill>
              <a:latin typeface="Lora" pitchFamily="2" charset="0"/>
            </a:endParaRPr>
          </a:p>
          <a:p>
            <a:pPr marL="0" indent="0">
              <a:buNone/>
            </a:pPr>
            <a:r>
              <a:rPr lang="en-US" dirty="0">
                <a:solidFill>
                  <a:srgbClr val="373D3F"/>
                </a:solidFill>
                <a:latin typeface="Lora" pitchFamily="2" charset="0"/>
              </a:rPr>
              <a:t>2. </a:t>
            </a:r>
            <a:r>
              <a:rPr lang="en-US" dirty="0"/>
              <a:t>“You won’t be working for us anytime soon.”</a:t>
            </a:r>
          </a:p>
          <a:p>
            <a:pPr marL="0" indent="0">
              <a:buNone/>
            </a:pPr>
            <a:r>
              <a:rPr lang="en-US" dirty="0"/>
              <a:t> . . . we wish you success in your continued search for employment.</a:t>
            </a:r>
          </a:p>
          <a:p>
            <a:pPr marL="514350" indent="-514350">
              <a:buFont typeface="Arial" panose="020B0604020202020204" pitchFamily="34" charset="0"/>
              <a:buAutoNum type="arabicPeriod" startAt="2"/>
            </a:pPr>
            <a:endParaRPr lang="en-US" dirty="0"/>
          </a:p>
          <a:p>
            <a:pPr marL="514350" indent="-514350">
              <a:buAutoNum type="arabicPeriod" startAt="2"/>
            </a:pPr>
            <a:endParaRPr lang="en-IN" dirty="0"/>
          </a:p>
        </p:txBody>
      </p:sp>
    </p:spTree>
    <p:extLst>
      <p:ext uri="{BB962C8B-B14F-4D97-AF65-F5344CB8AC3E}">
        <p14:creationId xmlns:p14="http://schemas.microsoft.com/office/powerpoint/2010/main" xmlns="" val="22927219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796535-74B3-7E02-3292-E0DE29573BA7}"/>
              </a:ext>
            </a:extLst>
          </p:cNvPr>
          <p:cNvSpPr>
            <a:spLocks noGrp="1"/>
          </p:cNvSpPr>
          <p:nvPr>
            <p:ph type="title"/>
          </p:nvPr>
        </p:nvSpPr>
        <p:spPr/>
        <p:txBody>
          <a:bodyPr/>
          <a:lstStyle/>
          <a:p>
            <a:pPr algn="ctr"/>
            <a:r>
              <a:rPr lang="en-IN" dirty="0"/>
              <a:t>Suggestions for Buffer Strategies</a:t>
            </a:r>
          </a:p>
        </p:txBody>
      </p:sp>
      <p:sp>
        <p:nvSpPr>
          <p:cNvPr id="3" name="Content Placeholder 2">
            <a:extLst>
              <a:ext uri="{FF2B5EF4-FFF2-40B4-BE49-F238E27FC236}">
                <a16:creationId xmlns:a16="http://schemas.microsoft.com/office/drawing/2014/main" xmlns="" id="{42A8F208-28DA-3093-038A-CC189CB015D1}"/>
              </a:ext>
            </a:extLst>
          </p:cNvPr>
          <p:cNvSpPr>
            <a:spLocks noGrp="1"/>
          </p:cNvSpPr>
          <p:nvPr>
            <p:ph idx="1"/>
          </p:nvPr>
        </p:nvSpPr>
        <p:spPr/>
        <p:txBody>
          <a:bodyPr>
            <a:normAutofit fontScale="85000" lnSpcReduction="20000"/>
          </a:bodyPr>
          <a:lstStyle/>
          <a:p>
            <a:pPr marL="0" indent="0">
              <a:buNone/>
            </a:pPr>
            <a:r>
              <a:rPr lang="en-US" dirty="0"/>
              <a:t>1. </a:t>
            </a:r>
            <a:r>
              <a:rPr lang="en-US" b="1" dirty="0"/>
              <a:t>Good news</a:t>
            </a:r>
            <a:r>
              <a:rPr lang="en-US" dirty="0"/>
              <a:t>: If there’s good news and bad news, start with the good news.</a:t>
            </a:r>
          </a:p>
          <a:p>
            <a:pPr marL="0" indent="0">
              <a:buNone/>
            </a:pPr>
            <a:endParaRPr lang="en-US" dirty="0"/>
          </a:p>
          <a:p>
            <a:pPr marL="0" indent="0">
              <a:buNone/>
            </a:pPr>
            <a:r>
              <a:rPr lang="en-US" dirty="0"/>
              <a:t>2. </a:t>
            </a:r>
            <a:r>
              <a:rPr lang="en-US" b="1" dirty="0"/>
              <a:t>Compliment</a:t>
            </a:r>
            <a:r>
              <a:rPr lang="en-US" dirty="0"/>
              <a:t>: If you’re rejecting someone’s application, for instance, start by complimenting them on their efforts and other specific accomplishments you were impressed by in their application.</a:t>
            </a:r>
          </a:p>
          <a:p>
            <a:pPr marL="0" indent="0">
              <a:buNone/>
            </a:pPr>
            <a:endParaRPr lang="en-US" dirty="0"/>
          </a:p>
          <a:p>
            <a:pPr marL="0" indent="0">
              <a:buNone/>
            </a:pPr>
            <a:r>
              <a:rPr lang="en-US" dirty="0"/>
              <a:t>3. </a:t>
            </a:r>
            <a:r>
              <a:rPr lang="en-US" b="1" dirty="0"/>
              <a:t>Gratitude</a:t>
            </a:r>
            <a:r>
              <a:rPr lang="en-US" dirty="0"/>
              <a:t>: Say thanks for whatever positive things the recipient has done in your dealings with them. If they’ve submitted a claim that doesn’t qualify for an adjustment, for instance, thank them for choosing your company.</a:t>
            </a:r>
          </a:p>
          <a:p>
            <a:pPr marL="0" indent="0">
              <a:buNone/>
            </a:pPr>
            <a:endParaRPr lang="en-US" dirty="0"/>
          </a:p>
          <a:p>
            <a:pPr marL="0" indent="0">
              <a:buNone/>
            </a:pPr>
            <a:r>
              <a:rPr lang="en-US" dirty="0"/>
              <a:t>4. </a:t>
            </a:r>
            <a:r>
              <a:rPr lang="en-US" b="1" dirty="0"/>
              <a:t>Agreement</a:t>
            </a:r>
            <a:r>
              <a:rPr lang="en-US" dirty="0"/>
              <a:t>: Before delivering bad news that you’re sure the recipient is going to disagree with and oppose, start with something you’re sure you both agree on. Start on common ground by saying, “We can all agree that . . ..”</a:t>
            </a:r>
          </a:p>
        </p:txBody>
      </p:sp>
    </p:spTree>
    <p:extLst>
      <p:ext uri="{BB962C8B-B14F-4D97-AF65-F5344CB8AC3E}">
        <p14:creationId xmlns:p14="http://schemas.microsoft.com/office/powerpoint/2010/main" xmlns="" val="7712058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321B18-FAAD-90F4-F642-5CFE610FCA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D5495B2C-E6B1-7A53-265C-A4EE2BAB77BB}"/>
              </a:ext>
            </a:extLst>
          </p:cNvPr>
          <p:cNvSpPr>
            <a:spLocks noGrp="1"/>
          </p:cNvSpPr>
          <p:nvPr>
            <p:ph idx="1"/>
          </p:nvPr>
        </p:nvSpPr>
        <p:spPr/>
        <p:txBody>
          <a:bodyPr/>
          <a:lstStyle/>
          <a:p>
            <a:pPr marL="0" indent="0">
              <a:buNone/>
            </a:pPr>
            <a:r>
              <a:rPr lang="en-US" dirty="0"/>
              <a:t>5. </a:t>
            </a:r>
            <a:r>
              <a:rPr lang="en-US" b="1" dirty="0"/>
              <a:t>Facts</a:t>
            </a:r>
            <a:r>
              <a:rPr lang="en-US" dirty="0"/>
              <a:t>: If positives are hard to come by in a situation, getting started on the next section’s explanation, starting with cold, hard facts, is the next best thing.</a:t>
            </a:r>
          </a:p>
          <a:p>
            <a:pPr marL="0" indent="0">
              <a:buNone/>
            </a:pPr>
            <a:r>
              <a:rPr lang="en-US" dirty="0"/>
              <a:t>6. </a:t>
            </a:r>
            <a:r>
              <a:rPr lang="en-US" b="1" dirty="0"/>
              <a:t>Understanding</a:t>
            </a:r>
            <a:r>
              <a:rPr lang="en-US" dirty="0"/>
              <a:t>: Again, if there are no silver linings to point to, showing you care by expressing sympathy and understanding is a possible alternative.</a:t>
            </a:r>
          </a:p>
          <a:p>
            <a:pPr marL="0" indent="0">
              <a:buNone/>
            </a:pPr>
            <a:r>
              <a:rPr lang="en-US" dirty="0"/>
              <a:t>7. </a:t>
            </a:r>
            <a:r>
              <a:rPr lang="en-US" b="1" dirty="0"/>
              <a:t>Apology</a:t>
            </a:r>
            <a:r>
              <a:rPr lang="en-US" dirty="0"/>
              <a:t>: If you’re at fault for any aspect of a bad news message, an apology is appropriate as long as it won’t leave you at a disadvantage in legal proceedings that may follow as a result of admitting wrongdoing. </a:t>
            </a:r>
            <a:endParaRPr lang="en-IN" dirty="0"/>
          </a:p>
          <a:p>
            <a:endParaRPr lang="en-IN" dirty="0"/>
          </a:p>
        </p:txBody>
      </p:sp>
    </p:spTree>
    <p:extLst>
      <p:ext uri="{BB962C8B-B14F-4D97-AF65-F5344CB8AC3E}">
        <p14:creationId xmlns:p14="http://schemas.microsoft.com/office/powerpoint/2010/main" xmlns="" val="128407413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09E55E-D6B2-9856-1ADD-C00725744401}"/>
              </a:ext>
            </a:extLst>
          </p:cNvPr>
          <p:cNvSpPr>
            <a:spLocks noGrp="1"/>
          </p:cNvSpPr>
          <p:nvPr>
            <p:ph type="title"/>
          </p:nvPr>
        </p:nvSpPr>
        <p:spPr/>
        <p:txBody>
          <a:bodyPr/>
          <a:lstStyle/>
          <a:p>
            <a:pPr algn="ctr"/>
            <a:r>
              <a:rPr lang="en-IN" dirty="0"/>
              <a:t>Positive End Closings</a:t>
            </a:r>
          </a:p>
        </p:txBody>
      </p:sp>
      <p:sp>
        <p:nvSpPr>
          <p:cNvPr id="3" name="Content Placeholder 2">
            <a:extLst>
              <a:ext uri="{FF2B5EF4-FFF2-40B4-BE49-F238E27FC236}">
                <a16:creationId xmlns:a16="http://schemas.microsoft.com/office/drawing/2014/main" xmlns="" id="{BE0D3AD5-EE9C-04EC-B6A7-A8CD0C67F5A7}"/>
              </a:ext>
            </a:extLst>
          </p:cNvPr>
          <p:cNvSpPr>
            <a:spLocks noGrp="1"/>
          </p:cNvSpPr>
          <p:nvPr>
            <p:ph idx="1"/>
          </p:nvPr>
        </p:nvSpPr>
        <p:spPr/>
        <p:txBody>
          <a:bodyPr/>
          <a:lstStyle/>
          <a:p>
            <a:r>
              <a:rPr lang="en-US" dirty="0"/>
              <a:t>Ensure that the reader understands the bad news without rehashing it</a:t>
            </a:r>
          </a:p>
          <a:p>
            <a:r>
              <a:rPr lang="en-US" dirty="0"/>
              <a:t>Remain courteous, positive, and forward-looking</a:t>
            </a:r>
          </a:p>
          <a:p>
            <a:r>
              <a:rPr lang="en-US" dirty="0"/>
              <a:t>End the conversation in such a way that you don’t invite further correspondence</a:t>
            </a:r>
            <a:endParaRPr lang="en-IN" dirty="0"/>
          </a:p>
        </p:txBody>
      </p:sp>
    </p:spTree>
    <p:extLst>
      <p:ext uri="{BB962C8B-B14F-4D97-AF65-F5344CB8AC3E}">
        <p14:creationId xmlns:p14="http://schemas.microsoft.com/office/powerpoint/2010/main" xmlns="" val="35371871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10F8CD-C508-7648-163B-C952533C9F29}"/>
              </a:ext>
            </a:extLst>
          </p:cNvPr>
          <p:cNvSpPr>
            <a:spLocks noGrp="1"/>
          </p:cNvSpPr>
          <p:nvPr>
            <p:ph type="title"/>
          </p:nvPr>
        </p:nvSpPr>
        <p:spPr/>
        <p:txBody>
          <a:bodyPr/>
          <a:lstStyle/>
          <a:p>
            <a:pPr algn="ctr"/>
            <a:r>
              <a:rPr lang="en-IN" dirty="0"/>
              <a:t>Avoid Disasters in Bad news Messages</a:t>
            </a:r>
          </a:p>
        </p:txBody>
      </p:sp>
      <p:sp>
        <p:nvSpPr>
          <p:cNvPr id="3" name="Content Placeholder 2">
            <a:extLst>
              <a:ext uri="{FF2B5EF4-FFF2-40B4-BE49-F238E27FC236}">
                <a16:creationId xmlns:a16="http://schemas.microsoft.com/office/drawing/2014/main" xmlns="" id="{A25F11B3-3296-E5D9-2219-33DB81DFD057}"/>
              </a:ext>
            </a:extLst>
          </p:cNvPr>
          <p:cNvSpPr>
            <a:spLocks noGrp="1"/>
          </p:cNvSpPr>
          <p:nvPr>
            <p:ph idx="1"/>
          </p:nvPr>
        </p:nvSpPr>
        <p:spPr/>
        <p:txBody>
          <a:bodyPr/>
          <a:lstStyle/>
          <a:p>
            <a:r>
              <a:rPr lang="en-US" dirty="0"/>
              <a:t>Avoid Negative or Abusive Language</a:t>
            </a:r>
          </a:p>
          <a:p>
            <a:r>
              <a:rPr lang="en-US" dirty="0"/>
              <a:t>Avoid Oversharing but Tell the Truth</a:t>
            </a:r>
          </a:p>
          <a:p>
            <a:r>
              <a:rPr lang="en-IN" dirty="0"/>
              <a:t>Respect the Recipient’s Privacy</a:t>
            </a:r>
          </a:p>
        </p:txBody>
      </p:sp>
    </p:spTree>
    <p:extLst>
      <p:ext uri="{BB962C8B-B14F-4D97-AF65-F5344CB8AC3E}">
        <p14:creationId xmlns:p14="http://schemas.microsoft.com/office/powerpoint/2010/main" xmlns="" val="11792408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5132</TotalTime>
  <Words>2220</Words>
  <Application>Microsoft Office PowerPoint</Application>
  <PresentationFormat>Custom</PresentationFormat>
  <Paragraphs>232</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Persuasive/Goodwill/ Bad News Messages</vt:lpstr>
      <vt:lpstr>Persuasion is the attempt to change someone’s attitudes, beliefs, or actions.</vt:lpstr>
      <vt:lpstr>What is a persuasive message?</vt:lpstr>
      <vt:lpstr>Aristotelian Elements of Persuasion</vt:lpstr>
      <vt:lpstr>Exercise</vt:lpstr>
      <vt:lpstr>Steps for Persuasive Writing</vt:lpstr>
      <vt:lpstr>1st Step: Planning</vt:lpstr>
      <vt:lpstr>Analyze the Purpose of Persuasive Message</vt:lpstr>
      <vt:lpstr>To persuade the audience</vt:lpstr>
      <vt:lpstr>Role of Audience Analysis</vt:lpstr>
      <vt:lpstr>2nd Step: Writing </vt:lpstr>
      <vt:lpstr>Strategy to write Persuasive Sales Messages</vt:lpstr>
      <vt:lpstr>Writing Tips and Strategies</vt:lpstr>
      <vt:lpstr>3rd Step: Proofreading Stage</vt:lpstr>
      <vt:lpstr>Exercise</vt:lpstr>
      <vt:lpstr>Example</vt:lpstr>
      <vt:lpstr>Example</vt:lpstr>
      <vt:lpstr>Example</vt:lpstr>
      <vt:lpstr>Slide 19</vt:lpstr>
      <vt:lpstr>Goodwill Messages</vt:lpstr>
      <vt:lpstr>The 5 S’s of Goodwill Messages</vt:lpstr>
      <vt:lpstr>Exercise</vt:lpstr>
      <vt:lpstr>Types of Goodwill Messages</vt:lpstr>
      <vt:lpstr>Sentences and expressions</vt:lpstr>
      <vt:lpstr>Congratulatory Messages</vt:lpstr>
      <vt:lpstr>Bad News Messages</vt:lpstr>
      <vt:lpstr>Remember the given points too. . .</vt:lpstr>
      <vt:lpstr>To deliver bad news effectively you must—</vt:lpstr>
      <vt:lpstr>To deliver bad news effectively you must-</vt:lpstr>
      <vt:lpstr>To deliver bad news effectively you must-</vt:lpstr>
      <vt:lpstr>To deliver bad news effectively you must-</vt:lpstr>
      <vt:lpstr>To show consideration</vt:lpstr>
      <vt:lpstr>To write the Bad News</vt:lpstr>
      <vt:lpstr>Read the given negative message for a better understanding</vt:lpstr>
      <vt:lpstr>More Examples</vt:lpstr>
      <vt:lpstr>Suggestions for Buffer Strategies</vt:lpstr>
      <vt:lpstr>Slide 37</vt:lpstr>
      <vt:lpstr>Positive End Closings</vt:lpstr>
      <vt:lpstr>Avoid Disasters in Bad news Messages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Persuasive/Goodwill/ Bad News Messages</dc:title>
  <dc:creator>akshat agarwal</dc:creator>
  <cp:lastModifiedBy>Saksham Nigam</cp:lastModifiedBy>
  <cp:revision>25</cp:revision>
  <dcterms:created xsi:type="dcterms:W3CDTF">2023-01-18T06:40:47Z</dcterms:created>
  <dcterms:modified xsi:type="dcterms:W3CDTF">2025-09-24T15:04:00Z</dcterms:modified>
</cp:coreProperties>
</file>